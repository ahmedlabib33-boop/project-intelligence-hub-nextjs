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8254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65760"/>
            <a:ext cx="11155680" cy="685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000" b="1">
                <a:solidFill>
                  <a:srgbClr val="F4FAFF"/>
                </a:solidFill>
              </a:defRPr>
            </a:pPr>
            <a:r>
              <a:t>Executive Dashboard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30352" y="1024128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>
                <a:solidFill>
                  <a:srgbClr val="39D7D2"/>
                </a:solidFill>
              </a:defRPr>
            </a:pPr>
            <a:r>
              <a:t>Nasr city-Tunnel | Nasr city-Tunnel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48640" y="1600200"/>
            <a:ext cx="5303520" cy="749808"/>
          </a:xfrm>
          <a:prstGeom prst="roundRect">
            <a:avLst/>
          </a:prstGeom>
          <a:solidFill>
            <a:srgbClr val="0D3D63"/>
          </a:solidFill>
          <a:ln>
            <a:solidFill>
              <a:srgbClr val="39D7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800" b="1">
                <a:solidFill>
                  <a:srgbClr val="39D7D2"/>
                </a:solidFill>
              </a:defRPr>
            </a:pPr>
            <a:r>
              <a:t>PROJECT</a:t>
            </a:r>
          </a:p>
          <a:p>
            <a:pPr>
              <a:defRPr sz="1300" b="1">
                <a:solidFill>
                  <a:srgbClr val="F4FAFF"/>
                </a:solidFill>
              </a:defRPr>
            </a:pPr>
            <a:r>
              <a:t>Nasr city-Tunnel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263640" y="1600200"/>
            <a:ext cx="5303520" cy="749808"/>
          </a:xfrm>
          <a:prstGeom prst="roundRect">
            <a:avLst/>
          </a:prstGeom>
          <a:solidFill>
            <a:srgbClr val="0D3D63"/>
          </a:solidFill>
          <a:ln>
            <a:solidFill>
              <a:srgbClr val="39D7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800" b="1">
                <a:solidFill>
                  <a:srgbClr val="39D7D2"/>
                </a:solidFill>
              </a:defRPr>
            </a:pPr>
            <a:r>
              <a:t>PROJECT ID</a:t>
            </a:r>
          </a:p>
          <a:p>
            <a:pPr>
              <a:defRPr sz="1300" b="1">
                <a:solidFill>
                  <a:srgbClr val="F4FAFF"/>
                </a:solidFill>
              </a:defRPr>
            </a:pPr>
            <a:r>
              <a:t>Nasr city-Tunnel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2532888"/>
            <a:ext cx="5303520" cy="749808"/>
          </a:xfrm>
          <a:prstGeom prst="roundRect">
            <a:avLst/>
          </a:prstGeom>
          <a:solidFill>
            <a:srgbClr val="0D3D63"/>
          </a:solidFill>
          <a:ln>
            <a:solidFill>
              <a:srgbClr val="39D7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800" b="1">
                <a:solidFill>
                  <a:srgbClr val="39D7D2"/>
                </a:solidFill>
              </a:defRPr>
            </a:pPr>
            <a:r>
              <a:t>SECTOR</a:t>
            </a:r>
          </a:p>
          <a:p>
            <a:pPr>
              <a:defRPr sz="1300" b="1">
                <a:solidFill>
                  <a:srgbClr val="F4FAFF"/>
                </a:solidFill>
              </a:defRPr>
            </a:pPr>
            <a:r>
              <a:t>Tunnels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263640" y="2532888"/>
            <a:ext cx="5303520" cy="749808"/>
          </a:xfrm>
          <a:prstGeom prst="roundRect">
            <a:avLst/>
          </a:prstGeom>
          <a:solidFill>
            <a:srgbClr val="0D3D63"/>
          </a:solidFill>
          <a:ln>
            <a:solidFill>
              <a:srgbClr val="39D7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800" b="1">
                <a:solidFill>
                  <a:srgbClr val="39D7D2"/>
                </a:solidFill>
              </a:defRPr>
            </a:pPr>
            <a:r>
              <a:t>STATUS</a:t>
            </a:r>
          </a:p>
          <a:p>
            <a:pPr>
              <a:defRPr sz="1300" b="1">
                <a:solidFill>
                  <a:srgbClr val="F4FAFF"/>
                </a:solidFill>
              </a:defRPr>
            </a:pPr>
            <a:r>
              <a:t>Delayed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3465576"/>
            <a:ext cx="5303520" cy="749808"/>
          </a:xfrm>
          <a:prstGeom prst="roundRect">
            <a:avLst/>
          </a:prstGeom>
          <a:solidFill>
            <a:srgbClr val="0D3D63"/>
          </a:solidFill>
          <a:ln>
            <a:solidFill>
              <a:srgbClr val="39D7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800" b="1">
                <a:solidFill>
                  <a:srgbClr val="39D7D2"/>
                </a:solidFill>
              </a:defRPr>
            </a:pPr>
            <a:r>
              <a:t>CONTRACT VALUE</a:t>
            </a:r>
          </a:p>
          <a:p>
            <a:pPr>
              <a:defRPr sz="1300" b="1">
                <a:solidFill>
                  <a:srgbClr val="F4FAFF"/>
                </a:solidFill>
              </a:defRPr>
            </a:pPr>
            <a:r>
              <a:t>EGP 1,845,000,000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63640" y="3465576"/>
            <a:ext cx="5303520" cy="749808"/>
          </a:xfrm>
          <a:prstGeom prst="roundRect">
            <a:avLst/>
          </a:prstGeom>
          <a:solidFill>
            <a:srgbClr val="0D3D63"/>
          </a:solidFill>
          <a:ln>
            <a:solidFill>
              <a:srgbClr val="39D7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800" b="1">
                <a:solidFill>
                  <a:srgbClr val="39D7D2"/>
                </a:solidFill>
              </a:defRPr>
            </a:pPr>
            <a:r>
              <a:t>PAID AMOUNT</a:t>
            </a:r>
          </a:p>
          <a:p>
            <a:pPr>
              <a:defRPr sz="1300" b="1">
                <a:solidFill>
                  <a:srgbClr val="F4FAFF"/>
                </a:solidFill>
              </a:defRPr>
            </a:pPr>
            <a:r>
              <a:t>EGP 177,050,000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48640" y="4398264"/>
            <a:ext cx="5303520" cy="749808"/>
          </a:xfrm>
          <a:prstGeom prst="roundRect">
            <a:avLst/>
          </a:prstGeom>
          <a:solidFill>
            <a:srgbClr val="0D3D63"/>
          </a:solidFill>
          <a:ln>
            <a:solidFill>
              <a:srgbClr val="39D7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800" b="1">
                <a:solidFill>
                  <a:srgbClr val="39D7D2"/>
                </a:solidFill>
              </a:defRPr>
            </a:pPr>
            <a:r>
              <a:t>ACTUAL PROGRESS</a:t>
            </a:r>
          </a:p>
          <a:p>
            <a:pPr>
              <a:defRPr sz="1300" b="1">
                <a:solidFill>
                  <a:srgbClr val="F4FAFF"/>
                </a:solidFill>
              </a:defRPr>
            </a:pPr>
            <a:r>
              <a:t>26.8%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263640" y="4398264"/>
            <a:ext cx="5303520" cy="749808"/>
          </a:xfrm>
          <a:prstGeom prst="roundRect">
            <a:avLst/>
          </a:prstGeom>
          <a:solidFill>
            <a:srgbClr val="0D3D63"/>
          </a:solidFill>
          <a:ln>
            <a:solidFill>
              <a:srgbClr val="39D7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800" b="1">
                <a:solidFill>
                  <a:srgbClr val="39D7D2"/>
                </a:solidFill>
              </a:defRPr>
            </a:pPr>
            <a:r>
              <a:t>PLANNED PROGRESS</a:t>
            </a:r>
          </a:p>
          <a:p>
            <a:pPr>
              <a:defRPr sz="1300" b="1">
                <a:solidFill>
                  <a:srgbClr val="F4FAFF"/>
                </a:solidFill>
              </a:defRPr>
            </a:pPr>
            <a:r>
              <a:t>31.5%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48640" y="5330952"/>
            <a:ext cx="5303520" cy="749808"/>
          </a:xfrm>
          <a:prstGeom prst="roundRect">
            <a:avLst/>
          </a:prstGeom>
          <a:solidFill>
            <a:srgbClr val="0D3D63"/>
          </a:solidFill>
          <a:ln>
            <a:solidFill>
              <a:srgbClr val="39D7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800" b="1">
                <a:solidFill>
                  <a:srgbClr val="39D7D2"/>
                </a:solidFill>
              </a:defRPr>
            </a:pPr>
            <a:r>
              <a:t>BAC / PV / EV / AC</a:t>
            </a:r>
          </a:p>
          <a:p>
            <a:pPr>
              <a:defRPr sz="1300" b="1">
                <a:solidFill>
                  <a:srgbClr val="F4FAFF"/>
                </a:solidFill>
              </a:defRPr>
            </a:pPr>
            <a:r>
              <a:t>EGP 199,500,000 / EGP 199,500,000 / EGP 196,112,167 / EGP 206,786,157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263640" y="5330952"/>
            <a:ext cx="5303520" cy="749808"/>
          </a:xfrm>
          <a:prstGeom prst="roundRect">
            <a:avLst/>
          </a:prstGeom>
          <a:solidFill>
            <a:srgbClr val="0D3D63"/>
          </a:solidFill>
          <a:ln>
            <a:solidFill>
              <a:srgbClr val="39D7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800" b="1">
                <a:solidFill>
                  <a:srgbClr val="39D7D2"/>
                </a:solidFill>
              </a:defRPr>
            </a:pPr>
            <a:r>
              <a:t>SPI / CPI</a:t>
            </a:r>
          </a:p>
          <a:p>
            <a:pPr>
              <a:defRPr sz="1300" b="1">
                <a:solidFill>
                  <a:srgbClr val="F4FAFF"/>
                </a:solidFill>
              </a:defRPr>
            </a:pPr>
            <a:r>
              <a:t>0.98 / 0.95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48640" y="6446520"/>
            <a:ext cx="109728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800">
                <a:solidFill>
                  <a:srgbClr val="A7C3D6"/>
                </a:solidFill>
              </a:defRPr>
            </a:pPr>
            <a:r>
              <a:t>Generated 13 Aug 2026 | Source-controlled selected-project output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