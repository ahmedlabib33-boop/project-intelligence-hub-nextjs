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336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011680"/>
            <a:ext cx="11155680" cy="1005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800" b="1">
                <a:solidFill>
                  <a:srgbClr val="FFFFFF"/>
                </a:solidFill>
              </a:defRPr>
            </a:pPr>
            <a:r>
              <a:t>SAMCO-PCO PRO-BLC-24 Baseline vs Current Report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315468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CDE0F0"/>
                </a:solidFill>
              </a:defRPr>
            </a:pPr>
            <a:r>
              <a:t>ROYA-BIG PROJECT PHASE01 (B1-4) | 1 data-driven control section | 2026-08-15T05:31:00+00:00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92608" y="128016"/>
            <a:ext cx="9601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PRO-BLC-24 | Baseline vs Current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503920" y="914400"/>
            <a:ext cx="3246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0A7D45"/>
                </a:solidFill>
              </a:defRPr>
            </a:pPr>
            <a:r>
              <a:t>DATA AVAILABLE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932688"/>
            <a:ext cx="78638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003366"/>
                </a:solidFill>
              </a:defRPr>
            </a:pPr>
            <a:r>
              <a:t>CSV sources</a:t>
            </a:r>
          </a:p>
          <a:p>
            <a:pPr>
              <a:defRPr sz="1000">
                <a:solidFill>
                  <a:srgbClr val="646464"/>
                </a:solidFill>
              </a:defRPr>
            </a:pPr>
            <a:r>
              <a:t>p6: 02-delay_analysis/unified_tia_csv/04- p6_activity_export.csv (1363 rows)</a:t>
            </a:r>
          </a:p>
          <a:p>
            <a:pPr>
              <a:defRPr sz="1000">
                <a:solidFill>
                  <a:srgbClr val="646464"/>
                </a:solidFill>
              </a:defRPr>
            </a:pPr>
            <a:r>
              <a:t>activities: 01-data/import_templates/project_input_bundle.csv (1363 rows)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365760" y="1965960"/>
          <a:ext cx="11384280" cy="4206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97380"/>
                <a:gridCol w="1897380"/>
                <a:gridCol w="1897380"/>
                <a:gridCol w="1897380"/>
                <a:gridCol w="1897380"/>
                <a:gridCol w="1897380"/>
              </a:tblGrid>
              <a:tr h="323556"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project_id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Activity ID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Activity Name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WBS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Baseline Start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Baseline Finish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</a:tr>
              <a:tr h="323556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The Big -P.01-UP-20-April-26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KD-MS-1000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Project Start Date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The Big - P.01 - UP-24-MAY-26.KD.MI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11-Sep-25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</a:p>
                  </a:txBody>
                  <a:tcPr/>
                </a:tc>
              </a:tr>
              <a:tr h="323556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The Big -P.01-UP-20-April-26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KD-MS-1050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Project Finish Date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The Big - P.01 - UP-24-MAY-26.KD.MI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10-Apr-27</a:t>
                      </a:r>
                    </a:p>
                  </a:txBody>
                  <a:tcPr/>
                </a:tc>
              </a:tr>
              <a:tr h="323556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The Big -P.01-UP-20-April-26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KD-MS-1040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Ground Works Finish Date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The Big - P.01 - UP-24-MAY-26.KD.MI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11-May-26</a:t>
                      </a:r>
                    </a:p>
                  </a:txBody>
                  <a:tcPr/>
                </a:tc>
              </a:tr>
              <a:tr h="323556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The Big -P.01-UP-20-April-26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KD-MS-1010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Contract Agreement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The Big - P.01 - UP-24-MAY-26.KD.MI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11-Sep-25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</a:p>
                  </a:txBody>
                  <a:tcPr/>
                </a:tc>
              </a:tr>
              <a:tr h="323556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The Big -P.01-UP-20-April-26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KD-MS-1020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IFC Drawing Package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The Big - P.01 - UP-24-MAY-26.KD.MI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11-Sep-25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</a:p>
                  </a:txBody>
                  <a:tcPr/>
                </a:tc>
              </a:tr>
              <a:tr h="323556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The Big -P.01-UP-20-April-26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KD-MOB-1000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Surveying Works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The Big - P.01 - UP-24-MAY-26.KD.MO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11-Sep-25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28-Sep-25</a:t>
                      </a:r>
                    </a:p>
                  </a:txBody>
                  <a:tcPr/>
                </a:tc>
              </a:tr>
              <a:tr h="323556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The Big -P.01-UP-20-April-26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KD-MOB-1010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Equipment Mobilization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The Big - P.01 - UP-24-MAY-26.KD.MO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11-Sep-25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28-Sep-25</a:t>
                      </a:r>
                    </a:p>
                  </a:txBody>
                  <a:tcPr/>
                </a:tc>
              </a:tr>
              <a:tr h="323556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The Big -P.01-UP-20-April-26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KD-MOB-1020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Site Preparation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The Big - P.01 - UP-24-MAY-26.KD.MO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11-Sep-25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28-Sep-25</a:t>
                      </a:r>
                    </a:p>
                  </a:txBody>
                  <a:tcPr/>
                </a:tc>
              </a:tr>
              <a:tr h="323556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The Big -P.01-UP-20-April-26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E-DR-1000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Design Review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The Big - P.01 - UP-24-MAY-26.EN.1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11-Sep-25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09-Nov-25</a:t>
                      </a:r>
                    </a:p>
                  </a:txBody>
                  <a:tcPr/>
                </a:tc>
              </a:tr>
              <a:tr h="323556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The Big -P.01-UP-20-April-26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E-SUB-B01-REP-1000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Submittal for General Replacement Plan &amp; Typical Sections for Replacement / Back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The Big - P.01 - UP-24-MAY-26.EN.2.S.P02.B01.SUB.1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11-Sep-25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01-Oct-25</a:t>
                      </a:r>
                    </a:p>
                  </a:txBody>
                  <a:tcPr/>
                </a:tc>
              </a:tr>
              <a:tr h="323556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The Big -P.01-UP-20-April-26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E-SUB-B01-FOOT-1000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Submittal for PC Raft Conc. Dim. DWGs (B01) (footing)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The Big - P.01 - UP-24-MAY-26.EN.2.S.P02.B01.SUB.F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01-Oct-25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22-Oct-25</a:t>
                      </a:r>
                    </a:p>
                  </a:txBody>
                  <a:tcPr/>
                </a:tc>
              </a:tr>
              <a:tr h="323568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The Big -P.01-UP-20-April-26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E-SUB-B01-FOOT-1010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Submittal for RC Raft &amp; Footings Conc. Dim. DWGs (B01) (footing)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The Big - P.01 - UP-24-MAY-26.EN.2.S.P02.B01.SUB.F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05-Oct-25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26-Oct-25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