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336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011680"/>
            <a:ext cx="11155680" cy="10058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800" b="1">
                <a:solidFill>
                  <a:srgbClr val="FFFFFF"/>
                </a:solidFill>
              </a:defRPr>
            </a:pPr>
            <a:r>
              <a:t>SAMCO-PCO PRO-DLY-02 Delay Analysis Report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30352" y="3154680"/>
            <a:ext cx="109728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>
                <a:solidFill>
                  <a:srgbClr val="CDE0F0"/>
                </a:solidFill>
              </a:defRPr>
            </a:pPr>
            <a:r>
              <a:t>ROYA-BIG PROJECT PHASE01 (B1-4) | 1 data-driven control section | 2026-08-15T05:31:00+00:00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49808"/>
          </a:xfrm>
          <a:prstGeom prst="rect">
            <a:avLst/>
          </a:prstGeom>
          <a:solidFill>
            <a:srgbClr val="003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92608" y="128016"/>
            <a:ext cx="96012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>
                <a:solidFill>
                  <a:srgbClr val="FFFFFF"/>
                </a:solidFill>
              </a:defRPr>
            </a:pPr>
            <a:r>
              <a:t>PRO-DLY-02 | Delay Analysis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503920" y="914400"/>
            <a:ext cx="32461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0A7D45"/>
                </a:solidFill>
              </a:defRPr>
            </a:pPr>
            <a:r>
              <a:t>DATA AVAILABLE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932688"/>
            <a:ext cx="78638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1">
                <a:solidFill>
                  <a:srgbClr val="003366"/>
                </a:solidFill>
              </a:defRPr>
            </a:pPr>
            <a:r>
              <a:t>CSV sources</a:t>
            </a:r>
          </a:p>
          <a:p>
            <a:pPr>
              <a:defRPr sz="1000">
                <a:solidFill>
                  <a:srgbClr val="646464"/>
                </a:solidFill>
              </a:defRPr>
            </a:pPr>
            <a:r>
              <a:t>delay_events: 01-data/import_templates/delay_events.csv (25 rows)</a:t>
            </a:r>
          </a:p>
          <a:p>
            <a:pPr>
              <a:defRPr sz="1000">
                <a:solidFill>
                  <a:srgbClr val="646464"/>
                </a:solidFill>
              </a:defRPr>
            </a:pPr>
            <a:r>
              <a:t>delay_classification: 02-delay_analysis/unified_tia_csv/12_delay_event_classification.csv (0 rows)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365760" y="1965960"/>
          <a:ext cx="11384280" cy="42062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97380"/>
                <a:gridCol w="1897380"/>
                <a:gridCol w="1897380"/>
                <a:gridCol w="1897380"/>
                <a:gridCol w="1897380"/>
                <a:gridCol w="1897380"/>
              </a:tblGrid>
              <a:tr h="323556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FFFFFF"/>
                          </a:solidFill>
                        </a:defRPr>
                      </a:pPr>
                      <a:r>
                        <a:t>project_id</a:t>
                      </a:r>
                    </a:p>
                  </a:txBody>
                  <a:tcPr>
                    <a:solidFill>
                      <a:srgbClr val="00336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FFFFFF"/>
                          </a:solidFill>
                        </a:defRPr>
                      </a:pPr>
                      <a:r>
                        <a:t>Primary Event ID</a:t>
                      </a:r>
                    </a:p>
                  </a:txBody>
                  <a:tcPr>
                    <a:solidFill>
                      <a:srgbClr val="00336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FFFFFF"/>
                          </a:solidFill>
                        </a:defRPr>
                      </a:pPr>
                      <a:r>
                        <a:t>Activity ID</a:t>
                      </a:r>
                    </a:p>
                  </a:txBody>
                  <a:tcPr>
                    <a:solidFill>
                      <a:srgbClr val="00336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FFFFFF"/>
                          </a:solidFill>
                        </a:defRPr>
                      </a:pPr>
                      <a:r>
                        <a:t>Activity Name</a:t>
                      </a:r>
                    </a:p>
                  </a:txBody>
                  <a:tcPr>
                    <a:solidFill>
                      <a:srgbClr val="00336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FFFFFF"/>
                          </a:solidFill>
                        </a:defRPr>
                      </a:pPr>
                      <a:r>
                        <a:t>BL Start</a:t>
                      </a:r>
                    </a:p>
                  </a:txBody>
                  <a:tcPr>
                    <a:solidFill>
                      <a:srgbClr val="00336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FFFFFF"/>
                          </a:solidFill>
                        </a:defRPr>
                      </a:pPr>
                      <a:r>
                        <a:t>BL Finish</a:t>
                      </a:r>
                    </a:p>
                  </a:txBody>
                  <a:tcPr>
                    <a:solidFill>
                      <a:srgbClr val="003366"/>
                    </a:solidFill>
                  </a:tcPr>
                </a:tc>
              </a:tr>
              <a:tr h="323556"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The Big -P.01-UP-20-April-26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Delay in steel supply by client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CON-B02-FOOT-1070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RFT for Columns &amp; Walls Below SOG (B02) (footing)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23-Dec-25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29-Dec-25</a:t>
                      </a:r>
                    </a:p>
                  </a:txBody>
                  <a:tcPr/>
                </a:tc>
              </a:tr>
              <a:tr h="323556"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The Big -P.01-UP-20-April-26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Delay in steel supply by client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CON-B01-FOOT-1050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RFT for RC Raft &amp; Footings (B01) (footing)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6-Dec-25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18-Dec-25</a:t>
                      </a:r>
                    </a:p>
                  </a:txBody>
                  <a:tcPr/>
                </a:tc>
              </a:tr>
              <a:tr h="323556"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The Big -P.01-UP-20-April-26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Delay in steel supply by client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CON-B04-WT-1110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RFT for Walls (B04) (Water Tank)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13-Dec-25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21-Dec-25</a:t>
                      </a:r>
                    </a:p>
                  </a:txBody>
                  <a:tcPr/>
                </a:tc>
              </a:tr>
              <a:tr h="323556"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The Big -P.01-UP-20-April-26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Delay in steel supply by client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CON-B04-FOOT-1050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RFT for RC Raft &amp; Footings (B04) (footing)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15-Jan-26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24-Jan-26</a:t>
                      </a:r>
                    </a:p>
                  </a:txBody>
                  <a:tcPr/>
                </a:tc>
              </a:tr>
              <a:tr h="323556"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The Big -P.01-UP-20-April-26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Delay in steel supply by client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CON-B04-FOOT-1070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RFT for Columns &amp; Walls Below SOG (B04) (footing)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21-Jan-26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27-Jan-26</a:t>
                      </a:r>
                    </a:p>
                  </a:txBody>
                  <a:tcPr/>
                </a:tc>
              </a:tr>
              <a:tr h="323556"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The Big -P.01-UP-20-April-26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IFC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                E-SUB-B01-BAS02-1030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Submittal for Beams Conc. Dim.  &amp; RFT DWGs (B01) (Bas 02)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20-Nov-25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16-Feb-26</a:t>
                      </a:r>
                    </a:p>
                  </a:txBody>
                  <a:tcPr/>
                </a:tc>
              </a:tr>
              <a:tr h="323556"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The Big -P.01-UP-20-April-26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IFC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                E-SUB-B01-BAS02-1040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Submittal for Slabs Conc. Dim.  &amp; RFT DWGs (B01) (Bas 02)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30-Nov-25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22-Feb-26</a:t>
                      </a:r>
                    </a:p>
                  </a:txBody>
                  <a:tcPr/>
                </a:tc>
              </a:tr>
              <a:tr h="323556"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The Big -P.01-UP-20-April-26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IFC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                E-SUB-B01-BAS01-1030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Submittal for Beams Conc. Dim.  &amp; RFT DWGs (B01) (Bas 01)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2-Nov-25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10-Mar-26</a:t>
                      </a:r>
                    </a:p>
                  </a:txBody>
                  <a:tcPr/>
                </a:tc>
              </a:tr>
              <a:tr h="323556"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The Big -P.01-UP-20-April-26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IFC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                E-SUB-B01-BAS01-1040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Submittal for Slabs Conc. Dim.  &amp; RFT DWGs (B01) (Bas 01)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5-Nov-25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31-Mar-26</a:t>
                      </a:r>
                    </a:p>
                  </a:txBody>
                  <a:tcPr/>
                </a:tc>
              </a:tr>
              <a:tr h="323556"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The Big -P.01-UP-20-April-26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IFC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                E-SUB-B02-BAS02-1020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Submittal for Beams Conc. Dim.&amp; RFT DWGs (B02) (Bas 02)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22-Oct-25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11-Nov-25</a:t>
                      </a:r>
                    </a:p>
                  </a:txBody>
                  <a:tcPr/>
                </a:tc>
              </a:tr>
              <a:tr h="323556"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The Big -P.01-UP-20-April-26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IFC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                E-SUB-B02-BAS02-1030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Submittal for Slabs Conc. Dim.&amp; RFT DWGs (B02) (Bas 02)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26-Oct-25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22-Feb-26</a:t>
                      </a:r>
                    </a:p>
                  </a:txBody>
                  <a:tcPr/>
                </a:tc>
              </a:tr>
              <a:tr h="323568"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The Big -P.01-UP-20-April-26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IFC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                E-SUB-B02-BAS01-1020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Submittal for Beams Conc. Dim.  &amp; RFT DWGs (B02) (Bas 01)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2-Nov-25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23-Nov-25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