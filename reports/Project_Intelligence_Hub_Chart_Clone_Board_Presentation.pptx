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7f02462c244389" /><Relationship Type="http://schemas.openxmlformats.org/officeDocument/2006/relationships/extended-properties" Target="/docProps/app.xml" Id="Rb888becdf3864d17" /><Relationship Type="http://schemas.openxmlformats.org/officeDocument/2006/relationships/officeDocument" Target="/ppt/presentation.xml" Id="R8a6fe3918b4d47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f341bcc0514c95"/>
  </p:sldMasterIdLst>
  <p:notesMasterIdLst>
    <p:notesMasterId xmlns:r="http://schemas.openxmlformats.org/officeDocument/2006/relationships" r:id="R717665516d3c42d1"/>
  </p:notesMasterIdLst>
  <p:sldIdLst>
    <p:sldId xmlns:r="http://schemas.openxmlformats.org/officeDocument/2006/relationships" id="256" r:id="Rff0c01d49cb8412d"/>
    <p:sldId xmlns:r="http://schemas.openxmlformats.org/officeDocument/2006/relationships" id="257" r:id="Rd88122869fd5497c"/>
    <p:sldId xmlns:r="http://schemas.openxmlformats.org/officeDocument/2006/relationships" id="258" r:id="R6a7ac720aa434ee3"/>
    <p:sldId xmlns:r="http://schemas.openxmlformats.org/officeDocument/2006/relationships" id="259" r:id="R4416718c55eb4b3a"/>
    <p:sldId xmlns:r="http://schemas.openxmlformats.org/officeDocument/2006/relationships" id="260" r:id="R05d7797f6a6c4569"/>
    <p:sldId xmlns:r="http://schemas.openxmlformats.org/officeDocument/2006/relationships" id="261" r:id="R294571caf1e64cbc"/>
    <p:sldId xmlns:r="http://schemas.openxmlformats.org/officeDocument/2006/relationships" id="262" r:id="Raf14ae37a801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37270b4ce4c59" /><Relationship Type="http://schemas.openxmlformats.org/officeDocument/2006/relationships/slideMaster" Target="/ppt/slideMasters/slideMaster1.xml" Id="Reef341bcc0514c95" /><Relationship Type="http://schemas.openxmlformats.org/officeDocument/2006/relationships/notesMaster" Target="/ppt/notesMasters/notesMaster1.xml" Id="R717665516d3c42d1" /><Relationship Type="http://schemas.openxmlformats.org/officeDocument/2006/relationships/presProps" Target="/ppt/presProps.xml" Id="R5aefdd9184554cc8" /><Relationship Type="http://schemas.openxmlformats.org/officeDocument/2006/relationships/tableStyles" Target="/ppt/tableStyles.xml" Id="R80ddf73407974152" /><Relationship Type="http://schemas.openxmlformats.org/officeDocument/2006/relationships/slide" Target="/ppt/slides/slide1.xml" Id="Rff0c01d49cb8412d" /><Relationship Type="http://schemas.openxmlformats.org/officeDocument/2006/relationships/slide" Target="/ppt/slides/slide2.xml" Id="Rd88122869fd5497c" /><Relationship Type="http://schemas.openxmlformats.org/officeDocument/2006/relationships/slide" Target="/ppt/slides/slide3.xml" Id="R6a7ac720aa434ee3" /><Relationship Type="http://schemas.openxmlformats.org/officeDocument/2006/relationships/slide" Target="/ppt/slides/slide4.xml" Id="R4416718c55eb4b3a" /><Relationship Type="http://schemas.openxmlformats.org/officeDocument/2006/relationships/slide" Target="/ppt/slides/slide5.xml" Id="R05d7797f6a6c4569" /><Relationship Type="http://schemas.openxmlformats.org/officeDocument/2006/relationships/slide" Target="/ppt/slides/slide6.xml" Id="R294571caf1e64cbc" /><Relationship Type="http://schemas.openxmlformats.org/officeDocument/2006/relationships/slide" Target="/ppt/slides/slide7.xml" Id="Raf14ae37a801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261dd80daf4e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2ef4071b5b4897" /><Relationship Type="http://schemas.openxmlformats.org/officeDocument/2006/relationships/notesMaster" Target="/ppt/notesMasters/notesMaster1.xml" Id="R431f351b85af4b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b4306ea7264883" /><Relationship Type="http://schemas.openxmlformats.org/officeDocument/2006/relationships/notesMaster" Target="/ppt/notesMasters/notesMaster1.xml" Id="Rf0eedde1da8248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92c6d00a84a06" /><Relationship Type="http://schemas.openxmlformats.org/officeDocument/2006/relationships/notesMaster" Target="/ppt/notesMasters/notesMaster1.xml" Id="Rb6c64bddacd447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b0791a000e4967" /><Relationship Type="http://schemas.openxmlformats.org/officeDocument/2006/relationships/notesMaster" Target="/ppt/notesMasters/notesMaster1.xml" Id="Rc7df80ae691641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8a0cf1dec4062" /><Relationship Type="http://schemas.openxmlformats.org/officeDocument/2006/relationships/notesMaster" Target="/ppt/notesMasters/notesMaster1.xml" Id="R84f1d954a7234b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7917e0777c4990" /><Relationship Type="http://schemas.openxmlformats.org/officeDocument/2006/relationships/notesMaster" Target="/ppt/notesMasters/notesMaster1.xml" Id="Re5f1edd3e9204f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6215072d244733" /><Relationship Type="http://schemas.openxmlformats.org/officeDocument/2006/relationships/notesMaster" Target="/ppt/notesMasters/notesMaster1.xml" Id="R8913510ac1c148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config/chart_catalog.json</a:t>
            </a:r>
          </a:p>
          <a:p xmlns:a="http://schemas.openxmlformats.org/drawingml/2006/main">
            <a:r>
              <a:t>tools/project_chart_payloads.py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config/chart_catalog.json</a:t>
            </a:r>
          </a:p>
          <a:p xmlns:a="http://schemas.openxmlformats.org/drawingml/2006/main">
            <a:r>
              <a:t>tools/generate_nextjs_website_data.py</a:t>
            </a:r>
          </a:p>
          <a:p xmlns:a="http://schemas.openxmlformats.org/drawingml/2006/main">
            <a:r>
              <a:t>tools/validate_streamlit_vercel_pipeline.py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src/construction_system/project_catalog.py</a:t>
            </a:r>
          </a:p>
          <a:p xmlns:a="http://schemas.openxmlformats.org/drawingml/2006/main">
            <a:r>
              <a:t>tools/generate_nextjs_website_data.py</a:t>
            </a:r>
          </a:p>
          <a:p xmlns:a="http://schemas.openxmlformats.org/drawingml/2006/main">
            <a:r>
              <a:t>website/src/app/page.tsx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Charts design/samco_dashboard_charts.html</a:t>
            </a:r>
          </a:p>
          <a:p xmlns:a="http://schemas.openxmlformats.org/drawingml/2006/main">
            <a:r>
              <a:t>config/chart_catalog.json</a:t>
            </a:r>
          </a:p>
          <a:p xmlns:a="http://schemas.openxmlformats.org/drawingml/2006/main">
            <a:r>
              <a:t>website/src/app/globals.css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src/construction_system/project_catalog.py</a:t>
            </a:r>
          </a:p>
          <a:p xmlns:a="http://schemas.openxmlformats.org/drawingml/2006/main">
            <a:r>
              <a:t>tools/project_chart_payloads.py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src/construction_system/tia_source_governance.py</a:t>
            </a:r>
          </a:p>
          <a:p xmlns:a="http://schemas.openxmlformats.org/drawingml/2006/main">
            <a:r>
              <a:t>src/construction_system/tia_report_engine.py</a:t>
            </a:r>
          </a:p>
          <a:p xmlns:a="http://schemas.openxmlformats.org/drawingml/2006/main">
            <a:r>
              <a:t>website/src/app/api/analyze-delay/route.ts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reports/Project_Intelligence_Hub_Chart_Clone_Board_Report.docx</a:t>
            </a:r>
          </a:p>
          <a:p xmlns:a="http://schemas.openxmlformats.org/drawingml/2006/main">
            <a:r>
              <a:t>reports/Project_Intelligence_Hub_Chart_Clone_Planner_Handover.docx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05c8e109e47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8d38b1771e4d97" /><Relationship Type="http://schemas.openxmlformats.org/officeDocument/2006/relationships/slideLayout" Target="/ppt/slideLayouts/slideLayout1.xml" Id="Rbc3170d222f443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3170d222f443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1c6c24f95413e" /><Relationship Type="http://schemas.openxmlformats.org/officeDocument/2006/relationships/notesSlide" Target="/ppt/notesSlides/notesSlide1.xml" Id="R645409f271d94b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5217f13534c45" /><Relationship Type="http://schemas.openxmlformats.org/officeDocument/2006/relationships/notesSlide" Target="/ppt/notesSlides/notesSlide2.xml" Id="Rc76afba9382e4c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629a6d6964604" /><Relationship Type="http://schemas.openxmlformats.org/officeDocument/2006/relationships/notesSlide" Target="/ppt/notesSlides/notesSlide3.xml" Id="R53a76e5def584e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a3f190048473c" /><Relationship Type="http://schemas.openxmlformats.org/officeDocument/2006/relationships/chart" Target="/ppt/slides/charts/chart1.xml" Id="Reaa09c26b1674268" /><Relationship Type="http://schemas.openxmlformats.org/officeDocument/2006/relationships/notesSlide" Target="/ppt/notesSlides/notesSlide4.xml" Id="R760f8e37bca042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ed53eeaf94c40" /><Relationship Type="http://schemas.openxmlformats.org/officeDocument/2006/relationships/notesSlide" Target="/ppt/notesSlides/notesSlide5.xml" Id="Rfd056ae8b83b4e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f31696419456d" /><Relationship Type="http://schemas.openxmlformats.org/officeDocument/2006/relationships/notesSlide" Target="/ppt/notesSlides/notesSlide6.xml" Id="R42fde22d412d45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8ba03af034e46" /><Relationship Type="http://schemas.openxmlformats.org/officeDocument/2006/relationships/notesSlide" Target="/ppt/notesSlides/notesSlide7.xml" Id="R3e29d67242274da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Chart slots</c:v>
          </c:tx>
          <c:spPr>
            <a:solidFill xmlns:a="http://schemas.openxmlformats.org/drawingml/2006/main">
              <a:srgbClr val="11C5E8"/>
            </a:solidFill>
          </c:spPr>
          <c:cat>
            <c:strLit>
              <c:ptCount val="9"/>
              <c:pt idx="0">
                <c:v>Overview</c:v>
              </c:pt>
              <c:pt idx="1">
                <c:v>WBS</c:v>
              </c:pt>
              <c:pt idx="2">
                <c:v>Activities</c:v>
              </c:pt>
              <c:pt idx="3">
                <c:v>Milestones</c:v>
              </c:pt>
              <c:pt idx="4">
                <c:v>S-Curve</c:v>
              </c:pt>
              <c:pt idx="5">
                <c:v>EVM Analysis</c:v>
              </c:pt>
              <c:pt idx="6">
                <c:v>Contracts</c:v>
              </c:pt>
              <c:pt idx="7">
                <c:v>Risks</c:v>
              </c:pt>
              <c:pt idx="8">
                <c:v>Delay Analysis - Time Impact Analysis</c:v>
              </c:pt>
            </c:strLit>
          </c:cat>
          <c:val>
            <c:numLit>
              <c:formatCode>General</c:formatCode>
              <c:ptCount val="9"/>
              <c:pt idx="0">
                <c:v>6</c:v>
              </c:pt>
              <c:pt idx="1">
                <c:v>2</c:v>
              </c:pt>
              <c:pt idx="2">
                <c:v>5</c:v>
              </c:pt>
              <c:pt idx="3">
                <c:v>3</c:v>
              </c:pt>
              <c:pt idx="4">
                <c:v>3</c:v>
              </c:pt>
              <c:pt idx="5">
                <c:v>4</c:v>
              </c:pt>
              <c:pt idx="6">
                <c:v>4</c:v>
              </c:pt>
              <c:pt idx="7">
                <c:v>4</c:v>
              </c:pt>
              <c:pt idx="8">
                <c:v>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1435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756ED-55AE-403E-9EE3-956F6BCA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C5E8"/>
                </a:solidFill>
              </a:defRPr>
            </a:pPr>
            <a:r>
              <a:rPr sz="1125" b="1">
                <a:solidFill>
                  <a:srgbClr val="11C5E8"/>
                </a:solidFill>
              </a:rPr>
              <a:t>SAMCO EGYPT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A20F7-D70D-4F9D-BC43-8EB2FE62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8FC"/>
                </a:solidFill>
              </a:defRPr>
            </a:pPr>
            <a:r>
              <a:rPr sz="4350" b="1">
                <a:solidFill>
                  <a:srgbClr val="F4F8FC"/>
                </a:solidFill>
              </a:rPr>
              <a:t>Project Intelligence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3AEDE-6A20-4056-B6FD-FFCBEA90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6B7C9"/>
                </a:solidFill>
              </a:defRPr>
            </a:pPr>
            <a:r>
              <a:rPr sz="1800">
                <a:solidFill>
                  <a:srgbClr val="A6B7C9"/>
                </a:solidFill>
              </a:rPr>
              <a:t>Board presentation: source-backed chart intelligence, project-local Vercel data, and governed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992A7-E4D4-490A-9436-D2E1136C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95362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7886B-103E-443F-8D1C-89814DD7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00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4F8FC"/>
                </a:solidFill>
              </a:defRPr>
            </a:pPr>
            <a:r>
              <a:rPr sz="1950">
                <a:solidFill>
                  <a:srgbClr val="F4F8FC"/>
                </a:solidFill>
              </a:rPr>
              <a:t>A single project workspace can now publish the complete approved chart design without importing sample values or compromising project isolation.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CC55F-099A-4947-A448-ACCE0F3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Designed &amp; Created |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37C6C-2554-435D-AE77-90C2D8F4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C5E8"/>
                </a:solidFill>
              </a:defRPr>
            </a:pPr>
            <a:r>
              <a:rPr sz="750" b="1">
                <a:solidFill>
                  <a:srgbClr val="11C5E8"/>
                </a:solidFill>
              </a:rPr>
              <a:t>Engr. Ahmed Labib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AC70C-C85F-4BE5-99B9-472EA0E0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Source-governed project controls</a:t>
            </a:r>
          </a:p>
        </p:txBody>
      </p:sp>
    </p:spTree>
    <p:extLst>
      <p:ext uri="{BB962C8B-B14F-4D97-AF65-F5344CB8AC3E}">
        <p14:creationId xmlns:p14="http://schemas.microsoft.com/office/powerpoint/2010/main" val="9061457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0D8718-137A-47DC-80E2-91A34FF6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C5E8"/>
                </a:solidFill>
              </a:defRPr>
            </a:pPr>
            <a:r>
              <a:rPr sz="900" b="1">
                <a:solidFill>
                  <a:srgbClr val="11C5E8"/>
                </a:solidFill>
              </a:rPr>
              <a:t>RELEASE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061FA-84B0-4B9D-A73E-71847BDF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36 reference chart slots, governed by project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A4E47-DC0C-4EBB-AD1D-D4079B54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6B7C9"/>
                </a:solidFill>
              </a:defRPr>
            </a:pPr>
            <a:r>
              <a:rPr sz="1275">
                <a:solidFill>
                  <a:srgbClr val="A6B7C9"/>
                </a:solidFill>
              </a:rPr>
              <a:t>Every selected project receives the same visual inventory while remaining free to show readiness instead of false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C7C65-2E8D-492B-B88B-A91A658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SAMCO PROJECT INTELLIGENCE HUB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A9019-8A17-4311-81F9-5E4B1990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35D"/>
          </a:solidFill>
          <a:ln xmlns:a="http://schemas.openxmlformats.org/drawingml/2006/main" w="0">
            <a:solidFill>
              <a:srgbClr val="2143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D1AB7-CCC1-4BC1-BF3B-98ED2D3F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735B9-D0F1-4200-860A-ECD5766D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C5E8"/>
          </a:solidFill>
          <a:ln xmlns:a="http://schemas.openxmlformats.org/drawingml/2006/main" w="0">
            <a:solidFill>
              <a:srgbClr val="11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6151A-A7C9-48DA-B173-51DC14B8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CHART SLOTS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59D2B-C3F3-4FF2-8F11-8D872527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34A43-B9BC-4E3D-A5BE-14FE2023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Reference 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880EB-6157-4445-925D-CE20B19E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2B60E-6A2C-405E-8A96-428BB25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B6"/>
          </a:solidFill>
          <a:ln xmlns:a="http://schemas.openxmlformats.org/drawingml/2006/main" w="0">
            <a:solidFill>
              <a:srgbClr val="20C7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400DC-2E77-49E6-BF24-085AADA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PROJECT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8EC53-CE4F-4C64-9A5F-974B8EBA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3367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project_id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A3702-0B3E-4B1E-8580-0DB7CED3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Mandatory source filter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D7379-B144-445F-A91D-CFEDB9E4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A711D-900E-4C56-BEDB-89741D52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E16"/>
          </a:solidFill>
          <a:ln xmlns:a="http://schemas.openxmlformats.org/drawingml/2006/main" w="0">
            <a:solidFill>
              <a:srgbClr val="FFAE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1D024-5312-4CAC-925B-D24F2547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1460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OPTIONAL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C7A50-5D69-455E-8402-8572F20D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3367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0FA20-6572-4BFF-A4F5-9914302A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Header-only Vercel templates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99C25-B9F0-42CB-93B2-8FA84B92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2ED77-1A9E-4568-95B4-B9F797E7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7AFF"/>
          </a:solidFill>
          <a:ln xmlns:a="http://schemas.openxmlformats.org/drawingml/2006/main" w="0">
            <a:solidFill>
              <a:srgbClr val="A67A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F7BA6-D1EE-4A77-A282-2E1243EF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1460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FALLBACK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18E1E-79FE-49FE-94E1-F777709D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3367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Safe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1D1B9C-9F92-4E3D-84D3-404109DA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Blank template uses legacy source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E30AD1-10F7-4F1D-A02B-4E4BC5F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4394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C3180-BB51-414E-ABEC-B22DED32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C5E8"/>
                </a:solidFill>
              </a:defRPr>
            </a:pPr>
            <a:r>
              <a:rPr sz="1800" b="1">
                <a:solidFill>
                  <a:srgbClr val="11C5E8"/>
                </a:solidFill>
              </a:rPr>
              <a:t>What 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91953-3DF5-4519-B8BC-CECDE19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8FC"/>
                </a:solidFill>
              </a:defRPr>
            </a:pPr>
            <a:r>
              <a:rPr sz="1350">
                <a:solidFill>
                  <a:srgbClr val="F4F8FC"/>
                </a:solidFill>
              </a:rPr>
              <a:t>The chart registry, payload generator, workspace renderer, and pipeline validator now agree on the same 36 chart identities. A populated project `vercel` input takes priority, an empty one does not suppress existing source data, and conflicts are reported.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34A68A-6C22-4FB7-9EC8-F9A71B19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Designed &amp; Created |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5AB00E-859E-4C66-ADDA-BB6388BC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C5E8"/>
                </a:solidFill>
              </a:defRPr>
            </a:pPr>
            <a:r>
              <a:rPr sz="750" b="1">
                <a:solidFill>
                  <a:srgbClr val="11C5E8"/>
                </a:solidFill>
              </a:rPr>
              <a:t>Engr. Ahmed Labib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E60F4-5ACF-41D5-9AE3-1044F26B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Source-governed project controls</a:t>
            </a:r>
          </a:p>
        </p:txBody>
      </p:sp>
    </p:spTree>
    <p:extLst>
      <p:ext uri="{BB962C8B-B14F-4D97-AF65-F5344CB8AC3E}">
        <p14:creationId xmlns:p14="http://schemas.microsoft.com/office/powerpoint/2010/main" val="1417112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22398B-45C8-455C-8636-63FB0C17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C5E8"/>
                </a:solidFill>
              </a:defRPr>
            </a:pPr>
            <a:r>
              <a:rPr sz="900" b="1">
                <a:solidFill>
                  <a:srgbClr val="11C5E8"/>
                </a:solidFill>
              </a:rPr>
              <a:t>OPERATING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6D184-AC84-438F-B448-6A210A06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Evidence flows once from project folders to board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10BC3-1372-4B0E-8C0E-90EB7C99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6B7C9"/>
                </a:solidFill>
              </a:defRPr>
            </a:pPr>
            <a:r>
              <a:rPr sz="1275">
                <a:solidFill>
                  <a:srgbClr val="A6B7C9"/>
                </a:solidFill>
              </a:rPr>
              <a:t>The browser only displays controlled project payloads; calculation and evidence ownership remain in the project pipeline.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E86D2-FBE1-4B3E-8321-41837D5F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SAMCO PROJECT INTELLIGENCE HUB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12FB8-7648-4B5A-8D5C-0AB4AEF7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35D"/>
          </a:solidFill>
          <a:ln xmlns:a="http://schemas.openxmlformats.org/drawingml/2006/main" w="0">
            <a:solidFill>
              <a:srgbClr val="2143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20795-7D31-4FB0-831B-740F54E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238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23537-5C9B-4B18-B46F-FEB31830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C5E8"/>
          </a:solidFill>
          <a:ln xmlns:a="http://schemas.openxmlformats.org/drawingml/2006/main" w="0">
            <a:solidFill>
              <a:srgbClr val="11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97FCE-1C46-4836-9DC9-4CA1739B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Project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EBD03-74ED-4672-B063-88BE32FE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03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6B7C9"/>
                </a:solidFill>
              </a:defRPr>
            </a:pPr>
            <a:r>
              <a:rPr sz="900">
                <a:solidFill>
                  <a:srgbClr val="A6B7C9"/>
                </a:solidFill>
              </a:rPr>
              <a:t>Data, schedule, contracts, letters, evidence, and controlled local templates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CF295-FA28-4103-90CB-837610D5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57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C5E8"/>
                </a:solidFill>
              </a:defRPr>
            </a:pPr>
            <a:r>
              <a:rPr sz="2400" b="1">
                <a:solidFill>
                  <a:srgbClr val="11C5E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969ED-8460-42B3-B743-E8422844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238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C0E57-BED2-4331-AA37-B1D61177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03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B6"/>
          </a:solidFill>
          <a:ln xmlns:a="http://schemas.openxmlformats.org/drawingml/2006/main" w="0">
            <a:solidFill>
              <a:srgbClr val="20C7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1F138-653F-4160-B836-B4D3CF23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3842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Canonical engines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14A48-1596-44DC-B568-A5DC151B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03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6B7C9"/>
                </a:solidFill>
              </a:defRPr>
            </a:pPr>
            <a:r>
              <a:rPr sz="900">
                <a:solidFill>
                  <a:srgbClr val="A6B7C9"/>
                </a:solidFill>
              </a:rPr>
              <a:t>Project calculations, validation, lineage, and governed time impact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ED8E5-D9E5-4B5C-A512-C14B12D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C5E8"/>
                </a:solidFill>
              </a:defRPr>
            </a:pPr>
            <a:r>
              <a:rPr sz="2400" b="1">
                <a:solidFill>
                  <a:srgbClr val="11C5E8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33DDE-571E-40EC-99C9-61BFA56B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28875"/>
            <a:ext cx="2238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C30DE-1C1C-4F9C-B363-2496278E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03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E16"/>
          </a:solidFill>
          <a:ln xmlns:a="http://schemas.openxmlformats.org/drawingml/2006/main" w="0">
            <a:solidFill>
              <a:srgbClr val="FFAE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02A60-49E1-4894-B1EF-60042A1D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3842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Chart payloads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87658-42BA-4175-93E6-1ED936E9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6B7C9"/>
                </a:solidFill>
              </a:defRPr>
            </a:pPr>
            <a:r>
              <a:rPr sz="900">
                <a:solidFill>
                  <a:srgbClr val="A6B7C9"/>
                </a:solidFill>
              </a:rPr>
              <a:t>One project JSON, one identity, 36 chart slots, readiness and source warnings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E8F2E-8853-4C4C-96A8-2E3B171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C5E8"/>
                </a:solidFill>
              </a:defRPr>
            </a:pPr>
            <a:r>
              <a:rPr sz="2400" b="1">
                <a:solidFill>
                  <a:srgbClr val="11C5E8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31313-4C14-46DE-9E42-7F46425C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28875"/>
            <a:ext cx="223837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837EF-A7FB-4D2F-A268-54D617EA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03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7AFF"/>
          </a:solidFill>
          <a:ln xmlns:a="http://schemas.openxmlformats.org/drawingml/2006/main" w="0">
            <a:solidFill>
              <a:srgbClr val="A67A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0958D-0328-47FB-BD29-BF8BD358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3842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Vercel surface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E7835-3466-47CD-B161-FFEDAC4B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A6B7C9"/>
                </a:solidFill>
              </a:defRPr>
            </a:pPr>
            <a:r>
              <a:rPr sz="900">
                <a:solidFill>
                  <a:srgbClr val="A6B7C9"/>
                </a:solidFill>
              </a:rPr>
              <a:t>Decision dashboard, selected project workspace, AI, and Output Studio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6FC9F-0661-4945-95F1-56403FED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401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021BC-7F97-41AD-8259-5E65270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482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8FC"/>
                </a:solidFill>
              </a:defRPr>
            </a:pPr>
            <a:r>
              <a:rPr sz="1275" b="1">
                <a:solidFill>
                  <a:srgbClr val="F4F8FC"/>
                </a:solidFill>
              </a:rPr>
              <a:t>Protection: project_id and project_key are carried through source rows, derived metrics, chart payloads, AI context, report artifacts, and output manifests.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FCFF44-DEA3-45FD-B947-886FFF6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Designed &amp; Created |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62E4C-4E47-4B29-9D28-775B73EF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C5E8"/>
                </a:solidFill>
              </a:defRPr>
            </a:pPr>
            <a:r>
              <a:rPr sz="750" b="1">
                <a:solidFill>
                  <a:srgbClr val="11C5E8"/>
                </a:solidFill>
              </a:rPr>
              <a:t>Engr. Ahmed Labib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3A1F81-4248-44B1-8C6B-82E4E5E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Source-governed project controls</a:t>
            </a:r>
          </a:p>
        </p:txBody>
      </p:sp>
    </p:spTree>
    <p:extLst>
      <p:ext uri="{BB962C8B-B14F-4D97-AF65-F5344CB8AC3E}">
        <p14:creationId xmlns:p14="http://schemas.microsoft.com/office/powerpoint/2010/main" val="1256643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EBC6D-F6CE-410F-9802-BD66414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C5E8"/>
                </a:solidFill>
              </a:defRPr>
            </a:pPr>
            <a:r>
              <a:rPr sz="900" b="1">
                <a:solidFill>
                  <a:srgbClr val="11C5E8"/>
                </a:solidFill>
              </a:rPr>
              <a:t>CHART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37410-8A4F-4D42-9F2E-3B9FAB6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Every operational tab receives its own source-backed chart 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ABFEE-E587-4593-928C-B0DCAC61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6B7C9"/>
                </a:solidFill>
              </a:defRPr>
            </a:pPr>
            <a:r>
              <a:rPr sz="1275">
                <a:solidFill>
                  <a:srgbClr val="A6B7C9"/>
                </a:solidFill>
              </a:rPr>
              <a:t>Reference composition is preserved. Reports remain exclusively in Output Studio rather than appearing inside working tabs.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82124-5E64-4919-9326-48293D8D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SAMCO PROJECT INTELLIGENCE HUB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4DD00-5337-4B3A-B04B-543CC6F1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35D"/>
          </a:solidFill>
          <a:ln xmlns:a="http://schemas.openxmlformats.org/drawingml/2006/main" w="0">
            <a:solidFill>
              <a:srgbClr val="2143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0A493-254D-4529-A963-02DDCAB0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381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E6D1F-6176-43B7-8ED6-C1614A83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C5E8"/>
                </a:solidFill>
              </a:defRPr>
            </a:pPr>
            <a:r>
              <a:rPr sz="1500" b="1">
                <a:solidFill>
                  <a:srgbClr val="11C5E8"/>
                </a:solidFill>
              </a:rPr>
              <a:t>Reference chart allocation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952500" y="2857500"/>
          <a:ext xmlns:a="http://schemas.openxmlformats.org/drawingml/2006/main" cx="561975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a09c26b167426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C2003-38D8-49AE-94F9-07002C6F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6957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CD16B-E34C-43B9-8579-44D0BE5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90775"/>
            <a:ext cx="3000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C7B6"/>
                </a:solidFill>
              </a:defRPr>
            </a:pPr>
            <a:r>
              <a:rPr sz="1575" b="1">
                <a:solidFill>
                  <a:srgbClr val="20C7B6"/>
                </a:solidFill>
              </a:rPr>
              <a:t>Readiness is meaningful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FBDEA-6DEE-4839-9743-887DBD70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718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8FC"/>
                </a:solidFill>
              </a:defRPr>
            </a:pPr>
            <a:r>
              <a:rPr sz="1200">
                <a:solidFill>
                  <a:srgbClr val="F4F8FC"/>
                </a:solidFill>
              </a:rPr>
              <a:t>01  Ready: source-backed selected-project chart.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873F7-B81D-4898-9A28-5627F919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671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8FC"/>
                </a:solidFill>
              </a:defRPr>
            </a:pPr>
            <a:r>
              <a:rPr sz="1200">
                <a:solidFill>
                  <a:srgbClr val="F4F8FC"/>
                </a:solidFill>
              </a:rPr>
              <a:t>02  Partial: available subset with an explicit qualification.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FA6D5-568A-42D2-81D7-156AE309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624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8FC"/>
                </a:solidFill>
              </a:defRPr>
            </a:pPr>
            <a:r>
              <a:rPr sz="1200">
                <a:solidFill>
                  <a:srgbClr val="F4F8FC"/>
                </a:solidFill>
              </a:rPr>
              <a:t>03  Draft: planning scenario, never a contractual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320FD-A70C-4DDE-A305-6657C40F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4F8FC"/>
                </a:solidFill>
              </a:defRPr>
            </a:pPr>
            <a:r>
              <a:rPr sz="1200">
                <a:solidFill>
                  <a:srgbClr val="F4F8FC"/>
                </a:solidFill>
              </a:rPr>
              <a:t>04  Awaiting data: fixed-size card names the required project input.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489D7-1863-47F0-BF52-623B9AE5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Designed &amp; Created |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65C77-0E28-4D00-809B-F3883A6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C5E8"/>
                </a:solidFill>
              </a:defRPr>
            </a:pPr>
            <a:r>
              <a:rPr sz="750" b="1">
                <a:solidFill>
                  <a:srgbClr val="11C5E8"/>
                </a:solidFill>
              </a:rPr>
              <a:t>Engr. Ahmed Labib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EB048-416A-4369-BCB6-D852F22F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Source-governed project controls</a:t>
            </a:r>
          </a:p>
        </p:txBody>
      </p:sp>
    </p:spTree>
    <p:extLst>
      <p:ext uri="{BB962C8B-B14F-4D97-AF65-F5344CB8AC3E}">
        <p14:creationId xmlns:p14="http://schemas.microsoft.com/office/powerpoint/2010/main" val="162265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2ED628-7DA8-4EA3-8DE6-6ADBE9BB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C5E8"/>
                </a:solidFill>
              </a:defRPr>
            </a:pPr>
            <a:r>
              <a:rPr sz="900" b="1">
                <a:solidFill>
                  <a:srgbClr val="11C5E8"/>
                </a:solidFill>
              </a:rPr>
              <a:t>DATA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0E87-2E80-44A2-A6A1-B05112A7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The `vercel` folder completes missing evidence without replacing source pipelines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989F0-93FF-4DC9-9737-9FA59EE5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6B7C9"/>
                </a:solidFill>
              </a:defRPr>
            </a:pPr>
            <a:r>
              <a:rPr sz="1275">
                <a:solidFill>
                  <a:srgbClr val="A6B7C9"/>
                </a:solidFill>
              </a:rPr>
              <a:t>Every current and future project receives the same empty templates; no rows are created automatically.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0B228-48F0-49D0-8751-4228F1B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SAMCO PROJECT INTELLIGENCE HUB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E5F6C-67FD-4A69-9E75-27094E7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35D"/>
          </a:solidFill>
          <a:ln xmlns:a="http://schemas.openxmlformats.org/drawingml/2006/main" w="0">
            <a:solidFill>
              <a:srgbClr val="2143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3B7D1-2843-4B72-BF47-894AEC33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1306F-5BC9-4AD2-9E33-FF08663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C5E8"/>
                </a:solidFill>
              </a:defRPr>
            </a:pPr>
            <a:r>
              <a:rPr sz="1050" b="1">
                <a:solidFill>
                  <a:srgbClr val="11C5E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FC853-0878-4ED5-9161-E74EE133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812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vercel/phase_progress.csv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0FE9B-2F0E-4661-9CDF-658CB679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098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11966-9359-404E-BCE6-99C851D5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4787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9E4C4-A082-4DC1-A140-2225B4B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C5E8"/>
                </a:solidFill>
              </a:defRPr>
            </a:pPr>
            <a:r>
              <a:rPr sz="1050" b="1">
                <a:solidFill>
                  <a:srgbClr val="11C5E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27AF4-C089-419B-8CF8-B76DA2C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812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vercel/discipline_history.csv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A2AF4-5B47-4CC9-A7C1-FAB81758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AAE51B-98A4-4C51-93E0-99BE56EC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CA283-3B0F-41A4-958D-18D03632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C5E8"/>
                </a:solidFill>
              </a:defRPr>
            </a:pPr>
            <a:r>
              <a:rPr sz="1050" b="1">
                <a:solidFill>
                  <a:srgbClr val="11C5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B37D9-7BCF-45D9-818A-F3AC54E0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622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vercel/activity_history.csv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FA19E-4F02-4142-A9C6-478E1FB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908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35C9B-F279-49EB-839A-15F3138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2892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C3F80-665E-41AA-8761-184B283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908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C5E8"/>
                </a:solidFill>
              </a:defRPr>
            </a:pPr>
            <a:r>
              <a:rPr sz="1050" b="1">
                <a:solidFill>
                  <a:srgbClr val="11C5E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DED2C-E320-40FC-AF9B-EB92195D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622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vercel/evm_history.csv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41048-F57D-4579-9773-59A02CEB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4FD9C-08D2-4589-AEE7-9B7EF680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FD9EB-A728-4B5D-BEA5-06CEB7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AE16"/>
                </a:solidFill>
              </a:defRPr>
            </a:pPr>
            <a:r>
              <a:rPr sz="1050" b="1">
                <a:solidFill>
                  <a:srgbClr val="FFAE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68E81-626C-4084-9D68-983DFD0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433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vercel/planned_cash_flow.csv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CBE17-D0CA-4D5D-AF3F-BF58FAA6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719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596AA-2FAE-4079-A61A-098FFC0A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997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E6932-FDF8-47B9-8CFA-FF422496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71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AE16"/>
                </a:solidFill>
              </a:defRPr>
            </a:pPr>
            <a:r>
              <a:rPr sz="1050" b="1">
                <a:solidFill>
                  <a:srgbClr val="FFAE16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C3A97-3C8C-4933-A987-D20BDB7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4332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vercel/risk_history.csv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D3B34-F788-42CA-8722-45CA3BE5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B2D415-CCBA-48D7-805F-B14B309C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6618A-99EA-4D53-924D-CFFD2BA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AE16"/>
                </a:solidFill>
              </a:defRPr>
            </a:pPr>
            <a:r>
              <a:rPr sz="1050" b="1">
                <a:solidFill>
                  <a:srgbClr val="FFAE16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9EAE84-51C8-441F-9FA4-36EE1F22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vercel/delay_classification.csv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97FE5-0E53-4A51-A184-A48A6ADF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8482FA-69E9-4823-8C77-B431FCF2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91025"/>
            <a:ext cx="4857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1ACC4A-EB59-4557-BD6B-AC195056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52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AE16"/>
                </a:solidFill>
              </a:defRPr>
            </a:pPr>
            <a:r>
              <a:rPr sz="1050" b="1">
                <a:solidFill>
                  <a:srgbClr val="FFAE16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DE187D-FE87-4981-9A45-BEF7AF55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24375"/>
            <a:ext cx="3000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F8FC"/>
                </a:solidFill>
              </a:defRPr>
            </a:pPr>
            <a:r>
              <a:rPr sz="1200" b="1">
                <a:solidFill>
                  <a:srgbClr val="F4F8FC"/>
                </a:solidFill>
              </a:rPr>
              <a:t>vercel/recovery_scenario.csv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CA2778-F222-467F-AFFE-964F86E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529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Project ID required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1BA27C-91BC-4716-88F0-6F05DF0E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4F8FC"/>
                </a:solidFill>
              </a:defRPr>
            </a:pPr>
            <a:r>
              <a:rPr sz="1275">
                <a:solidFill>
                  <a:srgbClr val="F4F8FC"/>
                </a:solidFill>
              </a:rPr>
              <a:t>Source precedence: populated Vercel rows -&gt; matching legacy project data -&gt; controlled readiness card. Rows with another project_id are excluded and reported only to the owning project.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7B25E4-3F68-46C8-9404-88F7744E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Designed &amp; Created |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7BD841-A6A7-4860-A28C-11C0B212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C5E8"/>
                </a:solidFill>
              </a:defRPr>
            </a:pPr>
            <a:r>
              <a:rPr sz="750" b="1">
                <a:solidFill>
                  <a:srgbClr val="11C5E8"/>
                </a:solidFill>
              </a:rPr>
              <a:t>Engr. Ahmed Labib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7FAC76-1F65-4835-A298-954D4F81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Source-governed project controls</a:t>
            </a:r>
          </a:p>
        </p:txBody>
      </p:sp>
    </p:spTree>
    <p:extLst>
      <p:ext uri="{BB962C8B-B14F-4D97-AF65-F5344CB8AC3E}">
        <p14:creationId xmlns:p14="http://schemas.microsoft.com/office/powerpoint/2010/main" val="7839587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F8E515-A9EF-4179-AE1A-C0A2AF48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C5E8"/>
                </a:solidFill>
              </a:defRPr>
            </a:pPr>
            <a:r>
              <a:rPr sz="900" b="1">
                <a:solidFill>
                  <a:srgbClr val="11C5E8"/>
                </a:solidFill>
              </a:rPr>
              <a:t>TIME IMPACT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3DFFD-D66D-43AD-B6AB-B005BB0D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Automation assists the evidence review; it does not create contractual conclusions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F16E5-B89A-4D2A-9F52-F2E2A539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6B7C9"/>
                </a:solidFill>
              </a:defRPr>
            </a:pPr>
            <a:r>
              <a:rPr sz="1275">
                <a:solidFill>
                  <a:srgbClr val="A6B7C9"/>
                </a:solidFill>
              </a:rPr>
              <a:t>Delay Analysis - Time Impact Analysis stays internal until explicitly recalled and is governed by selected-project schedule and evidence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0795F-579E-4EA6-A02D-AF1446D1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SAMCO PROJECT INTELLIGENCE HUB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EBE7D-EDB7-4BFB-AFB9-2A950309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35D"/>
          </a:solidFill>
          <a:ln xmlns:a="http://schemas.openxmlformats.org/drawingml/2006/main" w="0">
            <a:solidFill>
              <a:srgbClr val="2143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DC221-8717-4719-8FC6-68210C49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A0626-A297-430C-8C36-12A7752D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C5E8"/>
          </a:solidFill>
          <a:ln xmlns:a="http://schemas.openxmlformats.org/drawingml/2006/main" w="0">
            <a:solidFill>
              <a:srgbClr val="11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AD3DF-A592-4EB3-A992-EC0FCAC0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RELATIONSHIP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45C47-5AAD-4E35-A866-9F098A37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P6-led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298EF-0002-4EF8-97EA-2F39947C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Predecessor, successor, type, and lag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88493-9E18-4BA2-8240-29D2C099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F6782-0D72-4115-A255-D16AA365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7B6"/>
          </a:solidFill>
          <a:ln xmlns:a="http://schemas.openxmlformats.org/drawingml/2006/main" w="0">
            <a:solidFill>
              <a:srgbClr val="20C7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42C30-BDCE-4F08-AF33-11541717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CRITICALITY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B2F63-6BE6-41B5-B313-A71C527B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3842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Evidence-led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312E9-B028-4B54-A80B-CEBBE63E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Float and path data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FA37F-B247-448F-A6DF-6C45B59F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2F7FA-E9CB-44A6-AB44-8ABBA496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E16"/>
          </a:solidFill>
          <a:ln xmlns:a="http://schemas.openxmlformats.org/drawingml/2006/main" w="0">
            <a:solidFill>
              <a:srgbClr val="FFAE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9F0A5-9814-4070-8AAE-F4BB990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193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7A61E-196F-4FC3-A2CB-9C2C7AD0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Scenario-gated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EF39D2-918C-47FA-A5D7-05602815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Draft and verified are distinct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C6ED7-BA27-444A-A50A-42164F6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428875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46FF7-B5E1-43B1-82CF-4B2D9833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66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4B70"/>
          </a:solidFill>
          <a:ln xmlns:a="http://schemas.openxmlformats.org/drawingml/2006/main" w="0">
            <a:solidFill>
              <a:srgbClr val="F64B7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2C0F8-EEA4-4125-8C7C-EF88C75E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193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ENTITLEMENT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52F25-D3CE-438F-A9E8-C4ED2F0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3842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8FC"/>
                </a:solidFill>
              </a:defRPr>
            </a:pPr>
            <a:r>
              <a:rPr sz="2025" b="1">
                <a:solidFill>
                  <a:srgbClr val="F4F8FC"/>
                </a:solidFill>
              </a:rPr>
              <a:t>Not automatic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4DA6D-228A-480A-9D3C-0145B95A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0859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P6, contract, concurrency,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F7DE0-1CE4-4847-9E17-508C49C7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401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305CDD-4D57-4E65-8C78-26A678EA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4F8FC"/>
                </a:solidFill>
              </a:defRPr>
            </a:pPr>
            <a:r>
              <a:rPr sz="1650">
                <a:solidFill>
                  <a:srgbClr val="F4F8FC"/>
                </a:solidFill>
              </a:rPr>
              <a:t>AI can describe project evidence, link missing inputs, and recommend analyst follow-up. It cannot invent delay days, fragnet logic, EOT, compensation, concurrency, or claim strength.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8367A-A87D-489A-85E3-620867C6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Designed &amp; Created |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4EC99-3070-40D8-8F7B-C1943AA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C5E8"/>
                </a:solidFill>
              </a:defRPr>
            </a:pPr>
            <a:r>
              <a:rPr sz="750" b="1">
                <a:solidFill>
                  <a:srgbClr val="11C5E8"/>
                </a:solidFill>
              </a:rPr>
              <a:t>Engr. Ahmed Labib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2F351-3C97-4D1B-99DE-47D65613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Source-governed project controls</a:t>
            </a:r>
          </a:p>
        </p:txBody>
      </p:sp>
    </p:spTree>
    <p:extLst>
      <p:ext uri="{BB962C8B-B14F-4D97-AF65-F5344CB8AC3E}">
        <p14:creationId xmlns:p14="http://schemas.microsoft.com/office/powerpoint/2010/main" val="1240972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5DAC9F-0302-4CB5-A372-A53CD41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C5E8"/>
                </a:solidFill>
              </a:defRPr>
            </a:pPr>
            <a:r>
              <a:rPr sz="900" b="1">
                <a:solidFill>
                  <a:srgbClr val="11C5E8"/>
                </a:solidFill>
              </a:rPr>
              <a:t>BOARD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E7453-ABFC-4D62-9111-14BFBCF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5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C"/>
                </a:solidFill>
              </a:defRPr>
            </a:pPr>
            <a:r>
              <a:rPr sz="2550" b="1">
                <a:solidFill>
                  <a:srgbClr val="F4F8FC"/>
                </a:solidFill>
              </a:rPr>
              <a:t>Protect the control loop: data ownership, P6 verification, and disciplined publication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AE58C-B697-40DE-8173-D5386287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6B7C9"/>
                </a:solidFill>
              </a:defRPr>
            </a:pPr>
            <a:r>
              <a:rPr sz="1275">
                <a:solidFill>
                  <a:srgbClr val="A6B7C9"/>
                </a:solidFill>
              </a:rPr>
              <a:t>The next gain comes from completing identified evidence gaps, not from adding unsourced automation.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03248-29A6-42CA-B074-FCB82F19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6B7C9"/>
                </a:solidFill>
              </a:defRPr>
            </a:pPr>
            <a:r>
              <a:rPr sz="750" b="1">
                <a:solidFill>
                  <a:srgbClr val="A6B7C9"/>
                </a:solidFill>
              </a:rPr>
              <a:t>SAMCO PROJECT INTELLIGENCE HUB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14FDB-2F90-4477-A9A2-F433CE6B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35D"/>
          </a:solidFill>
          <a:ln xmlns:a="http://schemas.openxmlformats.org/drawingml/2006/main" w="0">
            <a:solidFill>
              <a:srgbClr val="2143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DCDDB-094E-4D1C-8517-DC055030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401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602BC-93D5-4247-89E3-036E8C08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C5E8"/>
                </a:solidFill>
              </a:defRPr>
            </a:pPr>
            <a:r>
              <a:rPr sz="1575" b="1">
                <a:solidFill>
                  <a:srgbClr val="11C5E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E39F5-FB6E-4C54-BA37-E1E12913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7170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Nominate project data owners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BB445-7E90-4ACB-852D-0A927A7B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098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6B7C9"/>
                </a:solidFill>
              </a:defRPr>
            </a:pPr>
            <a:r>
              <a:rPr sz="1050">
                <a:solidFill>
                  <a:srgbClr val="A6B7C9"/>
                </a:solidFill>
              </a:rPr>
              <a:t>Each project needs accountable owners for progress, cost, risk, delay, letters, and evidence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6DAB5-82AC-4DEA-90EB-7C3F1B04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401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631B1-67F1-45FC-B62E-53E7DA0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C5E8"/>
                </a:solidFill>
              </a:defRPr>
            </a:pPr>
            <a:r>
              <a:rPr sz="1575" b="1">
                <a:solidFill>
                  <a:srgbClr val="11C5E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C3F87-F24E-439D-80E3-588FB79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Complete only the needed Vercel templates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1921F-453A-440E-8DC0-02A6A3C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9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6B7C9"/>
                </a:solidFill>
              </a:defRPr>
            </a:pPr>
            <a:r>
              <a:rPr sz="1050">
                <a:solidFill>
                  <a:srgbClr val="A6B7C9"/>
                </a:solidFill>
              </a:rPr>
              <a:t>Use controlled local inputs when existing sources do not contain period-level or classification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E8B4B-E2A4-4B63-836E-7F6EEAE8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401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D1B30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5EB30-EA83-474B-8848-168BD641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95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AE16"/>
                </a:solidFill>
              </a:defRPr>
            </a:pPr>
            <a:r>
              <a:rPr sz="1575" b="1">
                <a:solidFill>
                  <a:srgbClr val="FFAE16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28F8A-14D2-416E-B0C4-7C98BC66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Approve a P6 verification protocol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47B97-416A-48BB-8BA4-99125654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10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6B7C9"/>
                </a:solidFill>
              </a:defRPr>
            </a:pPr>
            <a:r>
              <a:rPr sz="1050">
                <a:solidFill>
                  <a:srgbClr val="A6B7C9"/>
                </a:solidFill>
              </a:rPr>
              <a:t>No formal time impact conclusion should bypass validated schedule logic and evidence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53D72-4C43-4BAB-9216-F9EF48B8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401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243C"/>
          </a:solidFill>
          <a:ln xmlns:a="http://schemas.openxmlformats.org/drawingml/2006/main" w="9525">
            <a:solidFill>
              <a:srgbClr val="2143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3C663-DB4D-4C01-890D-EE71F8D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AE16"/>
                </a:solidFill>
              </a:defRPr>
            </a:pPr>
            <a:r>
              <a:rPr sz="1575" b="1">
                <a:solidFill>
                  <a:srgbClr val="FFAE16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D29F1-44A9-4364-9CF4-694D222C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C"/>
                </a:solidFill>
              </a:defRPr>
            </a:pPr>
            <a:r>
              <a:rPr sz="1350" b="1">
                <a:solidFill>
                  <a:srgbClr val="F4F8FC"/>
                </a:solidFill>
              </a:rPr>
              <a:t>Use Output Studio for formal issue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2E727-8D63-4EAE-B83D-F6CEE8F0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101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6B7C9"/>
                </a:solidFill>
              </a:defRPr>
            </a:pPr>
            <a:r>
              <a:rPr sz="1050">
                <a:solidFill>
                  <a:srgbClr val="A6B7C9"/>
                </a:solidFill>
              </a:rPr>
              <a:t>The live workspace supports control; formal HTML, PDF, PowerPoint, and supporting outputs remain project-scoped.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4F5F7-C4ED-4CBA-865E-8298FF5F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381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Designed &amp; Created |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A57FF-314D-4E5B-BA44-002D3376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151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C5E8"/>
                </a:solidFill>
              </a:defRPr>
            </a:pPr>
            <a:r>
              <a:rPr sz="750" b="1">
                <a:solidFill>
                  <a:srgbClr val="11C5E8"/>
                </a:solidFill>
              </a:rPr>
              <a:t>Engr. Ahmed Labib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3EA5E-B35B-41E1-B0CB-3A89D9DD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15100"/>
            <a:ext cx="2428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A6B7C9"/>
                </a:solidFill>
              </a:defRPr>
            </a:pPr>
            <a:r>
              <a:rPr sz="750">
                <a:solidFill>
                  <a:srgbClr val="A6B7C9"/>
                </a:solidFill>
              </a:rPr>
              <a:t>Source-governed project controls</a:t>
            </a:r>
          </a:p>
        </p:txBody>
      </p:sp>
    </p:spTree>
    <p:extLst>
      <p:ext uri="{BB962C8B-B14F-4D97-AF65-F5344CB8AC3E}">
        <p14:creationId xmlns:p14="http://schemas.microsoft.com/office/powerpoint/2010/main" val="20161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2026-08-02T01:47:15.1980000Z</dcterms:created>
  <dcterms:modified xsi:type="dcterms:W3CDTF">2026-08-02T01:47:15.1980000Z</dcterms:modified>
</coreProperties>
</file>