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1FEA-A49D-E4B3-5DCF-705190A49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E9824-AB04-5F0D-7457-60B94B351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5CB40-8CB9-A8CF-86A2-4688980A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BF2B-5FBF-46AA-AB07-78AC6A3A55E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EE783-58A9-51F5-1D53-C9967DBF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318FF-B8E4-BCD7-E731-E91FAFBD7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C3E2-1558-4B26-9B85-8759A822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34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4678-FCF7-99E8-8D5F-759F0AE52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C77BF-8003-08BC-DE98-0457CA000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8396-799D-6A11-E3A6-D75576739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BF2B-5FBF-46AA-AB07-78AC6A3A55E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B3B40-CC30-668B-BB53-7680D3E78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54AAF-A0AE-AEA7-8923-960922EE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C3E2-1558-4B26-9B85-8759A822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49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24DF-F583-E44A-EBBB-1891D9A21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C4AFC-8D68-69E2-5CEB-FB5B8B9F8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6A781-2E12-5A53-897D-600D45DFC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BF2B-5FBF-46AA-AB07-78AC6A3A55E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0DB1E-6F8C-2D85-0356-F81495ABB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910F7-FDDB-51B3-5A57-504D99C3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C3E2-1558-4B26-9B85-8759A822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682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5363-06BE-E492-563D-A917D544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5CCC6-1DB4-0FFC-2B5F-0229B4614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D82B3-3D39-70EA-3DB4-EA5155528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FAB78-0BCC-9926-739F-87DECE6A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BF2B-5FBF-46AA-AB07-78AC6A3A55E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5CC7C-169D-6D3B-5DB7-A89C6D636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05C96-D636-5847-5209-66ED0C6E9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C3E2-1558-4B26-9B85-8759A822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33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FEE1-A97C-9359-040F-AC456C5FE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256CD-5C85-357F-5D32-5F42DCD37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7076F-6311-B5C3-56C3-35B4559B2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5A7B46-9BAB-F7AB-5D58-151D870C9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A9BE0-9049-EBDD-CB70-90C6758AE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A36B64-3A31-3BD6-89E1-8709DCBA8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BF2B-5FBF-46AA-AB07-78AC6A3A55E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A63129-5735-53B1-57B4-45AC78A94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AAE74B-835B-C62A-856A-936E2DF7D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C3E2-1558-4B26-9B85-8759A822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69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C7E42-7AD0-0A9F-A88A-20A73028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F54A3-D50F-211B-732D-5B7C8217C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BF2B-5FBF-46AA-AB07-78AC6A3A55E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CC347-9927-4FBE-FD22-2572DBF75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D8DB80-C27D-D749-61D8-C6E8D0B1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C3E2-1558-4B26-9B85-8759A822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82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726F2B-39FE-B359-C933-6B27B04DE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BF2B-5FBF-46AA-AB07-78AC6A3A55E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549F04-984B-E87F-8AE9-E537DA651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08A11-37F3-C75B-6DC8-E13403CA7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C3E2-1558-4B26-9B85-8759A822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39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0C73E-2402-FF29-F378-40AEAA59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8EC29-3278-22D1-56EA-A7F2F74D2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B7E18-E704-BD94-FD42-F06789520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69F60-9938-B428-7154-CFBFBAA85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BF2B-5FBF-46AA-AB07-78AC6A3A55E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EFF3C-C8F8-1151-0D3F-76E89674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7095C-7505-349E-8381-DA912AF9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C3E2-1558-4B26-9B85-8759A822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508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7C17C-EF2C-5D21-B04E-49D5E5B3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DDC8ED-0756-FEF0-CAFF-1220842A1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04153-DE2A-A967-DD8E-DE85147BF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D1F03-483C-4528-8219-34A513F7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BF2B-5FBF-46AA-AB07-78AC6A3A55E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2EF78-506C-3539-A62D-46377D9C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5E1BB-9DAA-E78A-F722-60FBCDEB9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C3E2-1558-4B26-9B85-8759A822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36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D44D7-F1A7-1450-0E91-B32885A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EF304-7E75-9A9B-7EA0-0549FCC3F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4D7F0-43D0-5026-D5D3-E82BBB14E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BF2B-5FBF-46AA-AB07-78AC6A3A55E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F272D-B628-512B-C43D-A8520C30B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BDB6D-AE74-6BD4-7247-FB72538C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C3E2-1558-4B26-9B85-8759A822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2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2A0ADE-F7F2-79A3-5A40-93BFBFD649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25E80-290C-EA87-0822-E16ED80B3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E416D-92AE-B917-C648-339C68F8C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BF2B-5FBF-46AA-AB07-78AC6A3A55E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EE688-90C4-C28F-90D1-1334F4ED8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E8C48-BA5E-601E-A88C-F008F451C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6C3E2-1558-4B26-9B85-8759A822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60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3C35E5-A15F-B523-294F-31A95086C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5BEC3-0FB2-7F90-6B9A-3FB7454A8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B9DB0-A1A9-4D79-757E-D9F646336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7BF2B-5FBF-46AA-AB07-78AC6A3A55E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6D61C-9424-A182-8CAF-7BDFB3A12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73562-237E-0545-E768-2FB6358E9E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6C3E2-1558-4B26-9B85-8759A822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69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727FFD9-E5B9-61AC-39BF-9FFB95C371E5}"/>
              </a:ext>
            </a:extLst>
          </p:cNvPr>
          <p:cNvSpPr/>
          <p:nvPr/>
        </p:nvSpPr>
        <p:spPr>
          <a:xfrm>
            <a:off x="8890000" y="-1016000"/>
            <a:ext cx="4191000" cy="4191000"/>
          </a:xfrm>
          <a:prstGeom prst="ellipse">
            <a:avLst/>
          </a:prstGeom>
          <a:solidFill>
            <a:srgbClr val="39D7D2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1601B8A-410D-1D9A-FD2A-C42C9FD74AC5}"/>
              </a:ext>
            </a:extLst>
          </p:cNvPr>
          <p:cNvSpPr/>
          <p:nvPr/>
        </p:nvSpPr>
        <p:spPr>
          <a:xfrm>
            <a:off x="-1016000" y="4889500"/>
            <a:ext cx="3556000" cy="3556000"/>
          </a:xfrm>
          <a:prstGeom prst="ellipse">
            <a:avLst/>
          </a:prstGeom>
          <a:solidFill>
            <a:srgbClr val="D6A23A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63939-A2EF-9831-698F-F0AB90F760BC}"/>
              </a:ext>
            </a:extLst>
          </p:cNvPr>
          <p:cNvSpPr txBox="1"/>
          <p:nvPr/>
        </p:nvSpPr>
        <p:spPr>
          <a:xfrm>
            <a:off x="508000" y="64516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Designed &amp; Created | Engr. Ahmed Labib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E609D-2F10-B390-F640-F0885D1F3E6D}"/>
              </a:ext>
            </a:extLst>
          </p:cNvPr>
          <p:cNvSpPr txBox="1"/>
          <p:nvPr/>
        </p:nvSpPr>
        <p:spPr>
          <a:xfrm>
            <a:off x="8890000" y="6451600"/>
            <a:ext cx="2794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SAMCO Project Intelligence Hub | Board Control Plan |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D0175-2FF0-7B99-1204-344D9D2FA29D}"/>
              </a:ext>
            </a:extLst>
          </p:cNvPr>
          <p:cNvSpPr txBox="1"/>
          <p:nvPr/>
        </p:nvSpPr>
        <p:spPr>
          <a:xfrm>
            <a:off x="508000" y="381000"/>
            <a:ext cx="1143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39D7D2"/>
                </a:solidFill>
                <a:latin typeface="Aptos Display" panose="020B0004020202020204" pitchFamily="34" charset="0"/>
              </a:rPr>
              <a:t>SAMCO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116807-02AE-7E0E-85E7-51F6BAD1B8B2}"/>
              </a:ext>
            </a:extLst>
          </p:cNvPr>
          <p:cNvSpPr txBox="1"/>
          <p:nvPr/>
        </p:nvSpPr>
        <p:spPr>
          <a:xfrm>
            <a:off x="508000" y="1016000"/>
            <a:ext cx="8509000" cy="53860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500" b="1">
                <a:solidFill>
                  <a:srgbClr val="05182D"/>
                </a:solidFill>
                <a:latin typeface="Aptos Display" panose="020B0004020202020204" pitchFamily="34" charset="0"/>
              </a:rPr>
              <a:t>PROJECT INTELLIGENCE HUB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0A3DDB-C509-2BFF-8772-56BED74F5BD6}"/>
              </a:ext>
            </a:extLst>
          </p:cNvPr>
          <p:cNvSpPr txBox="1"/>
          <p:nvPr/>
        </p:nvSpPr>
        <p:spPr>
          <a:xfrm>
            <a:off x="533400" y="1879600"/>
            <a:ext cx="889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082748"/>
                </a:solidFill>
                <a:latin typeface="Aptos Display" panose="020B0004020202020204" pitchFamily="34" charset="0"/>
              </a:rPr>
              <a:t>Planning, Controls, Claims, Delay Analysis, Evidence Governance, Automation and AI Decision Intelligence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48D840-980D-9FE0-E76B-675633836E97}"/>
              </a:ext>
            </a:extLst>
          </p:cNvPr>
          <p:cNvSpPr txBox="1"/>
          <p:nvPr/>
        </p:nvSpPr>
        <p:spPr>
          <a:xfrm>
            <a:off x="609600" y="2984500"/>
            <a:ext cx="71120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05182D"/>
                </a:solidFill>
                <a:latin typeface="Aptos Display" panose="020B0004020202020204" pitchFamily="34" charset="0"/>
              </a:rPr>
              <a:t>A single control layer that converts project files, schedules, letters, contracts, evidence and technical knowledge into board decisions and accountable actions.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023D00-E7F8-F7EA-1952-95B6DC5763E5}"/>
              </a:ext>
            </a:extLst>
          </p:cNvPr>
          <p:cNvSpPr/>
          <p:nvPr/>
        </p:nvSpPr>
        <p:spPr>
          <a:xfrm>
            <a:off x="8064500" y="2921000"/>
            <a:ext cx="1206500" cy="812800"/>
          </a:xfrm>
          <a:prstGeom prst="roundRect">
            <a:avLst/>
          </a:prstGeom>
          <a:solidFill>
            <a:srgbClr val="093056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30203A-EE0F-E94A-ECD6-A891D36A6DBA}"/>
              </a:ext>
            </a:extLst>
          </p:cNvPr>
          <p:cNvSpPr txBox="1"/>
          <p:nvPr/>
        </p:nvSpPr>
        <p:spPr>
          <a:xfrm>
            <a:off x="8191500" y="3022600"/>
            <a:ext cx="9525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 b="1">
                <a:solidFill>
                  <a:srgbClr val="A5BED2"/>
                </a:solidFill>
                <a:latin typeface="Aptos Display" panose="020B0004020202020204" pitchFamily="34" charset="0"/>
              </a:rPr>
              <a:t>Projects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1C5F03-979D-5955-A7BB-CE81A86FB820}"/>
              </a:ext>
            </a:extLst>
          </p:cNvPr>
          <p:cNvSpPr txBox="1"/>
          <p:nvPr/>
        </p:nvSpPr>
        <p:spPr>
          <a:xfrm>
            <a:off x="8191500" y="3289300"/>
            <a:ext cx="952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F8FCFF"/>
                </a:solidFill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AEC854B-312A-760F-D634-416231745A04}"/>
              </a:ext>
            </a:extLst>
          </p:cNvPr>
          <p:cNvSpPr/>
          <p:nvPr/>
        </p:nvSpPr>
        <p:spPr>
          <a:xfrm>
            <a:off x="9461500" y="2921000"/>
            <a:ext cx="1206500" cy="812800"/>
          </a:xfrm>
          <a:prstGeom prst="roundRect">
            <a:avLst/>
          </a:prstGeom>
          <a:solidFill>
            <a:srgbClr val="093056"/>
          </a:solidFill>
          <a:ln>
            <a:solidFill>
              <a:srgbClr val="D6A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FDD5D3-7D0A-4AF8-8192-C04E233C3FAA}"/>
              </a:ext>
            </a:extLst>
          </p:cNvPr>
          <p:cNvSpPr txBox="1"/>
          <p:nvPr/>
        </p:nvSpPr>
        <p:spPr>
          <a:xfrm>
            <a:off x="9588500" y="3022600"/>
            <a:ext cx="9525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 b="1">
                <a:solidFill>
                  <a:srgbClr val="A5BED2"/>
                </a:solidFill>
                <a:latin typeface="Aptos Display" panose="020B0004020202020204" pitchFamily="34" charset="0"/>
              </a:rPr>
              <a:t>Sectors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0414B0-5EA5-E632-7AAA-ACD4575D9F52}"/>
              </a:ext>
            </a:extLst>
          </p:cNvPr>
          <p:cNvSpPr txBox="1"/>
          <p:nvPr/>
        </p:nvSpPr>
        <p:spPr>
          <a:xfrm>
            <a:off x="9588500" y="3289300"/>
            <a:ext cx="952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F8FCFF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C8FF6E-F1D0-7813-8E7C-87483D6F8DE0}"/>
              </a:ext>
            </a:extLst>
          </p:cNvPr>
          <p:cNvSpPr/>
          <p:nvPr/>
        </p:nvSpPr>
        <p:spPr>
          <a:xfrm>
            <a:off x="10858500" y="2921000"/>
            <a:ext cx="889000" cy="812800"/>
          </a:xfrm>
          <a:prstGeom prst="roundRect">
            <a:avLst/>
          </a:prstGeom>
          <a:solidFill>
            <a:srgbClr val="093056"/>
          </a:solidFill>
          <a:ln>
            <a:solidFill>
              <a:srgbClr val="63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0D8366-D7A1-3704-733C-BF303814BA98}"/>
              </a:ext>
            </a:extLst>
          </p:cNvPr>
          <p:cNvSpPr txBox="1"/>
          <p:nvPr/>
        </p:nvSpPr>
        <p:spPr>
          <a:xfrm>
            <a:off x="10985500" y="30226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 b="1">
                <a:solidFill>
                  <a:srgbClr val="A5BED2"/>
                </a:solidFill>
                <a:latin typeface="Aptos Display" panose="020B0004020202020204" pitchFamily="34" charset="0"/>
              </a:rPr>
              <a:t>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1B691F-8FFD-057D-35E7-3A293530E532}"/>
              </a:ext>
            </a:extLst>
          </p:cNvPr>
          <p:cNvSpPr txBox="1"/>
          <p:nvPr/>
        </p:nvSpPr>
        <p:spPr>
          <a:xfrm>
            <a:off x="10985500" y="3289300"/>
            <a:ext cx="635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F8FCFF"/>
                </a:solidFill>
                <a:latin typeface="Aptos Display" panose="020B0004020202020204" pitchFamily="34" charset="0"/>
              </a:rPr>
              <a:t>EGP 4.20B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9EDEE64-AB5D-8B53-10DC-AE131D868983}"/>
              </a:ext>
            </a:extLst>
          </p:cNvPr>
          <p:cNvSpPr/>
          <p:nvPr/>
        </p:nvSpPr>
        <p:spPr>
          <a:xfrm>
            <a:off x="609600" y="4635500"/>
            <a:ext cx="3429000" cy="1168400"/>
          </a:xfrm>
          <a:prstGeom prst="roundRect">
            <a:avLst/>
          </a:prstGeom>
          <a:solidFill>
            <a:srgbClr val="082748"/>
          </a:solidFill>
          <a:ln>
            <a:solidFill>
              <a:srgbClr val="D6A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9CC678-B60E-BF2E-EC2D-DCB709735195}"/>
              </a:ext>
            </a:extLst>
          </p:cNvPr>
          <p:cNvSpPr txBox="1"/>
          <p:nvPr/>
        </p:nvSpPr>
        <p:spPr>
          <a:xfrm>
            <a:off x="812800" y="4813300"/>
            <a:ext cx="307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Board promise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9BE774-1C24-1EA5-1D5B-5CFF9F7642CF}"/>
              </a:ext>
            </a:extLst>
          </p:cNvPr>
          <p:cNvSpPr txBox="1"/>
          <p:nvPr/>
        </p:nvSpPr>
        <p:spPr>
          <a:xfrm>
            <a:off x="812800" y="5270500"/>
            <a:ext cx="30226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From fragmented reporting to one executive command system: risk, delay, claims, progress, evidence and next decisions in one controlled view.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F32E680-F5B0-9485-C4FF-00F16CA13161}"/>
              </a:ext>
            </a:extLst>
          </p:cNvPr>
          <p:cNvSpPr/>
          <p:nvPr/>
        </p:nvSpPr>
        <p:spPr>
          <a:xfrm>
            <a:off x="4343400" y="4635500"/>
            <a:ext cx="3429000" cy="11684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FBC3A6-502F-C899-9ABA-CE3054C2B2A0}"/>
              </a:ext>
            </a:extLst>
          </p:cNvPr>
          <p:cNvSpPr txBox="1"/>
          <p:nvPr/>
        </p:nvSpPr>
        <p:spPr>
          <a:xfrm>
            <a:off x="4546600" y="4813300"/>
            <a:ext cx="307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Operating promise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1BC00B-E73F-8F07-C3D1-0F166A60A8CC}"/>
              </a:ext>
            </a:extLst>
          </p:cNvPr>
          <p:cNvSpPr txBox="1"/>
          <p:nvPr/>
        </p:nvSpPr>
        <p:spPr>
          <a:xfrm>
            <a:off x="4546600" y="5270500"/>
            <a:ext cx="3022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Project teams keep data isolated while management sees aggregated portfolio intelligence.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D1E0D63-1EF3-BC76-14D1-0212847FA18F}"/>
              </a:ext>
            </a:extLst>
          </p:cNvPr>
          <p:cNvSpPr/>
          <p:nvPr/>
        </p:nvSpPr>
        <p:spPr>
          <a:xfrm>
            <a:off x="8077200" y="4635500"/>
            <a:ext cx="3111500" cy="1168400"/>
          </a:xfrm>
          <a:prstGeom prst="roundRect">
            <a:avLst/>
          </a:prstGeom>
          <a:solidFill>
            <a:srgbClr val="082748"/>
          </a:solidFill>
          <a:ln>
            <a:solidFill>
              <a:srgbClr val="63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F7B9CE-2EDF-803D-6D93-B73189D9ED38}"/>
              </a:ext>
            </a:extLst>
          </p:cNvPr>
          <p:cNvSpPr txBox="1"/>
          <p:nvPr/>
        </p:nvSpPr>
        <p:spPr>
          <a:xfrm>
            <a:off x="8280400" y="4813300"/>
            <a:ext cx="27559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Strategic promise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3C0C3D-4AA0-9C91-2E42-BAF5C5B40A79}"/>
              </a:ext>
            </a:extLst>
          </p:cNvPr>
          <p:cNvSpPr txBox="1"/>
          <p:nvPr/>
        </p:nvSpPr>
        <p:spPr>
          <a:xfrm>
            <a:off x="8280400" y="5270500"/>
            <a:ext cx="27051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This can become SAMCO standard control room for all sectors and future projects.</a:t>
            </a:r>
          </a:p>
        </p:txBody>
      </p:sp>
    </p:spTree>
    <p:extLst>
      <p:ext uri="{BB962C8B-B14F-4D97-AF65-F5344CB8AC3E}">
        <p14:creationId xmlns:p14="http://schemas.microsoft.com/office/powerpoint/2010/main" val="122551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D7C441C-2C07-F207-BEEA-8A4E041CEE91}"/>
              </a:ext>
            </a:extLst>
          </p:cNvPr>
          <p:cNvSpPr/>
          <p:nvPr/>
        </p:nvSpPr>
        <p:spPr>
          <a:xfrm>
            <a:off x="8890000" y="-1016000"/>
            <a:ext cx="4191000" cy="4191000"/>
          </a:xfrm>
          <a:prstGeom prst="ellipse">
            <a:avLst/>
          </a:prstGeom>
          <a:solidFill>
            <a:srgbClr val="39D7D2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2897A51-C3F5-7D83-36CD-4745ED2C1442}"/>
              </a:ext>
            </a:extLst>
          </p:cNvPr>
          <p:cNvSpPr/>
          <p:nvPr/>
        </p:nvSpPr>
        <p:spPr>
          <a:xfrm>
            <a:off x="-1016000" y="4889500"/>
            <a:ext cx="3556000" cy="3556000"/>
          </a:xfrm>
          <a:prstGeom prst="ellipse">
            <a:avLst/>
          </a:prstGeom>
          <a:solidFill>
            <a:srgbClr val="D6A23A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9FCE1-4BE3-E0BA-730C-E82785B052B7}"/>
              </a:ext>
            </a:extLst>
          </p:cNvPr>
          <p:cNvSpPr txBox="1"/>
          <p:nvPr/>
        </p:nvSpPr>
        <p:spPr>
          <a:xfrm>
            <a:off x="508000" y="381000"/>
            <a:ext cx="9398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5182D"/>
                </a:solidFill>
                <a:latin typeface="Aptos Display" panose="020B0004020202020204" pitchFamily="34" charset="0"/>
              </a:rPr>
              <a:t>The System Is More Than a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F3A8A-73F1-57DD-78BB-0487E80C3DED}"/>
              </a:ext>
            </a:extLst>
          </p:cNvPr>
          <p:cNvSpPr txBox="1"/>
          <p:nvPr/>
        </p:nvSpPr>
        <p:spPr>
          <a:xfrm>
            <a:off x="533400" y="1016000"/>
            <a:ext cx="914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082748"/>
                </a:solidFill>
                <a:latin typeface="Aptos Display" panose="020B0004020202020204" pitchFamily="34" charset="0"/>
              </a:rPr>
              <a:t>It is a project intelligence operating model with a controlled data-to-decision chain.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46778-F09F-9B8C-C7B7-5DA5DDCB53FA}"/>
              </a:ext>
            </a:extLst>
          </p:cNvPr>
          <p:cNvSpPr txBox="1"/>
          <p:nvPr/>
        </p:nvSpPr>
        <p:spPr>
          <a:xfrm>
            <a:off x="508000" y="64516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Designed &amp; Created | Engr. Ahmed Labib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C27839-D17B-736E-9AF2-DF4D6658A607}"/>
              </a:ext>
            </a:extLst>
          </p:cNvPr>
          <p:cNvSpPr txBox="1"/>
          <p:nvPr/>
        </p:nvSpPr>
        <p:spPr>
          <a:xfrm>
            <a:off x="8890000" y="6451600"/>
            <a:ext cx="2794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SAMCO Project Intelligence Hub | Board Control Plan | 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44648F-5F81-5471-E7A6-7A9AC5D6B154}"/>
              </a:ext>
            </a:extLst>
          </p:cNvPr>
          <p:cNvSpPr/>
          <p:nvPr/>
        </p:nvSpPr>
        <p:spPr>
          <a:xfrm>
            <a:off x="698500" y="2032000"/>
            <a:ext cx="1905000" cy="21590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317884-87A7-19FC-C39C-1D40DA19AF89}"/>
              </a:ext>
            </a:extLst>
          </p:cNvPr>
          <p:cNvSpPr/>
          <p:nvPr/>
        </p:nvSpPr>
        <p:spPr>
          <a:xfrm>
            <a:off x="850900" y="2184400"/>
            <a:ext cx="355600" cy="355600"/>
          </a:xfrm>
          <a:prstGeom prst="ellipse">
            <a:avLst/>
          </a:prstGeom>
          <a:solidFill>
            <a:srgbClr val="39D7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4C10B3-E396-6626-0F16-CF74B5C70471}"/>
              </a:ext>
            </a:extLst>
          </p:cNvPr>
          <p:cNvSpPr txBox="1"/>
          <p:nvPr/>
        </p:nvSpPr>
        <p:spPr>
          <a:xfrm>
            <a:off x="850900" y="2247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05182D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56CF23-A06B-E87C-AE2C-13CC19997FA1}"/>
              </a:ext>
            </a:extLst>
          </p:cNvPr>
          <p:cNvSpPr txBox="1"/>
          <p:nvPr/>
        </p:nvSpPr>
        <p:spPr>
          <a:xfrm>
            <a:off x="1333500" y="2209800"/>
            <a:ext cx="154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Project folders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FEC5EC-4A07-14A0-3616-DB8A806F9DD7}"/>
              </a:ext>
            </a:extLst>
          </p:cNvPr>
          <p:cNvSpPr txBox="1"/>
          <p:nvPr/>
        </p:nvSpPr>
        <p:spPr>
          <a:xfrm>
            <a:off x="901700" y="2667000"/>
            <a:ext cx="14986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Every project has its own data, contracts, evidence, letters, outputs and reports.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33E656-3D04-3737-21E6-27D35E05785C}"/>
              </a:ext>
            </a:extLst>
          </p:cNvPr>
          <p:cNvSpPr/>
          <p:nvPr/>
        </p:nvSpPr>
        <p:spPr>
          <a:xfrm>
            <a:off x="2882900" y="2032000"/>
            <a:ext cx="1905000" cy="2159000"/>
          </a:xfrm>
          <a:prstGeom prst="roundRect">
            <a:avLst/>
          </a:prstGeom>
          <a:solidFill>
            <a:srgbClr val="082748"/>
          </a:solidFill>
          <a:ln>
            <a:solidFill>
              <a:srgbClr val="D6A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57C63C-7053-4996-0227-0852351A1029}"/>
              </a:ext>
            </a:extLst>
          </p:cNvPr>
          <p:cNvSpPr/>
          <p:nvPr/>
        </p:nvSpPr>
        <p:spPr>
          <a:xfrm>
            <a:off x="3035300" y="2184400"/>
            <a:ext cx="355600" cy="355600"/>
          </a:xfrm>
          <a:prstGeom prst="ellipse">
            <a:avLst/>
          </a:prstGeom>
          <a:solidFill>
            <a:srgbClr val="D6A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1FFD33-B712-9045-B1F0-520E7B78A178}"/>
              </a:ext>
            </a:extLst>
          </p:cNvPr>
          <p:cNvSpPr txBox="1"/>
          <p:nvPr/>
        </p:nvSpPr>
        <p:spPr>
          <a:xfrm>
            <a:off x="3035300" y="2247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05182D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BF8115-F9CA-60C0-FB3D-8C7998396C9D}"/>
              </a:ext>
            </a:extLst>
          </p:cNvPr>
          <p:cNvSpPr txBox="1"/>
          <p:nvPr/>
        </p:nvSpPr>
        <p:spPr>
          <a:xfrm>
            <a:off x="3517900" y="2209800"/>
            <a:ext cx="154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Generated JSON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93EE39-3B8F-12DB-95D6-9D58A153E53B}"/>
              </a:ext>
            </a:extLst>
          </p:cNvPr>
          <p:cNvSpPr txBox="1"/>
          <p:nvPr/>
        </p:nvSpPr>
        <p:spPr>
          <a:xfrm>
            <a:off x="3086100" y="2667000"/>
            <a:ext cx="14986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The website reads generated project and portfolio data rather than manual static values.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52FE55D-C445-CEFE-660B-56829CB99199}"/>
              </a:ext>
            </a:extLst>
          </p:cNvPr>
          <p:cNvSpPr/>
          <p:nvPr/>
        </p:nvSpPr>
        <p:spPr>
          <a:xfrm>
            <a:off x="5067300" y="2032000"/>
            <a:ext cx="1905000" cy="2159000"/>
          </a:xfrm>
          <a:prstGeom prst="roundRect">
            <a:avLst/>
          </a:prstGeom>
          <a:solidFill>
            <a:srgbClr val="082748"/>
          </a:solidFill>
          <a:ln>
            <a:solidFill>
              <a:srgbClr val="63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1EBD830-E431-085B-F46D-506C9149A886}"/>
              </a:ext>
            </a:extLst>
          </p:cNvPr>
          <p:cNvSpPr/>
          <p:nvPr/>
        </p:nvSpPr>
        <p:spPr>
          <a:xfrm>
            <a:off x="5219700" y="2184400"/>
            <a:ext cx="355600" cy="355600"/>
          </a:xfrm>
          <a:prstGeom prst="ellipse">
            <a:avLst/>
          </a:prstGeom>
          <a:solidFill>
            <a:srgbClr val="63A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B80225-B651-3CF7-CDE2-90C5C1FCD809}"/>
              </a:ext>
            </a:extLst>
          </p:cNvPr>
          <p:cNvSpPr txBox="1"/>
          <p:nvPr/>
        </p:nvSpPr>
        <p:spPr>
          <a:xfrm>
            <a:off x="5219700" y="2247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05182D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AC3F11-3095-245B-6EDA-3146151A3F3A}"/>
              </a:ext>
            </a:extLst>
          </p:cNvPr>
          <p:cNvSpPr txBox="1"/>
          <p:nvPr/>
        </p:nvSpPr>
        <p:spPr>
          <a:xfrm>
            <a:off x="5702300" y="2209800"/>
            <a:ext cx="154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Decision intelligence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832CDF-D46C-7D4C-6FD7-789D8709D3A6}"/>
              </a:ext>
            </a:extLst>
          </p:cNvPr>
          <p:cNvSpPr txBox="1"/>
          <p:nvPr/>
        </p:nvSpPr>
        <p:spPr>
          <a:xfrm>
            <a:off x="5270500" y="2667000"/>
            <a:ext cx="14986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Warnings, decisions, confidence, scenarios and advisor answers are derived from data.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89B2BAB-D1DE-B19C-07A0-B9DD0459C061}"/>
              </a:ext>
            </a:extLst>
          </p:cNvPr>
          <p:cNvSpPr/>
          <p:nvPr/>
        </p:nvSpPr>
        <p:spPr>
          <a:xfrm>
            <a:off x="7251700" y="2032000"/>
            <a:ext cx="1905000" cy="2159000"/>
          </a:xfrm>
          <a:prstGeom prst="roundRect">
            <a:avLst/>
          </a:prstGeom>
          <a:solidFill>
            <a:srgbClr val="082748"/>
          </a:solidFill>
          <a:ln>
            <a:solidFill>
              <a:srgbClr val="4ADE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F4561C5-5BB7-BFB7-65F4-82FAB48062DC}"/>
              </a:ext>
            </a:extLst>
          </p:cNvPr>
          <p:cNvSpPr/>
          <p:nvPr/>
        </p:nvSpPr>
        <p:spPr>
          <a:xfrm>
            <a:off x="7404100" y="2184400"/>
            <a:ext cx="355600" cy="355600"/>
          </a:xfrm>
          <a:prstGeom prst="ellipse">
            <a:avLst/>
          </a:prstGeom>
          <a:solidFill>
            <a:srgbClr val="4ADE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941595-0271-392F-428A-4B293BD4685D}"/>
              </a:ext>
            </a:extLst>
          </p:cNvPr>
          <p:cNvSpPr txBox="1"/>
          <p:nvPr/>
        </p:nvSpPr>
        <p:spPr>
          <a:xfrm>
            <a:off x="7404100" y="2247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05182D"/>
                </a:solidFill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A5D897-4029-C43E-F2D7-5EAFD45F7501}"/>
              </a:ext>
            </a:extLst>
          </p:cNvPr>
          <p:cNvSpPr txBox="1"/>
          <p:nvPr/>
        </p:nvSpPr>
        <p:spPr>
          <a:xfrm>
            <a:off x="7886700" y="2209800"/>
            <a:ext cx="154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Project workspace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B9ED31-9BFA-BD7C-84F9-E2F547EA1894}"/>
              </a:ext>
            </a:extLst>
          </p:cNvPr>
          <p:cNvSpPr txBox="1"/>
          <p:nvPr/>
        </p:nvSpPr>
        <p:spPr>
          <a:xfrm>
            <a:off x="7454900" y="2667000"/>
            <a:ext cx="1498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Each project opens in the same page with all controls tabs.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BD1BAEB-8A99-4407-2F68-A8F1ED010FFE}"/>
              </a:ext>
            </a:extLst>
          </p:cNvPr>
          <p:cNvSpPr/>
          <p:nvPr/>
        </p:nvSpPr>
        <p:spPr>
          <a:xfrm>
            <a:off x="9436100" y="2032000"/>
            <a:ext cx="1905000" cy="2159000"/>
          </a:xfrm>
          <a:prstGeom prst="roundRect">
            <a:avLst/>
          </a:prstGeom>
          <a:solidFill>
            <a:srgbClr val="082748"/>
          </a:solidFill>
          <a:ln>
            <a:solidFill>
              <a:srgbClr val="F05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085FD9F-8EC0-14C7-34D1-6F27E6922982}"/>
              </a:ext>
            </a:extLst>
          </p:cNvPr>
          <p:cNvSpPr/>
          <p:nvPr/>
        </p:nvSpPr>
        <p:spPr>
          <a:xfrm>
            <a:off x="9588500" y="2184400"/>
            <a:ext cx="355600" cy="355600"/>
          </a:xfrm>
          <a:prstGeom prst="ellipse">
            <a:avLst/>
          </a:prstGeom>
          <a:solidFill>
            <a:srgbClr val="F0526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3D5F8B-A938-F818-5AC6-17DFFAA3061F}"/>
              </a:ext>
            </a:extLst>
          </p:cNvPr>
          <p:cNvSpPr txBox="1"/>
          <p:nvPr/>
        </p:nvSpPr>
        <p:spPr>
          <a:xfrm>
            <a:off x="9588500" y="2247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05182D"/>
                </a:solidFill>
                <a:latin typeface="Aptos Display" panose="020B0004020202020204" pitchFamily="34" charset="0"/>
              </a:rPr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768B70-C829-F435-326B-9D9B2F2A9551}"/>
              </a:ext>
            </a:extLst>
          </p:cNvPr>
          <p:cNvSpPr txBox="1"/>
          <p:nvPr/>
        </p:nvSpPr>
        <p:spPr>
          <a:xfrm>
            <a:off x="10071100" y="2209800"/>
            <a:ext cx="154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Board control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D415C6-7F00-BDEC-370A-30B6989783E3}"/>
              </a:ext>
            </a:extLst>
          </p:cNvPr>
          <p:cNvSpPr txBox="1"/>
          <p:nvPr/>
        </p:nvSpPr>
        <p:spPr>
          <a:xfrm>
            <a:off x="9639300" y="2667000"/>
            <a:ext cx="14986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Management sees portfolio exposure first, then moves to the project deep dive.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9B6FC3-0281-0797-E4FC-E057E102DBD6}"/>
              </a:ext>
            </a:extLst>
          </p:cNvPr>
          <p:cNvSpPr txBox="1"/>
          <p:nvPr/>
        </p:nvSpPr>
        <p:spPr>
          <a:xfrm>
            <a:off x="1143000" y="5334000"/>
            <a:ext cx="9906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200" b="1">
                <a:solidFill>
                  <a:srgbClr val="05182D"/>
                </a:solidFill>
                <a:latin typeface="Aptos Display" panose="020B0004020202020204" pitchFamily="34" charset="0"/>
              </a:rPr>
              <a:t>Data -&gt; Intelligence -&gt; Decision -&gt; Action -&gt; Evidence Closure</a:t>
            </a:r>
          </a:p>
        </p:txBody>
      </p:sp>
    </p:spTree>
    <p:extLst>
      <p:ext uri="{BB962C8B-B14F-4D97-AF65-F5344CB8AC3E}">
        <p14:creationId xmlns:p14="http://schemas.microsoft.com/office/powerpoint/2010/main" val="306350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9F1376C-EC9E-2B35-007C-3478C596F63C}"/>
              </a:ext>
            </a:extLst>
          </p:cNvPr>
          <p:cNvSpPr/>
          <p:nvPr/>
        </p:nvSpPr>
        <p:spPr>
          <a:xfrm>
            <a:off x="8890000" y="-1016000"/>
            <a:ext cx="4191000" cy="4191000"/>
          </a:xfrm>
          <a:prstGeom prst="ellipse">
            <a:avLst/>
          </a:prstGeom>
          <a:solidFill>
            <a:srgbClr val="39D7D2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2E4A35-5B55-EFCB-73BF-4FD4A014FFEE}"/>
              </a:ext>
            </a:extLst>
          </p:cNvPr>
          <p:cNvSpPr/>
          <p:nvPr/>
        </p:nvSpPr>
        <p:spPr>
          <a:xfrm>
            <a:off x="-1016000" y="4889500"/>
            <a:ext cx="3556000" cy="3556000"/>
          </a:xfrm>
          <a:prstGeom prst="ellipse">
            <a:avLst/>
          </a:prstGeom>
          <a:solidFill>
            <a:srgbClr val="D6A23A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BD5F0E-7FB0-15E0-52C3-302226A9E0A3}"/>
              </a:ext>
            </a:extLst>
          </p:cNvPr>
          <p:cNvSpPr txBox="1"/>
          <p:nvPr/>
        </p:nvSpPr>
        <p:spPr>
          <a:xfrm>
            <a:off x="508000" y="381000"/>
            <a:ext cx="9398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5182D"/>
                </a:solidFill>
                <a:latin typeface="Aptos Display" panose="020B0004020202020204" pitchFamily="34" charset="0"/>
              </a:rPr>
              <a:t>What Was Newly Implemented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6C124B-90C6-4D29-88B6-D1293932ED8A}"/>
              </a:ext>
            </a:extLst>
          </p:cNvPr>
          <p:cNvSpPr txBox="1"/>
          <p:nvPr/>
        </p:nvSpPr>
        <p:spPr>
          <a:xfrm>
            <a:off x="533400" y="1016000"/>
            <a:ext cx="914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082748"/>
                </a:solidFill>
                <a:latin typeface="Aptos Display" panose="020B0004020202020204" pitchFamily="34" charset="0"/>
              </a:rPr>
              <a:t>Executive intelligence, AI-assisted search, submitted TIA logic and mobile-safe operation.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009E85-276F-A643-C259-248D0492573C}"/>
              </a:ext>
            </a:extLst>
          </p:cNvPr>
          <p:cNvSpPr txBox="1"/>
          <p:nvPr/>
        </p:nvSpPr>
        <p:spPr>
          <a:xfrm>
            <a:off x="508000" y="64516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Designed &amp; Created | Engr. Ahmed Labib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8623D-6193-B36C-BE93-42EBA5AE47DC}"/>
              </a:ext>
            </a:extLst>
          </p:cNvPr>
          <p:cNvSpPr txBox="1"/>
          <p:nvPr/>
        </p:nvSpPr>
        <p:spPr>
          <a:xfrm>
            <a:off x="8890000" y="6451600"/>
            <a:ext cx="2794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SAMCO Project Intelligence Hub | Board Control Plan | 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EB224C-89FB-CD76-615B-4D6A0C0EA8C3}"/>
              </a:ext>
            </a:extLst>
          </p:cNvPr>
          <p:cNvSpPr/>
          <p:nvPr/>
        </p:nvSpPr>
        <p:spPr>
          <a:xfrm>
            <a:off x="698500" y="1676400"/>
            <a:ext cx="3175000" cy="15240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3383B9-898C-038F-6770-4C3393F199AC}"/>
              </a:ext>
            </a:extLst>
          </p:cNvPr>
          <p:cNvSpPr txBox="1"/>
          <p:nvPr/>
        </p:nvSpPr>
        <p:spPr>
          <a:xfrm>
            <a:off x="901700" y="1854200"/>
            <a:ext cx="281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Decision Making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978DCA-130E-2FE3-F2C2-AD18D7647D23}"/>
              </a:ext>
            </a:extLst>
          </p:cNvPr>
          <p:cNvSpPr txBox="1"/>
          <p:nvPr/>
        </p:nvSpPr>
        <p:spPr>
          <a:xfrm>
            <a:off x="901700" y="2311400"/>
            <a:ext cx="2768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Portfolio command, decision brief, predictive warnings, scenario planner, action tracker.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C9B554F-E9AF-449E-37B5-8C2E78ACFB4A}"/>
              </a:ext>
            </a:extLst>
          </p:cNvPr>
          <p:cNvSpPr/>
          <p:nvPr/>
        </p:nvSpPr>
        <p:spPr>
          <a:xfrm>
            <a:off x="4318000" y="1676400"/>
            <a:ext cx="3175000" cy="1524000"/>
          </a:xfrm>
          <a:prstGeom prst="roundRect">
            <a:avLst/>
          </a:prstGeom>
          <a:solidFill>
            <a:srgbClr val="082748"/>
          </a:solidFill>
          <a:ln>
            <a:solidFill>
              <a:srgbClr val="D6A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57D611-8C8A-0DEF-4BCA-09B861CF735F}"/>
              </a:ext>
            </a:extLst>
          </p:cNvPr>
          <p:cNvSpPr txBox="1"/>
          <p:nvPr/>
        </p:nvSpPr>
        <p:spPr>
          <a:xfrm>
            <a:off x="4521200" y="1854200"/>
            <a:ext cx="281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AI and knowledge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AC1D40-18A8-EEA9-0409-44948E7D76A8}"/>
              </a:ext>
            </a:extLst>
          </p:cNvPr>
          <p:cNvSpPr txBox="1"/>
          <p:nvPr/>
        </p:nvSpPr>
        <p:spPr>
          <a:xfrm>
            <a:off x="4521200" y="2311400"/>
            <a:ext cx="2768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Unified intelligence search plus Technical Knowledge Advisor using question bank and project data.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EA1B058-F70A-1F03-3E27-0190D5BD4FEA}"/>
              </a:ext>
            </a:extLst>
          </p:cNvPr>
          <p:cNvSpPr/>
          <p:nvPr/>
        </p:nvSpPr>
        <p:spPr>
          <a:xfrm>
            <a:off x="7937500" y="1676400"/>
            <a:ext cx="3175000" cy="1524000"/>
          </a:xfrm>
          <a:prstGeom prst="roundRect">
            <a:avLst/>
          </a:prstGeom>
          <a:solidFill>
            <a:srgbClr val="082748"/>
          </a:solidFill>
          <a:ln>
            <a:solidFill>
              <a:srgbClr val="63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E4540-FFC3-AFF1-D482-2A932041CBB8}"/>
              </a:ext>
            </a:extLst>
          </p:cNvPr>
          <p:cNvSpPr txBox="1"/>
          <p:nvPr/>
        </p:nvSpPr>
        <p:spPr>
          <a:xfrm>
            <a:off x="8140700" y="1854200"/>
            <a:ext cx="281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Delay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F08640-9DD2-AB2D-6715-E50A8F277F2B}"/>
              </a:ext>
            </a:extLst>
          </p:cNvPr>
          <p:cNvSpPr txBox="1"/>
          <p:nvPr/>
        </p:nvSpPr>
        <p:spPr>
          <a:xfrm>
            <a:off x="8140700" y="2311400"/>
            <a:ext cx="2768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Submitted TIA guide logic: Level 1-4 gates, event results, fragnet comparison, reconciliation.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6960183-D355-AA86-B1F2-961801CA8E0F}"/>
              </a:ext>
            </a:extLst>
          </p:cNvPr>
          <p:cNvSpPr/>
          <p:nvPr/>
        </p:nvSpPr>
        <p:spPr>
          <a:xfrm>
            <a:off x="698500" y="3708400"/>
            <a:ext cx="3175000" cy="1524000"/>
          </a:xfrm>
          <a:prstGeom prst="roundRect">
            <a:avLst/>
          </a:prstGeom>
          <a:solidFill>
            <a:srgbClr val="082748"/>
          </a:solidFill>
          <a:ln>
            <a:solidFill>
              <a:srgbClr val="4ADE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4CD3E3-43D0-5F26-4AD6-014D1AE00985}"/>
              </a:ext>
            </a:extLst>
          </p:cNvPr>
          <p:cNvSpPr txBox="1"/>
          <p:nvPr/>
        </p:nvSpPr>
        <p:spPr>
          <a:xfrm>
            <a:off x="901700" y="3886200"/>
            <a:ext cx="281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Project workspace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BD7C6E-C411-C65B-8B54-A207A48B8534}"/>
              </a:ext>
            </a:extLst>
          </p:cNvPr>
          <p:cNvSpPr txBox="1"/>
          <p:nvPr/>
        </p:nvSpPr>
        <p:spPr>
          <a:xfrm>
            <a:off x="901700" y="4343400"/>
            <a:ext cx="27686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Same-page tabs: overview, WBS, activities, milestones, S-curve, EVM, contracts, risks, letters, Delay/TIA, claims, outputs.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AD6C4CB-D486-0C50-70E7-EB7A8F0F2096}"/>
              </a:ext>
            </a:extLst>
          </p:cNvPr>
          <p:cNvSpPr/>
          <p:nvPr/>
        </p:nvSpPr>
        <p:spPr>
          <a:xfrm>
            <a:off x="4318000" y="3708400"/>
            <a:ext cx="3175000" cy="1524000"/>
          </a:xfrm>
          <a:prstGeom prst="roundRect">
            <a:avLst/>
          </a:prstGeom>
          <a:solidFill>
            <a:srgbClr val="082748"/>
          </a:solidFill>
          <a:ln>
            <a:solidFill>
              <a:srgbClr val="F05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19FE7A-A660-84BF-4069-78E103C29E40}"/>
              </a:ext>
            </a:extLst>
          </p:cNvPr>
          <p:cNvSpPr txBox="1"/>
          <p:nvPr/>
        </p:nvSpPr>
        <p:spPr>
          <a:xfrm>
            <a:off x="4521200" y="3886200"/>
            <a:ext cx="281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Outputs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27286D-B2A7-1583-0DA1-C1D748C9677F}"/>
              </a:ext>
            </a:extLst>
          </p:cNvPr>
          <p:cNvSpPr txBox="1"/>
          <p:nvPr/>
        </p:nvSpPr>
        <p:spPr>
          <a:xfrm>
            <a:off x="4521200" y="4343400"/>
            <a:ext cx="2768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Automatic project HTML outputs and responsive tab pages for mobile and desktop.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8E3F96B-2ACD-7975-E71C-D7B296D271EE}"/>
              </a:ext>
            </a:extLst>
          </p:cNvPr>
          <p:cNvSpPr/>
          <p:nvPr/>
        </p:nvSpPr>
        <p:spPr>
          <a:xfrm>
            <a:off x="7937500" y="3708400"/>
            <a:ext cx="3175000" cy="15240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589D0E-A337-BBFF-675F-1724D657D72D}"/>
              </a:ext>
            </a:extLst>
          </p:cNvPr>
          <p:cNvSpPr txBox="1"/>
          <p:nvPr/>
        </p:nvSpPr>
        <p:spPr>
          <a:xfrm>
            <a:off x="8140700" y="3886200"/>
            <a:ext cx="281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Trust controls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D18440-6B86-A684-1842-81C3BD03A51D}"/>
              </a:ext>
            </a:extLst>
          </p:cNvPr>
          <p:cNvSpPr txBox="1"/>
          <p:nvPr/>
        </p:nvSpPr>
        <p:spPr>
          <a:xfrm>
            <a:off x="8140700" y="4343400"/>
            <a:ext cx="2768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Project isolation, confidence badges, data-quality indicators, missing evidence warnings.</a:t>
            </a:r>
          </a:p>
        </p:txBody>
      </p:sp>
    </p:spTree>
    <p:extLst>
      <p:ext uri="{BB962C8B-B14F-4D97-AF65-F5344CB8AC3E}">
        <p14:creationId xmlns:p14="http://schemas.microsoft.com/office/powerpoint/2010/main" val="3714524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C2D61C9-3459-AFA7-35C7-E14A2F665724}"/>
              </a:ext>
            </a:extLst>
          </p:cNvPr>
          <p:cNvSpPr/>
          <p:nvPr/>
        </p:nvSpPr>
        <p:spPr>
          <a:xfrm>
            <a:off x="8890000" y="-1016000"/>
            <a:ext cx="4191000" cy="4191000"/>
          </a:xfrm>
          <a:prstGeom prst="ellipse">
            <a:avLst/>
          </a:prstGeom>
          <a:solidFill>
            <a:srgbClr val="39D7D2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6A62762-BD86-C941-20B2-F8C82C0FFC90}"/>
              </a:ext>
            </a:extLst>
          </p:cNvPr>
          <p:cNvSpPr/>
          <p:nvPr/>
        </p:nvSpPr>
        <p:spPr>
          <a:xfrm>
            <a:off x="-1016000" y="4889500"/>
            <a:ext cx="3556000" cy="3556000"/>
          </a:xfrm>
          <a:prstGeom prst="ellipse">
            <a:avLst/>
          </a:prstGeom>
          <a:solidFill>
            <a:srgbClr val="D6A23A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F1619E-E58C-BFBD-5341-6786936E51C2}"/>
              </a:ext>
            </a:extLst>
          </p:cNvPr>
          <p:cNvSpPr txBox="1"/>
          <p:nvPr/>
        </p:nvSpPr>
        <p:spPr>
          <a:xfrm>
            <a:off x="508000" y="381000"/>
            <a:ext cx="9398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5182D"/>
                </a:solidFill>
                <a:latin typeface="Aptos Display" panose="020B0004020202020204" pitchFamily="34" charset="0"/>
              </a:rPr>
              <a:t>The Most Powerful Capabilities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BDAEC5-C357-6D86-253D-8C906D5C3BFA}"/>
              </a:ext>
            </a:extLst>
          </p:cNvPr>
          <p:cNvSpPr txBox="1"/>
          <p:nvPr/>
        </p:nvSpPr>
        <p:spPr>
          <a:xfrm>
            <a:off x="533400" y="1016000"/>
            <a:ext cx="914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082748"/>
                </a:solidFill>
                <a:latin typeface="Aptos Display" panose="020B0004020202020204" pitchFamily="34" charset="0"/>
              </a:rPr>
              <a:t>The strongest value is the connection between project evidence and executive decisions.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979AD-7AE6-E76A-E5E4-64A93334FDE7}"/>
              </a:ext>
            </a:extLst>
          </p:cNvPr>
          <p:cNvSpPr txBox="1"/>
          <p:nvPr/>
        </p:nvSpPr>
        <p:spPr>
          <a:xfrm>
            <a:off x="508000" y="64516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Designed &amp; Created | Engr. Ahmed Labib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6D419F-22E4-8877-BC7F-C2D7AA8FE890}"/>
              </a:ext>
            </a:extLst>
          </p:cNvPr>
          <p:cNvSpPr txBox="1"/>
          <p:nvPr/>
        </p:nvSpPr>
        <p:spPr>
          <a:xfrm>
            <a:off x="8890000" y="6451600"/>
            <a:ext cx="2794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SAMCO Project Intelligence Hub | Board Control Plan | 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1FFBAE-6E82-C9B3-E33A-61992787A7C1}"/>
              </a:ext>
            </a:extLst>
          </p:cNvPr>
          <p:cNvSpPr/>
          <p:nvPr/>
        </p:nvSpPr>
        <p:spPr>
          <a:xfrm>
            <a:off x="889000" y="1587500"/>
            <a:ext cx="5461000" cy="5588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403578-F50D-D8E6-A3C0-004D2D5E94CE}"/>
              </a:ext>
            </a:extLst>
          </p:cNvPr>
          <p:cNvSpPr txBox="1"/>
          <p:nvPr/>
        </p:nvSpPr>
        <p:spPr>
          <a:xfrm>
            <a:off x="1092200" y="1765300"/>
            <a:ext cx="5105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1.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5BDF99B-4B95-DC54-B3DD-1F296E83C4D2}"/>
              </a:ext>
            </a:extLst>
          </p:cNvPr>
          <p:cNvSpPr/>
          <p:nvPr/>
        </p:nvSpPr>
        <p:spPr>
          <a:xfrm>
            <a:off x="889000" y="2324100"/>
            <a:ext cx="5461000" cy="5588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CEB9C4-F35E-8529-C4A9-855BF3FE27EC}"/>
              </a:ext>
            </a:extLst>
          </p:cNvPr>
          <p:cNvSpPr txBox="1"/>
          <p:nvPr/>
        </p:nvSpPr>
        <p:spPr>
          <a:xfrm>
            <a:off x="1092200" y="2501900"/>
            <a:ext cx="5105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2.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533EEFA-8F0C-993A-A0A7-52E3EA2CB13F}"/>
              </a:ext>
            </a:extLst>
          </p:cNvPr>
          <p:cNvSpPr/>
          <p:nvPr/>
        </p:nvSpPr>
        <p:spPr>
          <a:xfrm>
            <a:off x="889000" y="3060700"/>
            <a:ext cx="5461000" cy="5588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0CEF82-B7B1-A12C-80EF-C1C6B5F5391D}"/>
              </a:ext>
            </a:extLst>
          </p:cNvPr>
          <p:cNvSpPr txBox="1"/>
          <p:nvPr/>
        </p:nvSpPr>
        <p:spPr>
          <a:xfrm>
            <a:off x="1092200" y="3238500"/>
            <a:ext cx="5105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3.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8D6F31-122C-E071-AE1C-CF315C0ABD83}"/>
              </a:ext>
            </a:extLst>
          </p:cNvPr>
          <p:cNvSpPr/>
          <p:nvPr/>
        </p:nvSpPr>
        <p:spPr>
          <a:xfrm>
            <a:off x="889000" y="3797300"/>
            <a:ext cx="5461000" cy="5588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53425F-6E02-EE02-7C52-01F9ACB15CCF}"/>
              </a:ext>
            </a:extLst>
          </p:cNvPr>
          <p:cNvSpPr txBox="1"/>
          <p:nvPr/>
        </p:nvSpPr>
        <p:spPr>
          <a:xfrm>
            <a:off x="1092200" y="3975100"/>
            <a:ext cx="5105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4.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3AED7E0-EC12-8A85-4F44-DF65DCE8005F}"/>
              </a:ext>
            </a:extLst>
          </p:cNvPr>
          <p:cNvSpPr/>
          <p:nvPr/>
        </p:nvSpPr>
        <p:spPr>
          <a:xfrm>
            <a:off x="889000" y="4533900"/>
            <a:ext cx="5461000" cy="5588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D3728-DC07-1289-98C8-FB86932CDC1B}"/>
              </a:ext>
            </a:extLst>
          </p:cNvPr>
          <p:cNvSpPr txBox="1"/>
          <p:nvPr/>
        </p:nvSpPr>
        <p:spPr>
          <a:xfrm>
            <a:off x="1092200" y="4711700"/>
            <a:ext cx="5105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5.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286B3D-0786-B618-3AC4-7FDBDFECAE3D}"/>
              </a:ext>
            </a:extLst>
          </p:cNvPr>
          <p:cNvSpPr/>
          <p:nvPr/>
        </p:nvSpPr>
        <p:spPr>
          <a:xfrm>
            <a:off x="7112000" y="1905000"/>
            <a:ext cx="4191000" cy="2667000"/>
          </a:xfrm>
          <a:prstGeom prst="roundRect">
            <a:avLst/>
          </a:prstGeom>
          <a:solidFill>
            <a:srgbClr val="082748"/>
          </a:solidFill>
          <a:ln>
            <a:solidFill>
              <a:srgbClr val="D6A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D91090-9B6D-8FAC-2BF0-C85DFE738C8C}"/>
              </a:ext>
            </a:extLst>
          </p:cNvPr>
          <p:cNvSpPr txBox="1"/>
          <p:nvPr/>
        </p:nvSpPr>
        <p:spPr>
          <a:xfrm>
            <a:off x="7315200" y="2082800"/>
            <a:ext cx="3835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Power feature summary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48D7F2-7B39-84BC-0BAC-9EB3B89C5557}"/>
              </a:ext>
            </a:extLst>
          </p:cNvPr>
          <p:cNvSpPr txBox="1"/>
          <p:nvPr/>
        </p:nvSpPr>
        <p:spPr>
          <a:xfrm>
            <a:off x="7315200" y="2540000"/>
            <a:ext cx="37846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The platform can turn SAMCO from reactive reporting into controlled project command: source-backed facts, technical reasoning, contractual position, delay analysis and management actions in the same environment.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5D38D66-CE03-128F-8DFD-E85E571CEF72}"/>
              </a:ext>
            </a:extLst>
          </p:cNvPr>
          <p:cNvSpPr/>
          <p:nvPr/>
        </p:nvSpPr>
        <p:spPr>
          <a:xfrm>
            <a:off x="7112000" y="4953000"/>
            <a:ext cx="1168400" cy="812800"/>
          </a:xfrm>
          <a:prstGeom prst="roundRect">
            <a:avLst/>
          </a:prstGeom>
          <a:solidFill>
            <a:srgbClr val="093056"/>
          </a:solidFill>
          <a:ln>
            <a:solidFill>
              <a:srgbClr val="F05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61F23F-8869-BBAE-8C8A-B21071F552F7}"/>
              </a:ext>
            </a:extLst>
          </p:cNvPr>
          <p:cNvSpPr txBox="1"/>
          <p:nvPr/>
        </p:nvSpPr>
        <p:spPr>
          <a:xfrm>
            <a:off x="7239000" y="5054600"/>
            <a:ext cx="9144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 b="1">
                <a:solidFill>
                  <a:srgbClr val="A5BED2"/>
                </a:solidFill>
                <a:latin typeface="Aptos Display" panose="020B0004020202020204" pitchFamily="34" charset="0"/>
              </a:rPr>
              <a:t>SPI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3C3D-3F16-0B25-C696-BE962B9C9381}"/>
              </a:ext>
            </a:extLst>
          </p:cNvPr>
          <p:cNvSpPr txBox="1"/>
          <p:nvPr/>
        </p:nvSpPr>
        <p:spPr>
          <a:xfrm>
            <a:off x="7239000" y="5321300"/>
            <a:ext cx="91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F8FCFF"/>
                </a:solidFill>
                <a:latin typeface="Aptos Display" panose="020B0004020202020204" pitchFamily="34" charset="0"/>
              </a:rPr>
              <a:t>0.75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19B0192-3DE6-9B8E-475D-D22621E8BE29}"/>
              </a:ext>
            </a:extLst>
          </p:cNvPr>
          <p:cNvSpPr/>
          <p:nvPr/>
        </p:nvSpPr>
        <p:spPr>
          <a:xfrm>
            <a:off x="8559800" y="4953000"/>
            <a:ext cx="1168400" cy="812800"/>
          </a:xfrm>
          <a:prstGeom prst="roundRect">
            <a:avLst/>
          </a:prstGeom>
          <a:solidFill>
            <a:srgbClr val="093056"/>
          </a:solidFill>
          <a:ln>
            <a:solidFill>
              <a:srgbClr val="D6A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961BAD-B235-E17B-7252-43D47EF01DDD}"/>
              </a:ext>
            </a:extLst>
          </p:cNvPr>
          <p:cNvSpPr txBox="1"/>
          <p:nvPr/>
        </p:nvSpPr>
        <p:spPr>
          <a:xfrm>
            <a:off x="8686800" y="5054600"/>
            <a:ext cx="9144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 b="1">
                <a:solidFill>
                  <a:srgbClr val="A5BED2"/>
                </a:solidFill>
                <a:latin typeface="Aptos Display" panose="020B0004020202020204" pitchFamily="34" charset="0"/>
              </a:rPr>
              <a:t>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4BAA70-E8EC-945C-48A3-C3798CA88023}"/>
              </a:ext>
            </a:extLst>
          </p:cNvPr>
          <p:cNvSpPr txBox="1"/>
          <p:nvPr/>
        </p:nvSpPr>
        <p:spPr>
          <a:xfrm>
            <a:off x="8686800" y="5321300"/>
            <a:ext cx="91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F8FCFF"/>
                </a:solidFill>
                <a:latin typeface="Aptos Display" panose="020B0004020202020204" pitchFamily="34" charset="0"/>
              </a:rPr>
              <a:t>71.4%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6249D2D-C1B5-357B-3DDA-3C8783C2DB27}"/>
              </a:ext>
            </a:extLst>
          </p:cNvPr>
          <p:cNvSpPr/>
          <p:nvPr/>
        </p:nvSpPr>
        <p:spPr>
          <a:xfrm>
            <a:off x="10007600" y="4953000"/>
            <a:ext cx="1168400" cy="812800"/>
          </a:xfrm>
          <a:prstGeom prst="roundRect">
            <a:avLst/>
          </a:prstGeom>
          <a:solidFill>
            <a:srgbClr val="093056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985F17-DD3B-28E7-C980-D03EBEFC7316}"/>
              </a:ext>
            </a:extLst>
          </p:cNvPr>
          <p:cNvSpPr txBox="1"/>
          <p:nvPr/>
        </p:nvSpPr>
        <p:spPr>
          <a:xfrm>
            <a:off x="10134600" y="5054600"/>
            <a:ext cx="9144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 b="1">
                <a:solidFill>
                  <a:srgbClr val="A5BED2"/>
                </a:solidFill>
                <a:latin typeface="Aptos Display" panose="020B0004020202020204" pitchFamily="34" charset="0"/>
              </a:rPr>
              <a:t>Decisions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092D4E-6650-ED63-5C8F-DAC50C06B1C5}"/>
              </a:ext>
            </a:extLst>
          </p:cNvPr>
          <p:cNvSpPr txBox="1"/>
          <p:nvPr/>
        </p:nvSpPr>
        <p:spPr>
          <a:xfrm>
            <a:off x="10134600" y="5321300"/>
            <a:ext cx="914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F8FCFF"/>
                </a:solidFill>
                <a:latin typeface="Aptos Display" panose="020B00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79388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F08F4A3-6EFE-64E0-0FD3-11938FC67E39}"/>
              </a:ext>
            </a:extLst>
          </p:cNvPr>
          <p:cNvSpPr/>
          <p:nvPr/>
        </p:nvSpPr>
        <p:spPr>
          <a:xfrm>
            <a:off x="8890000" y="-1016000"/>
            <a:ext cx="4191000" cy="4191000"/>
          </a:xfrm>
          <a:prstGeom prst="ellipse">
            <a:avLst/>
          </a:prstGeom>
          <a:solidFill>
            <a:srgbClr val="39D7D2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8C819F1-04F2-60E3-F521-B8318F65C72B}"/>
              </a:ext>
            </a:extLst>
          </p:cNvPr>
          <p:cNvSpPr/>
          <p:nvPr/>
        </p:nvSpPr>
        <p:spPr>
          <a:xfrm>
            <a:off x="-1016000" y="4889500"/>
            <a:ext cx="3556000" cy="3556000"/>
          </a:xfrm>
          <a:prstGeom prst="ellipse">
            <a:avLst/>
          </a:prstGeom>
          <a:solidFill>
            <a:srgbClr val="D6A23A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6A4EC0-5401-DE23-7D8A-47A5350A1AFC}"/>
              </a:ext>
            </a:extLst>
          </p:cNvPr>
          <p:cNvSpPr txBox="1"/>
          <p:nvPr/>
        </p:nvSpPr>
        <p:spPr>
          <a:xfrm>
            <a:off x="508000" y="381000"/>
            <a:ext cx="9398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5182D"/>
                </a:solidFill>
                <a:latin typeface="Aptos Display" panose="020B0004020202020204" pitchFamily="34" charset="0"/>
              </a:rPr>
              <a:t>The Weakest Point Is Data Governance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215C5-FC34-FFE0-A106-7E1B41074B80}"/>
              </a:ext>
            </a:extLst>
          </p:cNvPr>
          <p:cNvSpPr txBox="1"/>
          <p:nvPr/>
        </p:nvSpPr>
        <p:spPr>
          <a:xfrm>
            <a:off x="533400" y="1016000"/>
            <a:ext cx="914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082748"/>
                </a:solidFill>
                <a:latin typeface="Aptos Display" panose="020B0004020202020204" pitchFamily="34" charset="0"/>
              </a:rPr>
              <a:t>The app is powerful, but decisions depend on disciplined project data ownership.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CC4E99-28EE-0EB5-8E17-626F815D2CBF}"/>
              </a:ext>
            </a:extLst>
          </p:cNvPr>
          <p:cNvSpPr txBox="1"/>
          <p:nvPr/>
        </p:nvSpPr>
        <p:spPr>
          <a:xfrm>
            <a:off x="508000" y="64516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Designed &amp; Created | Engr. Ahmed Labib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F8BB72-AEE9-1A7A-937C-BDF6631D8736}"/>
              </a:ext>
            </a:extLst>
          </p:cNvPr>
          <p:cNvSpPr txBox="1"/>
          <p:nvPr/>
        </p:nvSpPr>
        <p:spPr>
          <a:xfrm>
            <a:off x="8890000" y="6451600"/>
            <a:ext cx="2794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SAMCO Project Intelligence Hub | Board Control Plan | 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6FC0C8-8DE8-7415-54C2-F8E47271BE70}"/>
              </a:ext>
            </a:extLst>
          </p:cNvPr>
          <p:cNvSpPr/>
          <p:nvPr/>
        </p:nvSpPr>
        <p:spPr>
          <a:xfrm>
            <a:off x="889000" y="1587500"/>
            <a:ext cx="10414000" cy="609600"/>
          </a:xfrm>
          <a:prstGeom prst="roundRect">
            <a:avLst/>
          </a:prstGeom>
          <a:solidFill>
            <a:srgbClr val="082748"/>
          </a:solidFill>
          <a:ln>
            <a:solidFill>
              <a:srgbClr val="F05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C56CB8-A8EA-7C9D-1BE5-62EE9CEDB137}"/>
              </a:ext>
            </a:extLst>
          </p:cNvPr>
          <p:cNvSpPr txBox="1"/>
          <p:nvPr/>
        </p:nvSpPr>
        <p:spPr>
          <a:xfrm>
            <a:off x="1092200" y="1765300"/>
            <a:ext cx="10058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Weakest point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720B968-F3E6-F9A2-63C5-4094E9145B9F}"/>
              </a:ext>
            </a:extLst>
          </p:cNvPr>
          <p:cNvSpPr/>
          <p:nvPr/>
        </p:nvSpPr>
        <p:spPr>
          <a:xfrm>
            <a:off x="889000" y="2413000"/>
            <a:ext cx="10414000" cy="609600"/>
          </a:xfrm>
          <a:prstGeom prst="roundRect">
            <a:avLst/>
          </a:prstGeom>
          <a:solidFill>
            <a:srgbClr val="082748"/>
          </a:solidFill>
          <a:ln>
            <a:solidFill>
              <a:srgbClr val="F05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F43ED9-39CA-00FC-4FC9-05F033454427}"/>
              </a:ext>
            </a:extLst>
          </p:cNvPr>
          <p:cNvSpPr txBox="1"/>
          <p:nvPr/>
        </p:nvSpPr>
        <p:spPr>
          <a:xfrm>
            <a:off x="1092200" y="2590800"/>
            <a:ext cx="10058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Main failure risk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082C03-63F1-1905-261C-49E4D2B89F99}"/>
              </a:ext>
            </a:extLst>
          </p:cNvPr>
          <p:cNvSpPr/>
          <p:nvPr/>
        </p:nvSpPr>
        <p:spPr>
          <a:xfrm>
            <a:off x="889000" y="3238500"/>
            <a:ext cx="10414000" cy="609600"/>
          </a:xfrm>
          <a:prstGeom prst="roundRect">
            <a:avLst/>
          </a:prstGeom>
          <a:solidFill>
            <a:srgbClr val="082748"/>
          </a:solidFill>
          <a:ln>
            <a:solidFill>
              <a:srgbClr val="D6A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CC7817-55AA-E1E0-4663-8225596FBAAA}"/>
              </a:ext>
            </a:extLst>
          </p:cNvPr>
          <p:cNvSpPr txBox="1"/>
          <p:nvPr/>
        </p:nvSpPr>
        <p:spPr>
          <a:xfrm>
            <a:off x="1092200" y="3416300"/>
            <a:ext cx="10058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AI limitation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362F97C-2D2D-F79E-4693-1DDEC892CC6E}"/>
              </a:ext>
            </a:extLst>
          </p:cNvPr>
          <p:cNvSpPr/>
          <p:nvPr/>
        </p:nvSpPr>
        <p:spPr>
          <a:xfrm>
            <a:off x="889000" y="4064000"/>
            <a:ext cx="10414000" cy="609600"/>
          </a:xfrm>
          <a:prstGeom prst="roundRect">
            <a:avLst/>
          </a:prstGeom>
          <a:solidFill>
            <a:srgbClr val="082748"/>
          </a:solidFill>
          <a:ln>
            <a:solidFill>
              <a:srgbClr val="D6A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0E0D13-39E6-8195-914B-E3DB0DEF1028}"/>
              </a:ext>
            </a:extLst>
          </p:cNvPr>
          <p:cNvSpPr txBox="1"/>
          <p:nvPr/>
        </p:nvSpPr>
        <p:spPr>
          <a:xfrm>
            <a:off x="1092200" y="4241800"/>
            <a:ext cx="10058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Workflow limitation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BE9182E-E0B1-6AFB-A9BA-FB29D555BA6F}"/>
              </a:ext>
            </a:extLst>
          </p:cNvPr>
          <p:cNvSpPr/>
          <p:nvPr/>
        </p:nvSpPr>
        <p:spPr>
          <a:xfrm>
            <a:off x="889000" y="4889500"/>
            <a:ext cx="10414000" cy="609600"/>
          </a:xfrm>
          <a:prstGeom prst="roundRect">
            <a:avLst/>
          </a:prstGeom>
          <a:solidFill>
            <a:srgbClr val="082748"/>
          </a:solidFill>
          <a:ln>
            <a:solidFill>
              <a:srgbClr val="D6A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251003-BA7D-9A5D-48D6-B9D4CE0CE987}"/>
              </a:ext>
            </a:extLst>
          </p:cNvPr>
          <p:cNvSpPr txBox="1"/>
          <p:nvPr/>
        </p:nvSpPr>
        <p:spPr>
          <a:xfrm>
            <a:off x="1092200" y="5067300"/>
            <a:ext cx="10058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Schedule limitation</a:t>
            </a:r>
          </a:p>
        </p:txBody>
      </p:sp>
    </p:spTree>
    <p:extLst>
      <p:ext uri="{BB962C8B-B14F-4D97-AF65-F5344CB8AC3E}">
        <p14:creationId xmlns:p14="http://schemas.microsoft.com/office/powerpoint/2010/main" val="892143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727750B-F7B1-E661-4679-2E922513ADA0}"/>
              </a:ext>
            </a:extLst>
          </p:cNvPr>
          <p:cNvSpPr/>
          <p:nvPr/>
        </p:nvSpPr>
        <p:spPr>
          <a:xfrm>
            <a:off x="8890000" y="-1016000"/>
            <a:ext cx="4191000" cy="4191000"/>
          </a:xfrm>
          <a:prstGeom prst="ellipse">
            <a:avLst/>
          </a:prstGeom>
          <a:solidFill>
            <a:srgbClr val="39D7D2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777F431-F47A-4BA5-DC6A-6D7642615A2E}"/>
              </a:ext>
            </a:extLst>
          </p:cNvPr>
          <p:cNvSpPr/>
          <p:nvPr/>
        </p:nvSpPr>
        <p:spPr>
          <a:xfrm>
            <a:off x="-1016000" y="4889500"/>
            <a:ext cx="3556000" cy="3556000"/>
          </a:xfrm>
          <a:prstGeom prst="ellipse">
            <a:avLst/>
          </a:prstGeom>
          <a:solidFill>
            <a:srgbClr val="D6A23A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F2B339-4DE8-BEF0-FED6-AF0D171B7E2D}"/>
              </a:ext>
            </a:extLst>
          </p:cNvPr>
          <p:cNvSpPr txBox="1"/>
          <p:nvPr/>
        </p:nvSpPr>
        <p:spPr>
          <a:xfrm>
            <a:off x="508000" y="381000"/>
            <a:ext cx="9398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5182D"/>
                </a:solidFill>
                <a:latin typeface="Aptos Display" panose="020B0004020202020204" pitchFamily="34" charset="0"/>
              </a:rPr>
              <a:t>Free Fixes Can Stabilize the Platform First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1C0759-07E6-7232-A10B-1DB9693616A7}"/>
              </a:ext>
            </a:extLst>
          </p:cNvPr>
          <p:cNvSpPr txBox="1"/>
          <p:nvPr/>
        </p:nvSpPr>
        <p:spPr>
          <a:xfrm>
            <a:off x="533400" y="1016000"/>
            <a:ext cx="914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082748"/>
                </a:solidFill>
                <a:latin typeface="Aptos Display" panose="020B0004020202020204" pitchFamily="34" charset="0"/>
              </a:rPr>
              <a:t>Before paying, SAMCO can improve reliability through governance, validation and disciplined templates.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182FDA-DAD5-1080-501B-B4F57FE5FB71}"/>
              </a:ext>
            </a:extLst>
          </p:cNvPr>
          <p:cNvSpPr txBox="1"/>
          <p:nvPr/>
        </p:nvSpPr>
        <p:spPr>
          <a:xfrm>
            <a:off x="508000" y="64516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Designed &amp; Created | Engr. Ahmed Labib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B20582-50CE-5C7C-E826-73E7333393BC}"/>
              </a:ext>
            </a:extLst>
          </p:cNvPr>
          <p:cNvSpPr txBox="1"/>
          <p:nvPr/>
        </p:nvSpPr>
        <p:spPr>
          <a:xfrm>
            <a:off x="8890000" y="6451600"/>
            <a:ext cx="2794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SAMCO Project Intelligence Hub | Board Control Plan | 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083656-02D1-370A-6A85-523182D4ED30}"/>
              </a:ext>
            </a:extLst>
          </p:cNvPr>
          <p:cNvSpPr/>
          <p:nvPr/>
        </p:nvSpPr>
        <p:spPr>
          <a:xfrm>
            <a:off x="889000" y="1460500"/>
            <a:ext cx="4699000" cy="889000"/>
          </a:xfrm>
          <a:prstGeom prst="roundRect">
            <a:avLst/>
          </a:prstGeom>
          <a:solidFill>
            <a:srgbClr val="082748"/>
          </a:solidFill>
          <a:ln>
            <a:solidFill>
              <a:srgbClr val="4ADE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22913-AA06-E2F3-BAC2-B7146968F4D4}"/>
              </a:ext>
            </a:extLst>
          </p:cNvPr>
          <p:cNvSpPr txBox="1"/>
          <p:nvPr/>
        </p:nvSpPr>
        <p:spPr>
          <a:xfrm>
            <a:off x="1092200" y="1638300"/>
            <a:ext cx="434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Free control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69280B-55D4-717C-780B-3EE367137194}"/>
              </a:ext>
            </a:extLst>
          </p:cNvPr>
          <p:cNvSpPr txBox="1"/>
          <p:nvPr/>
        </p:nvSpPr>
        <p:spPr>
          <a:xfrm>
            <a:off x="1092200" y="2095500"/>
            <a:ext cx="4292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Freeze standard templates and reject invalid rows before reporting.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C31ADC-7033-B3F5-ECA4-9211F7E8324C}"/>
              </a:ext>
            </a:extLst>
          </p:cNvPr>
          <p:cNvSpPr/>
          <p:nvPr/>
        </p:nvSpPr>
        <p:spPr>
          <a:xfrm>
            <a:off x="6350000" y="1460500"/>
            <a:ext cx="4699000" cy="889000"/>
          </a:xfrm>
          <a:prstGeom prst="roundRect">
            <a:avLst/>
          </a:prstGeom>
          <a:solidFill>
            <a:srgbClr val="082748"/>
          </a:solidFill>
          <a:ln>
            <a:solidFill>
              <a:srgbClr val="4ADE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E49934-74E1-C38F-6A03-5C675A458DBB}"/>
              </a:ext>
            </a:extLst>
          </p:cNvPr>
          <p:cNvSpPr txBox="1"/>
          <p:nvPr/>
        </p:nvSpPr>
        <p:spPr>
          <a:xfrm>
            <a:off x="6553200" y="1638300"/>
            <a:ext cx="434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Free control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8ED09-1E04-47C2-3B91-E4034E8CD4A0}"/>
              </a:ext>
            </a:extLst>
          </p:cNvPr>
          <p:cNvSpPr txBox="1"/>
          <p:nvPr/>
        </p:nvSpPr>
        <p:spPr>
          <a:xfrm>
            <a:off x="6553200" y="2095500"/>
            <a:ext cx="4292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Assign one data owner for each project folder and sheet.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118B4A-44E4-372B-036B-E8423482AF0C}"/>
              </a:ext>
            </a:extLst>
          </p:cNvPr>
          <p:cNvSpPr/>
          <p:nvPr/>
        </p:nvSpPr>
        <p:spPr>
          <a:xfrm>
            <a:off x="889000" y="2667000"/>
            <a:ext cx="4699000" cy="889000"/>
          </a:xfrm>
          <a:prstGeom prst="roundRect">
            <a:avLst/>
          </a:prstGeom>
          <a:solidFill>
            <a:srgbClr val="082748"/>
          </a:solidFill>
          <a:ln>
            <a:solidFill>
              <a:srgbClr val="4ADE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8CECEA-1EBE-DD24-C4B3-79F6F0C2403F}"/>
              </a:ext>
            </a:extLst>
          </p:cNvPr>
          <p:cNvSpPr txBox="1"/>
          <p:nvPr/>
        </p:nvSpPr>
        <p:spPr>
          <a:xfrm>
            <a:off x="1092200" y="2844800"/>
            <a:ext cx="434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Free control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EFCEC-DCB7-FFCA-AD34-97B3F91754A3}"/>
              </a:ext>
            </a:extLst>
          </p:cNvPr>
          <p:cNvSpPr txBox="1"/>
          <p:nvPr/>
        </p:nvSpPr>
        <p:spPr>
          <a:xfrm>
            <a:off x="1092200" y="3302000"/>
            <a:ext cx="4292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Use local SQLite for action logs before cloud database migration.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0C66874-9C1C-54E9-5E7D-AEBB5B26A263}"/>
              </a:ext>
            </a:extLst>
          </p:cNvPr>
          <p:cNvSpPr/>
          <p:nvPr/>
        </p:nvSpPr>
        <p:spPr>
          <a:xfrm>
            <a:off x="6350000" y="2667000"/>
            <a:ext cx="4699000" cy="889000"/>
          </a:xfrm>
          <a:prstGeom prst="roundRect">
            <a:avLst/>
          </a:prstGeom>
          <a:solidFill>
            <a:srgbClr val="082748"/>
          </a:solidFill>
          <a:ln>
            <a:solidFill>
              <a:srgbClr val="4ADE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B612B8-62E0-CFF9-5EC8-52289020ACC0}"/>
              </a:ext>
            </a:extLst>
          </p:cNvPr>
          <p:cNvSpPr txBox="1"/>
          <p:nvPr/>
        </p:nvSpPr>
        <p:spPr>
          <a:xfrm>
            <a:off x="6553200" y="2844800"/>
            <a:ext cx="434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Free control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8600DA-4065-431D-7AB0-E65FAE9EB5E0}"/>
              </a:ext>
            </a:extLst>
          </p:cNvPr>
          <p:cNvSpPr txBox="1"/>
          <p:nvPr/>
        </p:nvSpPr>
        <p:spPr>
          <a:xfrm>
            <a:off x="6553200" y="3302000"/>
            <a:ext cx="4292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Use GitHub branches and releases for controlled application changes.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AEFC253-8899-768B-0347-643B1823C414}"/>
              </a:ext>
            </a:extLst>
          </p:cNvPr>
          <p:cNvSpPr/>
          <p:nvPr/>
        </p:nvSpPr>
        <p:spPr>
          <a:xfrm>
            <a:off x="889000" y="3873500"/>
            <a:ext cx="4699000" cy="889000"/>
          </a:xfrm>
          <a:prstGeom prst="roundRect">
            <a:avLst/>
          </a:prstGeom>
          <a:solidFill>
            <a:srgbClr val="082748"/>
          </a:solidFill>
          <a:ln>
            <a:solidFill>
              <a:srgbClr val="4ADE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414C92-7E0F-F4B9-F8FC-19F642DF3E0B}"/>
              </a:ext>
            </a:extLst>
          </p:cNvPr>
          <p:cNvSpPr txBox="1"/>
          <p:nvPr/>
        </p:nvSpPr>
        <p:spPr>
          <a:xfrm>
            <a:off x="1092200" y="4051300"/>
            <a:ext cx="434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Free control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751763-30F4-E2CB-E4B1-6A5C442D008F}"/>
              </a:ext>
            </a:extLst>
          </p:cNvPr>
          <p:cNvSpPr txBox="1"/>
          <p:nvPr/>
        </p:nvSpPr>
        <p:spPr>
          <a:xfrm>
            <a:off x="1092200" y="4508500"/>
            <a:ext cx="4292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Use rollback snapshots and output manifests before major releases.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11EC20A-7FB7-481D-B2A1-2B120714386C}"/>
              </a:ext>
            </a:extLst>
          </p:cNvPr>
          <p:cNvSpPr/>
          <p:nvPr/>
        </p:nvSpPr>
        <p:spPr>
          <a:xfrm>
            <a:off x="6350000" y="3873500"/>
            <a:ext cx="4699000" cy="889000"/>
          </a:xfrm>
          <a:prstGeom prst="roundRect">
            <a:avLst/>
          </a:prstGeom>
          <a:solidFill>
            <a:srgbClr val="082748"/>
          </a:solidFill>
          <a:ln>
            <a:solidFill>
              <a:srgbClr val="4ADE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D8B568-6AC7-6AC4-FDDE-19789F2558EA}"/>
              </a:ext>
            </a:extLst>
          </p:cNvPr>
          <p:cNvSpPr txBox="1"/>
          <p:nvPr/>
        </p:nvSpPr>
        <p:spPr>
          <a:xfrm>
            <a:off x="6553200" y="4051300"/>
            <a:ext cx="434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Free control 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391956-8E64-7DD6-2198-073070E31FA5}"/>
              </a:ext>
            </a:extLst>
          </p:cNvPr>
          <p:cNvSpPr txBox="1"/>
          <p:nvPr/>
        </p:nvSpPr>
        <p:spPr>
          <a:xfrm>
            <a:off x="6553200" y="4508500"/>
            <a:ext cx="4292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Compress generated HTML assets and use Executive Light Mode for mobile users.</a:t>
            </a:r>
          </a:p>
        </p:txBody>
      </p:sp>
    </p:spTree>
    <p:extLst>
      <p:ext uri="{BB962C8B-B14F-4D97-AF65-F5344CB8AC3E}">
        <p14:creationId xmlns:p14="http://schemas.microsoft.com/office/powerpoint/2010/main" val="3943040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F7FA996-806E-1B39-131E-FAAB51F059F5}"/>
              </a:ext>
            </a:extLst>
          </p:cNvPr>
          <p:cNvSpPr/>
          <p:nvPr/>
        </p:nvSpPr>
        <p:spPr>
          <a:xfrm>
            <a:off x="8890000" y="-1016000"/>
            <a:ext cx="4191000" cy="4191000"/>
          </a:xfrm>
          <a:prstGeom prst="ellipse">
            <a:avLst/>
          </a:prstGeom>
          <a:solidFill>
            <a:srgbClr val="39D7D2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52E9FB5-DFA1-85F6-445A-A98A53A73ECA}"/>
              </a:ext>
            </a:extLst>
          </p:cNvPr>
          <p:cNvSpPr/>
          <p:nvPr/>
        </p:nvSpPr>
        <p:spPr>
          <a:xfrm>
            <a:off x="-1016000" y="4889500"/>
            <a:ext cx="3556000" cy="3556000"/>
          </a:xfrm>
          <a:prstGeom prst="ellipse">
            <a:avLst/>
          </a:prstGeom>
          <a:solidFill>
            <a:srgbClr val="D6A23A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B6A89F-E5C7-3605-6386-3FBA4A30299B}"/>
              </a:ext>
            </a:extLst>
          </p:cNvPr>
          <p:cNvSpPr txBox="1"/>
          <p:nvPr/>
        </p:nvSpPr>
        <p:spPr>
          <a:xfrm>
            <a:off x="508000" y="381000"/>
            <a:ext cx="9398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5182D"/>
                </a:solidFill>
                <a:latin typeface="Aptos Display" panose="020B0004020202020204" pitchFamily="34" charset="0"/>
              </a:rPr>
              <a:t>Paid Subscriptions Should Create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17939F-247D-FAA6-8691-BCAD9B0D4CC4}"/>
              </a:ext>
            </a:extLst>
          </p:cNvPr>
          <p:cNvSpPr txBox="1"/>
          <p:nvPr/>
        </p:nvSpPr>
        <p:spPr>
          <a:xfrm>
            <a:off x="533400" y="1016000"/>
            <a:ext cx="914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082748"/>
                </a:solidFill>
                <a:latin typeface="Aptos Display" panose="020B0004020202020204" pitchFamily="34" charset="0"/>
              </a:rPr>
              <a:t>The best subscriptions convert the app from a viewer into a governed operating system.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DA8DA-0D13-4731-0F67-A40E1DF5DCA3}"/>
              </a:ext>
            </a:extLst>
          </p:cNvPr>
          <p:cNvSpPr txBox="1"/>
          <p:nvPr/>
        </p:nvSpPr>
        <p:spPr>
          <a:xfrm>
            <a:off x="508000" y="64516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Designed &amp; Created | Engr. Ahmed Labib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91E6D-8A7B-2800-BF7D-2E00CE881241}"/>
              </a:ext>
            </a:extLst>
          </p:cNvPr>
          <p:cNvSpPr txBox="1"/>
          <p:nvPr/>
        </p:nvSpPr>
        <p:spPr>
          <a:xfrm>
            <a:off x="8890000" y="6451600"/>
            <a:ext cx="2794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SAMCO Project Intelligence Hub | Board Control Plan | 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46923D-1BA2-A2E1-2C4F-E8A48842B5DE}"/>
              </a:ext>
            </a:extLst>
          </p:cNvPr>
          <p:cNvSpPr/>
          <p:nvPr/>
        </p:nvSpPr>
        <p:spPr>
          <a:xfrm>
            <a:off x="889000" y="1587500"/>
            <a:ext cx="4699000" cy="889000"/>
          </a:xfrm>
          <a:prstGeom prst="roundRect">
            <a:avLst/>
          </a:prstGeom>
          <a:solidFill>
            <a:srgbClr val="082748"/>
          </a:solidFill>
          <a:ln>
            <a:solidFill>
              <a:srgbClr val="D6A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3DF5CF-0FAC-AB1C-276C-DDCD7827E06F}"/>
              </a:ext>
            </a:extLst>
          </p:cNvPr>
          <p:cNvSpPr txBox="1"/>
          <p:nvPr/>
        </p:nvSpPr>
        <p:spPr>
          <a:xfrm>
            <a:off x="1092200" y="1765300"/>
            <a:ext cx="434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Managed database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5ABC3-F0B2-77CE-97D7-2B65AF7CB5EC}"/>
              </a:ext>
            </a:extLst>
          </p:cNvPr>
          <p:cNvSpPr txBox="1"/>
          <p:nvPr/>
        </p:nvSpPr>
        <p:spPr>
          <a:xfrm>
            <a:off x="1092200" y="2222500"/>
            <a:ext cx="4292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Highest governance value: actions, approvals, users, audit log and project permissions.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76AA928-107D-98BF-7187-2BF10BB04463}"/>
              </a:ext>
            </a:extLst>
          </p:cNvPr>
          <p:cNvSpPr/>
          <p:nvPr/>
        </p:nvSpPr>
        <p:spPr>
          <a:xfrm>
            <a:off x="6350000" y="1587500"/>
            <a:ext cx="4699000" cy="8890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1A2AE7-B2D6-0C11-6F1F-829005276301}"/>
              </a:ext>
            </a:extLst>
          </p:cNvPr>
          <p:cNvSpPr txBox="1"/>
          <p:nvPr/>
        </p:nvSpPr>
        <p:spPr>
          <a:xfrm>
            <a:off x="6553200" y="1765300"/>
            <a:ext cx="434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Document-control connector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30625F-93EB-917D-F979-2EBABA12B28B}"/>
              </a:ext>
            </a:extLst>
          </p:cNvPr>
          <p:cNvSpPr txBox="1"/>
          <p:nvPr/>
        </p:nvSpPr>
        <p:spPr>
          <a:xfrm>
            <a:off x="6553200" y="2222500"/>
            <a:ext cx="4292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Very high value: automatic evidence, RFIs, letters, contracts and drawings ingestion.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FF288F-2777-C391-368F-B4E099A008B9}"/>
              </a:ext>
            </a:extLst>
          </p:cNvPr>
          <p:cNvSpPr/>
          <p:nvPr/>
        </p:nvSpPr>
        <p:spPr>
          <a:xfrm>
            <a:off x="889000" y="2794000"/>
            <a:ext cx="4699000" cy="889000"/>
          </a:xfrm>
          <a:prstGeom prst="roundRect">
            <a:avLst/>
          </a:prstGeom>
          <a:solidFill>
            <a:srgbClr val="082748"/>
          </a:solidFill>
          <a:ln>
            <a:solidFill>
              <a:srgbClr val="63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959221-DB75-4A8B-0F5A-F964A2C23CFD}"/>
              </a:ext>
            </a:extLst>
          </p:cNvPr>
          <p:cNvSpPr txBox="1"/>
          <p:nvPr/>
        </p:nvSpPr>
        <p:spPr>
          <a:xfrm>
            <a:off x="1092200" y="2971800"/>
            <a:ext cx="434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AI provider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63DB81-9C75-5A02-5779-B69F56649E7E}"/>
              </a:ext>
            </a:extLst>
          </p:cNvPr>
          <p:cNvSpPr txBox="1"/>
          <p:nvPr/>
        </p:nvSpPr>
        <p:spPr>
          <a:xfrm>
            <a:off x="1092200" y="3429000"/>
            <a:ext cx="4292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High value if answers remain source-cited and reviewed before external use.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F3264AD-3766-C541-181B-E0B3D8955092}"/>
              </a:ext>
            </a:extLst>
          </p:cNvPr>
          <p:cNvSpPr/>
          <p:nvPr/>
        </p:nvSpPr>
        <p:spPr>
          <a:xfrm>
            <a:off x="6350000" y="2794000"/>
            <a:ext cx="4699000" cy="889000"/>
          </a:xfrm>
          <a:prstGeom prst="roundRect">
            <a:avLst/>
          </a:prstGeom>
          <a:solidFill>
            <a:srgbClr val="082748"/>
          </a:solidFill>
          <a:ln>
            <a:solidFill>
              <a:srgbClr val="4ADE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5BF84B-A867-E22A-05C2-519876467D11}"/>
              </a:ext>
            </a:extLst>
          </p:cNvPr>
          <p:cNvSpPr txBox="1"/>
          <p:nvPr/>
        </p:nvSpPr>
        <p:spPr>
          <a:xfrm>
            <a:off x="6553200" y="2971800"/>
            <a:ext cx="434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P6 integration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3D7B59-FA98-0E30-A6F0-9DB46CBBE00C}"/>
              </a:ext>
            </a:extLst>
          </p:cNvPr>
          <p:cNvSpPr txBox="1"/>
          <p:nvPr/>
        </p:nvSpPr>
        <p:spPr>
          <a:xfrm>
            <a:off x="6553200" y="3429000"/>
            <a:ext cx="4292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Highest technical value for TIA credibility, critical path, float and concurrency.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CCB1D40-3A43-987B-91C9-21AD97768FB7}"/>
              </a:ext>
            </a:extLst>
          </p:cNvPr>
          <p:cNvSpPr/>
          <p:nvPr/>
        </p:nvSpPr>
        <p:spPr>
          <a:xfrm>
            <a:off x="889000" y="4000500"/>
            <a:ext cx="4699000" cy="889000"/>
          </a:xfrm>
          <a:prstGeom prst="roundRect">
            <a:avLst/>
          </a:prstGeom>
          <a:solidFill>
            <a:srgbClr val="082748"/>
          </a:solidFill>
          <a:ln>
            <a:solidFill>
              <a:srgbClr val="F05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5D903F-DC94-7D00-322F-A5B1D2230601}"/>
              </a:ext>
            </a:extLst>
          </p:cNvPr>
          <p:cNvSpPr txBox="1"/>
          <p:nvPr/>
        </p:nvSpPr>
        <p:spPr>
          <a:xfrm>
            <a:off x="1092200" y="4178300"/>
            <a:ext cx="4343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Power BI / Vercel Pro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903E9C-CB25-C3C4-8A42-0B2159EB82E9}"/>
              </a:ext>
            </a:extLst>
          </p:cNvPr>
          <p:cNvSpPr txBox="1"/>
          <p:nvPr/>
        </p:nvSpPr>
        <p:spPr>
          <a:xfrm>
            <a:off x="1092200" y="4635500"/>
            <a:ext cx="4292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Useful for enterprise sharing, scheduled refresh, hosted reliability and executive access.</a:t>
            </a:r>
          </a:p>
        </p:txBody>
      </p:sp>
    </p:spTree>
    <p:extLst>
      <p:ext uri="{BB962C8B-B14F-4D97-AF65-F5344CB8AC3E}">
        <p14:creationId xmlns:p14="http://schemas.microsoft.com/office/powerpoint/2010/main" val="1106504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0500B49-CE64-294E-16F0-A1096AFA8FCE}"/>
              </a:ext>
            </a:extLst>
          </p:cNvPr>
          <p:cNvSpPr/>
          <p:nvPr/>
        </p:nvSpPr>
        <p:spPr>
          <a:xfrm>
            <a:off x="8890000" y="-1016000"/>
            <a:ext cx="4191000" cy="4191000"/>
          </a:xfrm>
          <a:prstGeom prst="ellipse">
            <a:avLst/>
          </a:prstGeom>
          <a:solidFill>
            <a:srgbClr val="39D7D2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457DD48-5B6E-2524-93E5-CB876B0AEB38}"/>
              </a:ext>
            </a:extLst>
          </p:cNvPr>
          <p:cNvSpPr/>
          <p:nvPr/>
        </p:nvSpPr>
        <p:spPr>
          <a:xfrm>
            <a:off x="-1016000" y="4889500"/>
            <a:ext cx="3556000" cy="3556000"/>
          </a:xfrm>
          <a:prstGeom prst="ellipse">
            <a:avLst/>
          </a:prstGeom>
          <a:solidFill>
            <a:srgbClr val="D6A23A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6B792-D532-3180-4D3A-B244CF5B6F61}"/>
              </a:ext>
            </a:extLst>
          </p:cNvPr>
          <p:cNvSpPr txBox="1"/>
          <p:nvPr/>
        </p:nvSpPr>
        <p:spPr>
          <a:xfrm>
            <a:off x="508000" y="381000"/>
            <a:ext cx="9398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5182D"/>
                </a:solidFill>
                <a:latin typeface="Aptos Display" panose="020B0004020202020204" pitchFamily="34" charset="0"/>
              </a:rPr>
              <a:t>How SAMCO Performance Improves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548075-D7BA-BE3E-4673-0EC89B39CB84}"/>
              </a:ext>
            </a:extLst>
          </p:cNvPr>
          <p:cNvSpPr txBox="1"/>
          <p:nvPr/>
        </p:nvSpPr>
        <p:spPr>
          <a:xfrm>
            <a:off x="533400" y="1016000"/>
            <a:ext cx="914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082748"/>
                </a:solidFill>
                <a:latin typeface="Aptos Display" panose="020B0004020202020204" pitchFamily="34" charset="0"/>
              </a:rPr>
              <a:t>The app creates measurable control improvements across planning, claims, evidence, communication and management speed.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1605E-81FC-028E-A89C-52BFFCEFE67F}"/>
              </a:ext>
            </a:extLst>
          </p:cNvPr>
          <p:cNvSpPr txBox="1"/>
          <p:nvPr/>
        </p:nvSpPr>
        <p:spPr>
          <a:xfrm>
            <a:off x="508000" y="64516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Designed &amp; Created | Engr. Ahmed Labib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27B4B1-C028-3241-8E8C-8B60FFE3BA12}"/>
              </a:ext>
            </a:extLst>
          </p:cNvPr>
          <p:cNvSpPr txBox="1"/>
          <p:nvPr/>
        </p:nvSpPr>
        <p:spPr>
          <a:xfrm>
            <a:off x="8890000" y="6451600"/>
            <a:ext cx="2794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SAMCO Project Intelligence Hub | Board Control Plan | 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B51ACF-07CB-1EA8-E1F1-409D0B24D3D5}"/>
              </a:ext>
            </a:extLst>
          </p:cNvPr>
          <p:cNvSpPr/>
          <p:nvPr/>
        </p:nvSpPr>
        <p:spPr>
          <a:xfrm>
            <a:off x="889000" y="1397000"/>
            <a:ext cx="3175000" cy="5334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A21E77-C0B2-264F-E9E7-BFBB2B077855}"/>
              </a:ext>
            </a:extLst>
          </p:cNvPr>
          <p:cNvSpPr txBox="1"/>
          <p:nvPr/>
        </p:nvSpPr>
        <p:spPr>
          <a:xfrm>
            <a:off x="1092200" y="1574800"/>
            <a:ext cx="281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Faster management decisions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885FA0-7291-FD90-CA24-8F72533CE7CC}"/>
              </a:ext>
            </a:extLst>
          </p:cNvPr>
          <p:cNvSpPr txBox="1"/>
          <p:nvPr/>
        </p:nvSpPr>
        <p:spPr>
          <a:xfrm>
            <a:off x="4445000" y="1549400"/>
            <a:ext cx="711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05182D"/>
                </a:solidFill>
                <a:latin typeface="Aptos Display" panose="020B0004020202020204" pitchFamily="34" charset="0"/>
              </a:rPr>
              <a:t>Decision latency reduced through clear triggers and owners.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815406-0BB0-C360-A708-CFE382E5B4C0}"/>
              </a:ext>
            </a:extLst>
          </p:cNvPr>
          <p:cNvSpPr/>
          <p:nvPr/>
        </p:nvSpPr>
        <p:spPr>
          <a:xfrm>
            <a:off x="889000" y="2133600"/>
            <a:ext cx="3175000" cy="5334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E1322E-49A0-9F1E-902E-7B450F9E795A}"/>
              </a:ext>
            </a:extLst>
          </p:cNvPr>
          <p:cNvSpPr txBox="1"/>
          <p:nvPr/>
        </p:nvSpPr>
        <p:spPr>
          <a:xfrm>
            <a:off x="1092200" y="2311400"/>
            <a:ext cx="281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Better planning discipline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B491B9-0696-69EC-DDA8-83F5C6B6D57D}"/>
              </a:ext>
            </a:extLst>
          </p:cNvPr>
          <p:cNvSpPr txBox="1"/>
          <p:nvPr/>
        </p:nvSpPr>
        <p:spPr>
          <a:xfrm>
            <a:off x="4445000" y="2286000"/>
            <a:ext cx="711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05182D"/>
                </a:solidFill>
                <a:latin typeface="Aptos Display" panose="020B0004020202020204" pitchFamily="34" charset="0"/>
              </a:rPr>
              <a:t>SPI, CPI, delay, risk and data quality become visible.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A2C2884-87D2-DA84-402C-15E3681E91CF}"/>
              </a:ext>
            </a:extLst>
          </p:cNvPr>
          <p:cNvSpPr/>
          <p:nvPr/>
        </p:nvSpPr>
        <p:spPr>
          <a:xfrm>
            <a:off x="889000" y="2870200"/>
            <a:ext cx="3175000" cy="5334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8AE2D0-C2F3-1848-4CD0-F7CC4B2C174C}"/>
              </a:ext>
            </a:extLst>
          </p:cNvPr>
          <p:cNvSpPr txBox="1"/>
          <p:nvPr/>
        </p:nvSpPr>
        <p:spPr>
          <a:xfrm>
            <a:off x="1092200" y="3048000"/>
            <a:ext cx="281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Stronger claims and EOT files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FE9B8-A801-7D7C-C880-1984F2C7664C}"/>
              </a:ext>
            </a:extLst>
          </p:cNvPr>
          <p:cNvSpPr txBox="1"/>
          <p:nvPr/>
        </p:nvSpPr>
        <p:spPr>
          <a:xfrm>
            <a:off x="4445000" y="3022600"/>
            <a:ext cx="711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05182D"/>
                </a:solidFill>
                <a:latin typeface="Aptos Display" panose="020B0004020202020204" pitchFamily="34" charset="0"/>
              </a:rPr>
              <a:t>Entitlement, evidence, concurrency and mitigation are separated.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33B519-7766-A5A5-A4B4-1392F49C5FF3}"/>
              </a:ext>
            </a:extLst>
          </p:cNvPr>
          <p:cNvSpPr/>
          <p:nvPr/>
        </p:nvSpPr>
        <p:spPr>
          <a:xfrm>
            <a:off x="889000" y="3606800"/>
            <a:ext cx="3175000" cy="5334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083A50-587D-49EF-9784-947E3DBA1AC5}"/>
              </a:ext>
            </a:extLst>
          </p:cNvPr>
          <p:cNvSpPr txBox="1"/>
          <p:nvPr/>
        </p:nvSpPr>
        <p:spPr>
          <a:xfrm>
            <a:off x="1092200" y="3784600"/>
            <a:ext cx="281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Cleaner document control behavior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9FB742-E7B1-F653-8C3C-9F11ED2278FD}"/>
              </a:ext>
            </a:extLst>
          </p:cNvPr>
          <p:cNvSpPr txBox="1"/>
          <p:nvPr/>
        </p:nvSpPr>
        <p:spPr>
          <a:xfrm>
            <a:off x="4445000" y="3759200"/>
            <a:ext cx="711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05182D"/>
                </a:solidFill>
                <a:latin typeface="Aptos Display" panose="020B0004020202020204" pitchFamily="34" charset="0"/>
              </a:rPr>
              <a:t>Letters and evidence become part of the project pipeline.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DD013B7-043D-38CC-4A8D-B0D02E0EBB7E}"/>
              </a:ext>
            </a:extLst>
          </p:cNvPr>
          <p:cNvSpPr/>
          <p:nvPr/>
        </p:nvSpPr>
        <p:spPr>
          <a:xfrm>
            <a:off x="889000" y="4343400"/>
            <a:ext cx="3175000" cy="5334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B62F52-4A38-A2B7-D70C-4B8DCC34EFF8}"/>
              </a:ext>
            </a:extLst>
          </p:cNvPr>
          <p:cNvSpPr txBox="1"/>
          <p:nvPr/>
        </p:nvSpPr>
        <p:spPr>
          <a:xfrm>
            <a:off x="1092200" y="4521200"/>
            <a:ext cx="281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Repeatable project onboarding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7C96D4-FB76-C5B7-3F35-93EBB5C91D83}"/>
              </a:ext>
            </a:extLst>
          </p:cNvPr>
          <p:cNvSpPr txBox="1"/>
          <p:nvPr/>
        </p:nvSpPr>
        <p:spPr>
          <a:xfrm>
            <a:off x="4445000" y="4495800"/>
            <a:ext cx="711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05182D"/>
                </a:solidFill>
                <a:latin typeface="Aptos Display" panose="020B0004020202020204" pitchFamily="34" charset="0"/>
              </a:rPr>
              <a:t>New projects follow the same folder and data structure.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9FBF1E1-0806-EA66-D66A-B06C8DCD301E}"/>
              </a:ext>
            </a:extLst>
          </p:cNvPr>
          <p:cNvSpPr/>
          <p:nvPr/>
        </p:nvSpPr>
        <p:spPr>
          <a:xfrm>
            <a:off x="889000" y="5080000"/>
            <a:ext cx="3175000" cy="5334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FC7A00-92CF-BD46-E036-6E0D8A3B354B}"/>
              </a:ext>
            </a:extLst>
          </p:cNvPr>
          <p:cNvSpPr txBox="1"/>
          <p:nvPr/>
        </p:nvSpPr>
        <p:spPr>
          <a:xfrm>
            <a:off x="1092200" y="5257800"/>
            <a:ext cx="281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Professional board communication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067F82-9813-DACF-8BB1-903E07FF11BD}"/>
              </a:ext>
            </a:extLst>
          </p:cNvPr>
          <p:cNvSpPr txBox="1"/>
          <p:nvPr/>
        </p:nvSpPr>
        <p:spPr>
          <a:xfrm>
            <a:off x="4445000" y="5232400"/>
            <a:ext cx="7112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05182D"/>
                </a:solidFill>
                <a:latin typeface="Aptos Display" panose="020B0004020202020204" pitchFamily="34" charset="0"/>
              </a:rPr>
              <a:t>Reports and dashboards become standardized outputs.</a:t>
            </a:r>
          </a:p>
        </p:txBody>
      </p:sp>
    </p:spTree>
    <p:extLst>
      <p:ext uri="{BB962C8B-B14F-4D97-AF65-F5344CB8AC3E}">
        <p14:creationId xmlns:p14="http://schemas.microsoft.com/office/powerpoint/2010/main" val="2823419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E38397A-2F0A-8AF3-9F4F-6F0CE2EDEFD7}"/>
              </a:ext>
            </a:extLst>
          </p:cNvPr>
          <p:cNvSpPr/>
          <p:nvPr/>
        </p:nvSpPr>
        <p:spPr>
          <a:xfrm>
            <a:off x="8890000" y="-1016000"/>
            <a:ext cx="4191000" cy="4191000"/>
          </a:xfrm>
          <a:prstGeom prst="ellipse">
            <a:avLst/>
          </a:prstGeom>
          <a:solidFill>
            <a:srgbClr val="39D7D2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B38B81F-130F-0D1B-F709-9A2D84295F45}"/>
              </a:ext>
            </a:extLst>
          </p:cNvPr>
          <p:cNvSpPr/>
          <p:nvPr/>
        </p:nvSpPr>
        <p:spPr>
          <a:xfrm>
            <a:off x="-1016000" y="4889500"/>
            <a:ext cx="3556000" cy="3556000"/>
          </a:xfrm>
          <a:prstGeom prst="ellipse">
            <a:avLst/>
          </a:prstGeom>
          <a:solidFill>
            <a:srgbClr val="D6A23A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84C880-DF68-676D-6B69-34E8269895B3}"/>
              </a:ext>
            </a:extLst>
          </p:cNvPr>
          <p:cNvSpPr txBox="1"/>
          <p:nvPr/>
        </p:nvSpPr>
        <p:spPr>
          <a:xfrm>
            <a:off x="508000" y="381000"/>
            <a:ext cx="9398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5182D"/>
                </a:solidFill>
                <a:latin typeface="Aptos Display" panose="020B0004020202020204" pitchFamily="34" charset="0"/>
              </a:rPr>
              <a:t>Complete Control Requires Four Connected Layers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CF90FA-95CF-6C7B-DAD6-DFDAE58DBBE4}"/>
              </a:ext>
            </a:extLst>
          </p:cNvPr>
          <p:cNvSpPr txBox="1"/>
          <p:nvPr/>
        </p:nvSpPr>
        <p:spPr>
          <a:xfrm>
            <a:off x="533400" y="1016000"/>
            <a:ext cx="914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082748"/>
                </a:solidFill>
                <a:latin typeface="Aptos Display" panose="020B0004020202020204" pitchFamily="34" charset="0"/>
              </a:rPr>
              <a:t>SAMCO should not stop at dashboards; the next goal is a governed control ecosystem.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F8154-077A-AFF1-A15B-7C2E2159043E}"/>
              </a:ext>
            </a:extLst>
          </p:cNvPr>
          <p:cNvSpPr txBox="1"/>
          <p:nvPr/>
        </p:nvSpPr>
        <p:spPr>
          <a:xfrm>
            <a:off x="508000" y="64516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Designed &amp; Created | Engr. Ahmed Labib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0DC429-F4AF-A1E7-CB28-7A71C113496A}"/>
              </a:ext>
            </a:extLst>
          </p:cNvPr>
          <p:cNvSpPr txBox="1"/>
          <p:nvPr/>
        </p:nvSpPr>
        <p:spPr>
          <a:xfrm>
            <a:off x="8890000" y="6451600"/>
            <a:ext cx="2794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SAMCO Project Intelligence Hub | Board Control Plan | 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78D7BA-FCB5-C376-BF9B-57956BAC7BBB}"/>
              </a:ext>
            </a:extLst>
          </p:cNvPr>
          <p:cNvSpPr/>
          <p:nvPr/>
        </p:nvSpPr>
        <p:spPr>
          <a:xfrm>
            <a:off x="952500" y="2032000"/>
            <a:ext cx="2413000" cy="26670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DADB46-8819-D6ED-9F4E-8AD7A6E8FBCA}"/>
              </a:ext>
            </a:extLst>
          </p:cNvPr>
          <p:cNvSpPr/>
          <p:nvPr/>
        </p:nvSpPr>
        <p:spPr>
          <a:xfrm>
            <a:off x="1104900" y="2184400"/>
            <a:ext cx="355600" cy="355600"/>
          </a:xfrm>
          <a:prstGeom prst="ellipse">
            <a:avLst/>
          </a:prstGeom>
          <a:solidFill>
            <a:srgbClr val="39D7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D46CFB-15B8-AFAF-B93D-98890521562C}"/>
              </a:ext>
            </a:extLst>
          </p:cNvPr>
          <p:cNvSpPr txBox="1"/>
          <p:nvPr/>
        </p:nvSpPr>
        <p:spPr>
          <a:xfrm>
            <a:off x="1104900" y="2247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05182D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CB0485-06F0-5DBB-4BD7-9EA5B269F636}"/>
              </a:ext>
            </a:extLst>
          </p:cNvPr>
          <p:cNvSpPr txBox="1"/>
          <p:nvPr/>
        </p:nvSpPr>
        <p:spPr>
          <a:xfrm>
            <a:off x="1587500" y="2209800"/>
            <a:ext cx="2057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01 Data Control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F1DBFA-25FA-B046-392C-52E1953CB769}"/>
              </a:ext>
            </a:extLst>
          </p:cNvPr>
          <p:cNvSpPr txBox="1"/>
          <p:nvPr/>
        </p:nvSpPr>
        <p:spPr>
          <a:xfrm>
            <a:off x="1155700" y="2667000"/>
            <a:ext cx="2006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Project folders, templates, validation, project_id and data owners.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7BF0829-A16A-123D-DC09-DB14EE066168}"/>
              </a:ext>
            </a:extLst>
          </p:cNvPr>
          <p:cNvSpPr/>
          <p:nvPr/>
        </p:nvSpPr>
        <p:spPr>
          <a:xfrm>
            <a:off x="3746500" y="2032000"/>
            <a:ext cx="2413000" cy="2667000"/>
          </a:xfrm>
          <a:prstGeom prst="roundRect">
            <a:avLst/>
          </a:prstGeom>
          <a:solidFill>
            <a:srgbClr val="082748"/>
          </a:solidFill>
          <a:ln>
            <a:solidFill>
              <a:srgbClr val="D6A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B524F86-568D-F49A-48BD-2D19EEB34575}"/>
              </a:ext>
            </a:extLst>
          </p:cNvPr>
          <p:cNvSpPr/>
          <p:nvPr/>
        </p:nvSpPr>
        <p:spPr>
          <a:xfrm>
            <a:off x="3898900" y="2184400"/>
            <a:ext cx="355600" cy="355600"/>
          </a:xfrm>
          <a:prstGeom prst="ellipse">
            <a:avLst/>
          </a:prstGeom>
          <a:solidFill>
            <a:srgbClr val="D6A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08581B-E52A-BD47-2B79-CEFF2231194E}"/>
              </a:ext>
            </a:extLst>
          </p:cNvPr>
          <p:cNvSpPr txBox="1"/>
          <p:nvPr/>
        </p:nvSpPr>
        <p:spPr>
          <a:xfrm>
            <a:off x="3898900" y="2247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05182D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F0E3CB-2AD4-BDBA-C4BB-357F33B9DE80}"/>
              </a:ext>
            </a:extLst>
          </p:cNvPr>
          <p:cNvSpPr txBox="1"/>
          <p:nvPr/>
        </p:nvSpPr>
        <p:spPr>
          <a:xfrm>
            <a:off x="4381500" y="2209800"/>
            <a:ext cx="2057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02 Evidence Control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3944B5-5F8C-D99D-45CF-90AF0CC57A3A}"/>
              </a:ext>
            </a:extLst>
          </p:cNvPr>
          <p:cNvSpPr txBox="1"/>
          <p:nvPr/>
        </p:nvSpPr>
        <p:spPr>
          <a:xfrm>
            <a:off x="3949700" y="2667000"/>
            <a:ext cx="2006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Letters, contracts, drawings, RFIs, photos, approvals and proof of receipt.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5997514-4CBF-08C7-8019-72D901EB2415}"/>
              </a:ext>
            </a:extLst>
          </p:cNvPr>
          <p:cNvSpPr/>
          <p:nvPr/>
        </p:nvSpPr>
        <p:spPr>
          <a:xfrm>
            <a:off x="6540500" y="2032000"/>
            <a:ext cx="2413000" cy="2667000"/>
          </a:xfrm>
          <a:prstGeom prst="roundRect">
            <a:avLst/>
          </a:prstGeom>
          <a:solidFill>
            <a:srgbClr val="082748"/>
          </a:solidFill>
          <a:ln>
            <a:solidFill>
              <a:srgbClr val="63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5BCFC6A-5BA3-1580-28EE-0DE7191173AF}"/>
              </a:ext>
            </a:extLst>
          </p:cNvPr>
          <p:cNvSpPr/>
          <p:nvPr/>
        </p:nvSpPr>
        <p:spPr>
          <a:xfrm>
            <a:off x="6692900" y="2184400"/>
            <a:ext cx="355600" cy="355600"/>
          </a:xfrm>
          <a:prstGeom prst="ellipse">
            <a:avLst/>
          </a:prstGeom>
          <a:solidFill>
            <a:srgbClr val="63A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8C0660-1837-2150-289B-5F54C7A2DA2C}"/>
              </a:ext>
            </a:extLst>
          </p:cNvPr>
          <p:cNvSpPr txBox="1"/>
          <p:nvPr/>
        </p:nvSpPr>
        <p:spPr>
          <a:xfrm>
            <a:off x="6692900" y="2247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05182D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28086-E990-F019-AC10-8BF6C5B4642A}"/>
              </a:ext>
            </a:extLst>
          </p:cNvPr>
          <p:cNvSpPr txBox="1"/>
          <p:nvPr/>
        </p:nvSpPr>
        <p:spPr>
          <a:xfrm>
            <a:off x="7175500" y="2209800"/>
            <a:ext cx="2057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03 Schedule &amp; Claim Control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AE7719-8D4C-D4F2-B936-1F94CC0EA419}"/>
              </a:ext>
            </a:extLst>
          </p:cNvPr>
          <p:cNvSpPr txBox="1"/>
          <p:nvPr/>
        </p:nvSpPr>
        <p:spPr>
          <a:xfrm>
            <a:off x="6743700" y="2667000"/>
            <a:ext cx="2006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P6/XER validation, Delay/TIA gates, entitlement, concurrency and mitigation.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2F9C2EF-4BC8-12A1-B20D-C719690FC540}"/>
              </a:ext>
            </a:extLst>
          </p:cNvPr>
          <p:cNvSpPr/>
          <p:nvPr/>
        </p:nvSpPr>
        <p:spPr>
          <a:xfrm>
            <a:off x="9334500" y="2032000"/>
            <a:ext cx="2413000" cy="2667000"/>
          </a:xfrm>
          <a:prstGeom prst="roundRect">
            <a:avLst/>
          </a:prstGeom>
          <a:solidFill>
            <a:srgbClr val="082748"/>
          </a:solidFill>
          <a:ln>
            <a:solidFill>
              <a:srgbClr val="4ADE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C3F2F18-1DB7-597D-E411-A6E32D8C8D01}"/>
              </a:ext>
            </a:extLst>
          </p:cNvPr>
          <p:cNvSpPr/>
          <p:nvPr/>
        </p:nvSpPr>
        <p:spPr>
          <a:xfrm>
            <a:off x="9486900" y="2184400"/>
            <a:ext cx="355600" cy="355600"/>
          </a:xfrm>
          <a:prstGeom prst="ellipse">
            <a:avLst/>
          </a:prstGeom>
          <a:solidFill>
            <a:srgbClr val="4ADE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9E22D3-BE19-AFFB-521A-7D81AA6B64DB}"/>
              </a:ext>
            </a:extLst>
          </p:cNvPr>
          <p:cNvSpPr txBox="1"/>
          <p:nvPr/>
        </p:nvSpPr>
        <p:spPr>
          <a:xfrm>
            <a:off x="9486900" y="22479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05182D"/>
                </a:solidFill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0130F5-A1F4-6120-D094-8C517A7D7406}"/>
              </a:ext>
            </a:extLst>
          </p:cNvPr>
          <p:cNvSpPr txBox="1"/>
          <p:nvPr/>
        </p:nvSpPr>
        <p:spPr>
          <a:xfrm>
            <a:off x="9969500" y="2209800"/>
            <a:ext cx="2057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04 Executive Control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38F871-B5C2-7AE7-CAFA-585599F4DBCD}"/>
              </a:ext>
            </a:extLst>
          </p:cNvPr>
          <p:cNvSpPr txBox="1"/>
          <p:nvPr/>
        </p:nvSpPr>
        <p:spPr>
          <a:xfrm>
            <a:off x="9537700" y="2667000"/>
            <a:ext cx="20066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Decision log, action owners, board dashboard, alerts and monthly control pack.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133FB9-A98C-3530-9174-1FADED9D99EF}"/>
              </a:ext>
            </a:extLst>
          </p:cNvPr>
          <p:cNvSpPr txBox="1"/>
          <p:nvPr/>
        </p:nvSpPr>
        <p:spPr>
          <a:xfrm>
            <a:off x="1016000" y="5461000"/>
            <a:ext cx="10160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5182D"/>
                </a:solidFill>
                <a:latin typeface="Aptos Display" panose="020B0004020202020204" pitchFamily="34" charset="0"/>
              </a:rPr>
              <a:t>Target state: every project fact has a source, every risk has an owner, every claim has evidence, and every decision has closure.</a:t>
            </a:r>
          </a:p>
        </p:txBody>
      </p:sp>
    </p:spTree>
    <p:extLst>
      <p:ext uri="{BB962C8B-B14F-4D97-AF65-F5344CB8AC3E}">
        <p14:creationId xmlns:p14="http://schemas.microsoft.com/office/powerpoint/2010/main" val="3579621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85D55BD-4063-2646-21FF-30CBD9E8A71D}"/>
              </a:ext>
            </a:extLst>
          </p:cNvPr>
          <p:cNvSpPr/>
          <p:nvPr/>
        </p:nvSpPr>
        <p:spPr>
          <a:xfrm>
            <a:off x="8890000" y="-1016000"/>
            <a:ext cx="4191000" cy="4191000"/>
          </a:xfrm>
          <a:prstGeom prst="ellipse">
            <a:avLst/>
          </a:prstGeom>
          <a:solidFill>
            <a:srgbClr val="39D7D2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4B0D808-265C-3E06-E392-35191D17F3A5}"/>
              </a:ext>
            </a:extLst>
          </p:cNvPr>
          <p:cNvSpPr/>
          <p:nvPr/>
        </p:nvSpPr>
        <p:spPr>
          <a:xfrm>
            <a:off x="-1016000" y="4889500"/>
            <a:ext cx="3556000" cy="3556000"/>
          </a:xfrm>
          <a:prstGeom prst="ellipse">
            <a:avLst/>
          </a:prstGeom>
          <a:solidFill>
            <a:srgbClr val="D6A23A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61BD7F-6005-3AEE-A22B-540A1498A7E7}"/>
              </a:ext>
            </a:extLst>
          </p:cNvPr>
          <p:cNvSpPr txBox="1"/>
          <p:nvPr/>
        </p:nvSpPr>
        <p:spPr>
          <a:xfrm>
            <a:off x="508000" y="381000"/>
            <a:ext cx="9398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5182D"/>
                </a:solidFill>
                <a:latin typeface="Aptos Display" panose="020B0004020202020204" pitchFamily="34" charset="0"/>
              </a:rPr>
              <a:t>Recommended 90-Day Move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D51E7-2ED1-2ABB-3ED5-34C426A54A24}"/>
              </a:ext>
            </a:extLst>
          </p:cNvPr>
          <p:cNvSpPr txBox="1"/>
          <p:nvPr/>
        </p:nvSpPr>
        <p:spPr>
          <a:xfrm>
            <a:off x="533400" y="1016000"/>
            <a:ext cx="914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082748"/>
                </a:solidFill>
                <a:latin typeface="Aptos Display" panose="020B0004020202020204" pitchFamily="34" charset="0"/>
              </a:rPr>
              <a:t>The next move is not more design. It is enterprise hardening and adoption.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389E99-5CE1-947B-0C8C-15F49C41013F}"/>
              </a:ext>
            </a:extLst>
          </p:cNvPr>
          <p:cNvSpPr txBox="1"/>
          <p:nvPr/>
        </p:nvSpPr>
        <p:spPr>
          <a:xfrm>
            <a:off x="508000" y="64516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Designed &amp; Created | Engr. Ahmed Labib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42C79D-542D-5525-ACD9-CA307C239058}"/>
              </a:ext>
            </a:extLst>
          </p:cNvPr>
          <p:cNvSpPr txBox="1"/>
          <p:nvPr/>
        </p:nvSpPr>
        <p:spPr>
          <a:xfrm>
            <a:off x="8890000" y="6451600"/>
            <a:ext cx="2794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SAMCO Project Intelligence Hub | Board Control Plan | 10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414214-9B56-D941-48A6-1A3D9ABF0817}"/>
              </a:ext>
            </a:extLst>
          </p:cNvPr>
          <p:cNvSpPr/>
          <p:nvPr/>
        </p:nvSpPr>
        <p:spPr>
          <a:xfrm>
            <a:off x="698500" y="1968500"/>
            <a:ext cx="1905000" cy="27305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073ECB-82EE-DD92-DEC8-70F52FCE468D}"/>
              </a:ext>
            </a:extLst>
          </p:cNvPr>
          <p:cNvSpPr txBox="1"/>
          <p:nvPr/>
        </p:nvSpPr>
        <p:spPr>
          <a:xfrm>
            <a:off x="901700" y="2146300"/>
            <a:ext cx="154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Days 1-15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C56F5E-F127-6646-3C85-C81A728C5D4D}"/>
              </a:ext>
            </a:extLst>
          </p:cNvPr>
          <p:cNvSpPr txBox="1"/>
          <p:nvPr/>
        </p:nvSpPr>
        <p:spPr>
          <a:xfrm>
            <a:off x="901700" y="2603500"/>
            <a:ext cx="14986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Approve standard folder/data structure, data-owner matrix and validation checklist.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9D61BB-3B0E-81C8-6CD9-1B5C69F7EA6C}"/>
              </a:ext>
            </a:extLst>
          </p:cNvPr>
          <p:cNvSpPr/>
          <p:nvPr/>
        </p:nvSpPr>
        <p:spPr>
          <a:xfrm>
            <a:off x="2882900" y="1968500"/>
            <a:ext cx="1905000" cy="2730500"/>
          </a:xfrm>
          <a:prstGeom prst="roundRect">
            <a:avLst/>
          </a:prstGeom>
          <a:solidFill>
            <a:srgbClr val="082748"/>
          </a:solidFill>
          <a:ln>
            <a:solidFill>
              <a:srgbClr val="D6A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8D92C-58A9-971C-160A-98B69B752459}"/>
              </a:ext>
            </a:extLst>
          </p:cNvPr>
          <p:cNvSpPr txBox="1"/>
          <p:nvPr/>
        </p:nvSpPr>
        <p:spPr>
          <a:xfrm>
            <a:off x="3086100" y="2146300"/>
            <a:ext cx="154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Days 16-30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7DEC59-DECC-E36E-3FD0-B85A490BF481}"/>
              </a:ext>
            </a:extLst>
          </p:cNvPr>
          <p:cNvSpPr txBox="1"/>
          <p:nvPr/>
        </p:nvSpPr>
        <p:spPr>
          <a:xfrm>
            <a:off x="3086100" y="2603500"/>
            <a:ext cx="14986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Fix source-data gaps and move action tracker to persistent project_id storage.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88362B-7CCA-CC37-A553-5578D0970A95}"/>
              </a:ext>
            </a:extLst>
          </p:cNvPr>
          <p:cNvSpPr/>
          <p:nvPr/>
        </p:nvSpPr>
        <p:spPr>
          <a:xfrm>
            <a:off x="5067300" y="1968500"/>
            <a:ext cx="1905000" cy="2730500"/>
          </a:xfrm>
          <a:prstGeom prst="roundRect">
            <a:avLst/>
          </a:prstGeom>
          <a:solidFill>
            <a:srgbClr val="082748"/>
          </a:solidFill>
          <a:ln>
            <a:solidFill>
              <a:srgbClr val="63A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9B3CF-E540-4A21-E9A8-BBAD65C4465F}"/>
              </a:ext>
            </a:extLst>
          </p:cNvPr>
          <p:cNvSpPr txBox="1"/>
          <p:nvPr/>
        </p:nvSpPr>
        <p:spPr>
          <a:xfrm>
            <a:off x="5270500" y="2146300"/>
            <a:ext cx="154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Days 31-45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789FED-674E-259F-AD36-A4BA7F6C8A07}"/>
              </a:ext>
            </a:extLst>
          </p:cNvPr>
          <p:cNvSpPr txBox="1"/>
          <p:nvPr/>
        </p:nvSpPr>
        <p:spPr>
          <a:xfrm>
            <a:off x="5270500" y="2603500"/>
            <a:ext cx="14986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Connect evidence/document sources and formalize access control.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2BCEE5C-D1DC-8461-CCE5-F3E771EB0ECC}"/>
              </a:ext>
            </a:extLst>
          </p:cNvPr>
          <p:cNvSpPr/>
          <p:nvPr/>
        </p:nvSpPr>
        <p:spPr>
          <a:xfrm>
            <a:off x="7251700" y="1968500"/>
            <a:ext cx="1905000" cy="2730500"/>
          </a:xfrm>
          <a:prstGeom prst="roundRect">
            <a:avLst/>
          </a:prstGeom>
          <a:solidFill>
            <a:srgbClr val="082748"/>
          </a:solidFill>
          <a:ln>
            <a:solidFill>
              <a:srgbClr val="4ADE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6073FC-DC2C-76F5-2694-4262D0909DA1}"/>
              </a:ext>
            </a:extLst>
          </p:cNvPr>
          <p:cNvSpPr txBox="1"/>
          <p:nvPr/>
        </p:nvSpPr>
        <p:spPr>
          <a:xfrm>
            <a:off x="7454900" y="2146300"/>
            <a:ext cx="154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Days 46-60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C4B631-2776-AF50-A813-F1E209860B71}"/>
              </a:ext>
            </a:extLst>
          </p:cNvPr>
          <p:cNvSpPr txBox="1"/>
          <p:nvPr/>
        </p:nvSpPr>
        <p:spPr>
          <a:xfrm>
            <a:off x="7454900" y="2603500"/>
            <a:ext cx="1498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Add AI synthesis with citation policy and review workflow.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8992758-A5F3-2D1D-D5CD-1484CFB1D3F3}"/>
              </a:ext>
            </a:extLst>
          </p:cNvPr>
          <p:cNvSpPr/>
          <p:nvPr/>
        </p:nvSpPr>
        <p:spPr>
          <a:xfrm>
            <a:off x="9436100" y="1968500"/>
            <a:ext cx="1905000" cy="2730500"/>
          </a:xfrm>
          <a:prstGeom prst="roundRect">
            <a:avLst/>
          </a:prstGeom>
          <a:solidFill>
            <a:srgbClr val="082748"/>
          </a:solidFill>
          <a:ln>
            <a:solidFill>
              <a:srgbClr val="F05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DA21BA-226C-644A-2FFC-AF382478C969}"/>
              </a:ext>
            </a:extLst>
          </p:cNvPr>
          <p:cNvSpPr txBox="1"/>
          <p:nvPr/>
        </p:nvSpPr>
        <p:spPr>
          <a:xfrm>
            <a:off x="9639300" y="2146300"/>
            <a:ext cx="1549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Days 61-90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CDD9C4-7552-7511-DAA8-2C3890494618}"/>
              </a:ext>
            </a:extLst>
          </p:cNvPr>
          <p:cNvSpPr txBox="1"/>
          <p:nvPr/>
        </p:nvSpPr>
        <p:spPr>
          <a:xfrm>
            <a:off x="9639300" y="2603500"/>
            <a:ext cx="1498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Pilot monthly board control pack and roll out to active projects.</a:t>
            </a:r>
          </a:p>
        </p:txBody>
      </p:sp>
    </p:spTree>
    <p:extLst>
      <p:ext uri="{BB962C8B-B14F-4D97-AF65-F5344CB8AC3E}">
        <p14:creationId xmlns:p14="http://schemas.microsoft.com/office/powerpoint/2010/main" val="3781302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81C5519-A9D5-FB7F-49E5-A80C3801974F}"/>
              </a:ext>
            </a:extLst>
          </p:cNvPr>
          <p:cNvSpPr/>
          <p:nvPr/>
        </p:nvSpPr>
        <p:spPr>
          <a:xfrm>
            <a:off x="8890000" y="-1016000"/>
            <a:ext cx="4191000" cy="4191000"/>
          </a:xfrm>
          <a:prstGeom prst="ellipse">
            <a:avLst/>
          </a:prstGeom>
          <a:solidFill>
            <a:srgbClr val="39D7D2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844678B-C524-0F5A-1072-DDDC38E1024B}"/>
              </a:ext>
            </a:extLst>
          </p:cNvPr>
          <p:cNvSpPr/>
          <p:nvPr/>
        </p:nvSpPr>
        <p:spPr>
          <a:xfrm>
            <a:off x="-1016000" y="4889500"/>
            <a:ext cx="3556000" cy="3556000"/>
          </a:xfrm>
          <a:prstGeom prst="ellipse">
            <a:avLst/>
          </a:prstGeom>
          <a:solidFill>
            <a:srgbClr val="D6A23A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809C06-B69C-49CC-79E2-3BD9B7C9FFE1}"/>
              </a:ext>
            </a:extLst>
          </p:cNvPr>
          <p:cNvSpPr txBox="1"/>
          <p:nvPr/>
        </p:nvSpPr>
        <p:spPr>
          <a:xfrm>
            <a:off x="508000" y="381000"/>
            <a:ext cx="9398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5182D"/>
                </a:solidFill>
                <a:latin typeface="Aptos Display" panose="020B0004020202020204" pitchFamily="34" charset="0"/>
              </a:rPr>
              <a:t>Board Ask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18A5AB-BB03-2462-B183-7487709421E5}"/>
              </a:ext>
            </a:extLst>
          </p:cNvPr>
          <p:cNvSpPr txBox="1"/>
          <p:nvPr/>
        </p:nvSpPr>
        <p:spPr>
          <a:xfrm>
            <a:off x="533400" y="1016000"/>
            <a:ext cx="914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082748"/>
                </a:solidFill>
                <a:latin typeface="Aptos Display" panose="020B0004020202020204" pitchFamily="34" charset="0"/>
              </a:rPr>
              <a:t>Approve the platform as SAMCO digital project-control backbone and move from prototype power to enterprise control.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B359B7-CDFB-A901-2462-3BD8EF303DC9}"/>
              </a:ext>
            </a:extLst>
          </p:cNvPr>
          <p:cNvSpPr txBox="1"/>
          <p:nvPr/>
        </p:nvSpPr>
        <p:spPr>
          <a:xfrm>
            <a:off x="508000" y="64516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Designed &amp; Created | Engr. Ahmed Labib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951ED-F5A5-CBD5-6AC9-73A3A2C76295}"/>
              </a:ext>
            </a:extLst>
          </p:cNvPr>
          <p:cNvSpPr txBox="1"/>
          <p:nvPr/>
        </p:nvSpPr>
        <p:spPr>
          <a:xfrm>
            <a:off x="8890000" y="6451600"/>
            <a:ext cx="2794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700">
                <a:solidFill>
                  <a:srgbClr val="A5BED2"/>
                </a:solidFill>
                <a:latin typeface="Aptos Display" panose="020B0004020202020204" pitchFamily="34" charset="0"/>
              </a:rPr>
              <a:t>SAMCO Project Intelligence Hub | Board Control Plan | 11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8E1F50-1DC5-2622-3DEA-B4C72187FDD2}"/>
              </a:ext>
            </a:extLst>
          </p:cNvPr>
          <p:cNvSpPr/>
          <p:nvPr/>
        </p:nvSpPr>
        <p:spPr>
          <a:xfrm>
            <a:off x="1016000" y="1841500"/>
            <a:ext cx="3048000" cy="2984500"/>
          </a:xfrm>
          <a:prstGeom prst="roundRect">
            <a:avLst/>
          </a:prstGeom>
          <a:solidFill>
            <a:srgbClr val="082748"/>
          </a:solidFill>
          <a:ln>
            <a:solidFill>
              <a:srgbClr val="39D7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5CB0A-9499-DE0E-F669-9ADB66E227EC}"/>
              </a:ext>
            </a:extLst>
          </p:cNvPr>
          <p:cNvSpPr/>
          <p:nvPr/>
        </p:nvSpPr>
        <p:spPr>
          <a:xfrm>
            <a:off x="1168400" y="1993900"/>
            <a:ext cx="355600" cy="355600"/>
          </a:xfrm>
          <a:prstGeom prst="ellipse">
            <a:avLst/>
          </a:prstGeom>
          <a:solidFill>
            <a:srgbClr val="39D7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871C88-E78D-2A65-B263-5EBB2485325E}"/>
              </a:ext>
            </a:extLst>
          </p:cNvPr>
          <p:cNvSpPr txBox="1"/>
          <p:nvPr/>
        </p:nvSpPr>
        <p:spPr>
          <a:xfrm>
            <a:off x="1168400" y="20574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05182D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7CA2FB-0F72-7020-CDE6-1706BD818F88}"/>
              </a:ext>
            </a:extLst>
          </p:cNvPr>
          <p:cNvSpPr txBox="1"/>
          <p:nvPr/>
        </p:nvSpPr>
        <p:spPr>
          <a:xfrm>
            <a:off x="1651000" y="2019300"/>
            <a:ext cx="2692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Approve governance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8BA5E7-8B60-A5A7-9656-41F8BF145494}"/>
              </a:ext>
            </a:extLst>
          </p:cNvPr>
          <p:cNvSpPr txBox="1"/>
          <p:nvPr/>
        </p:nvSpPr>
        <p:spPr>
          <a:xfrm>
            <a:off x="1219200" y="2476500"/>
            <a:ext cx="2641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Authorize standard templates, project onboarding rules, data owners and monthly control pack.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65B4FD-439E-0E0F-5182-81582EBA3967}"/>
              </a:ext>
            </a:extLst>
          </p:cNvPr>
          <p:cNvSpPr/>
          <p:nvPr/>
        </p:nvSpPr>
        <p:spPr>
          <a:xfrm>
            <a:off x="4572000" y="1841500"/>
            <a:ext cx="3048000" cy="2984500"/>
          </a:xfrm>
          <a:prstGeom prst="roundRect">
            <a:avLst/>
          </a:prstGeom>
          <a:solidFill>
            <a:srgbClr val="082748"/>
          </a:solidFill>
          <a:ln>
            <a:solidFill>
              <a:srgbClr val="D6A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322BC6-9F73-F1EE-B6E0-49ED9DDF7CDA}"/>
              </a:ext>
            </a:extLst>
          </p:cNvPr>
          <p:cNvSpPr/>
          <p:nvPr/>
        </p:nvSpPr>
        <p:spPr>
          <a:xfrm>
            <a:off x="4724400" y="1993900"/>
            <a:ext cx="355600" cy="355600"/>
          </a:xfrm>
          <a:prstGeom prst="ellipse">
            <a:avLst/>
          </a:prstGeom>
          <a:solidFill>
            <a:srgbClr val="D6A2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B1B0A1-DE11-588C-BECD-702F49EB9788}"/>
              </a:ext>
            </a:extLst>
          </p:cNvPr>
          <p:cNvSpPr txBox="1"/>
          <p:nvPr/>
        </p:nvSpPr>
        <p:spPr>
          <a:xfrm>
            <a:off x="4724400" y="20574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05182D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0863D2-61CB-DD24-8529-536555087A9B}"/>
              </a:ext>
            </a:extLst>
          </p:cNvPr>
          <p:cNvSpPr txBox="1"/>
          <p:nvPr/>
        </p:nvSpPr>
        <p:spPr>
          <a:xfrm>
            <a:off x="5207000" y="2019300"/>
            <a:ext cx="2692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Approve integration path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344C1B-37A5-9BE8-827C-4031839AA964}"/>
              </a:ext>
            </a:extLst>
          </p:cNvPr>
          <p:cNvSpPr txBox="1"/>
          <p:nvPr/>
        </p:nvSpPr>
        <p:spPr>
          <a:xfrm>
            <a:off x="4775200" y="2476500"/>
            <a:ext cx="2641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Start with managed database and document-control connector, then add AI and P6 integration.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45FF6B6-F7DF-221A-EA04-908458E3CF5C}"/>
              </a:ext>
            </a:extLst>
          </p:cNvPr>
          <p:cNvSpPr/>
          <p:nvPr/>
        </p:nvSpPr>
        <p:spPr>
          <a:xfrm>
            <a:off x="8128000" y="1841500"/>
            <a:ext cx="3048000" cy="2984500"/>
          </a:xfrm>
          <a:prstGeom prst="roundRect">
            <a:avLst/>
          </a:prstGeom>
          <a:solidFill>
            <a:srgbClr val="082748"/>
          </a:solidFill>
          <a:ln>
            <a:solidFill>
              <a:srgbClr val="4ADE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DE084F5-32AC-672B-35D9-9F6330FB2BBD}"/>
              </a:ext>
            </a:extLst>
          </p:cNvPr>
          <p:cNvSpPr/>
          <p:nvPr/>
        </p:nvSpPr>
        <p:spPr>
          <a:xfrm>
            <a:off x="8280400" y="1993900"/>
            <a:ext cx="355600" cy="355600"/>
          </a:xfrm>
          <a:prstGeom prst="ellipse">
            <a:avLst/>
          </a:prstGeom>
          <a:solidFill>
            <a:srgbClr val="4ADE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69E0F3-1505-AEA2-D297-AA1D98DD293C}"/>
              </a:ext>
            </a:extLst>
          </p:cNvPr>
          <p:cNvSpPr txBox="1"/>
          <p:nvPr/>
        </p:nvSpPr>
        <p:spPr>
          <a:xfrm>
            <a:off x="8280400" y="2057400"/>
            <a:ext cx="3556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00" b="1">
                <a:solidFill>
                  <a:srgbClr val="05182D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C33615-829A-3E79-616C-C56FBFB23CF3}"/>
              </a:ext>
            </a:extLst>
          </p:cNvPr>
          <p:cNvSpPr txBox="1"/>
          <p:nvPr/>
        </p:nvSpPr>
        <p:spPr>
          <a:xfrm>
            <a:off x="8763000" y="2019300"/>
            <a:ext cx="2692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8FCFF"/>
                </a:solidFill>
                <a:latin typeface="Aptos Display" panose="020B0004020202020204" pitchFamily="34" charset="0"/>
              </a:rPr>
              <a:t>Approve adoption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1E431D-405B-4B84-981E-308567EE6468}"/>
              </a:ext>
            </a:extLst>
          </p:cNvPr>
          <p:cNvSpPr txBox="1"/>
          <p:nvPr/>
        </p:nvSpPr>
        <p:spPr>
          <a:xfrm>
            <a:off x="8331200" y="2476500"/>
            <a:ext cx="26416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A5BED2"/>
                </a:solidFill>
                <a:latin typeface="Aptos Display" panose="020B0004020202020204" pitchFamily="34" charset="0"/>
              </a:rPr>
              <a:t>Use the system as the single management control point for portfolio decisions and project deep dives.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B2F5DA-FAC9-310E-DE96-E999059F6EBF}"/>
              </a:ext>
            </a:extLst>
          </p:cNvPr>
          <p:cNvSpPr txBox="1"/>
          <p:nvPr/>
        </p:nvSpPr>
        <p:spPr>
          <a:xfrm>
            <a:off x="1143000" y="5461000"/>
            <a:ext cx="9906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5182D"/>
                </a:solidFill>
                <a:latin typeface="Aptos Display" panose="020B0004020202020204" pitchFamily="34" charset="0"/>
              </a:rPr>
              <a:t>The app can make SAMCO faster, more defensible, more organized and more credible - if governance becomes as strong as the technology.</a:t>
            </a:r>
          </a:p>
        </p:txBody>
      </p:sp>
    </p:spTree>
    <p:extLst>
      <p:ext uri="{BB962C8B-B14F-4D97-AF65-F5344CB8AC3E}">
        <p14:creationId xmlns:p14="http://schemas.microsoft.com/office/powerpoint/2010/main" val="297576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1286</Words>
  <Application>Microsoft Office PowerPoint</Application>
  <PresentationFormat>Custom</PresentationFormat>
  <Paragraphs>171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2026-07-28T00:48:29Z</dcterms:created>
  <dcterms:modified xsi:type="dcterms:W3CDTF">2026-07-28T00:48:29Z</dcterms:modified>
</cp:coreProperties>
</file>