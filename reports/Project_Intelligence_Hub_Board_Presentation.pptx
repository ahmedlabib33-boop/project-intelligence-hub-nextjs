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b08081d6994969" /><Relationship Type="http://schemas.openxmlformats.org/officeDocument/2006/relationships/extended-properties" Target="/docProps/app.xml" Id="R75a0b436b1e849ea" /><Relationship Type="http://schemas.openxmlformats.org/officeDocument/2006/relationships/officeDocument" Target="/ppt/presentation.xml" Id="R5a832d96d53445b2" /></Relationships>
</file>

<file path=ppt/presentation.xml><?xml version="1.0" encoding="utf-8"?>
<p:presentation xmlns:p="http://schemas.openxmlformats.org/presentationml/2006/main">
  <p:sldMasterIdLst>
    <p:sldMasterId xmlns:r="http://schemas.openxmlformats.org/officeDocument/2006/relationships" id="2147483648" r:id="R59d7e27ce0054498"/>
  </p:sldMasterIdLst>
  <p:notesMasterIdLst>
    <p:notesMasterId xmlns:r="http://schemas.openxmlformats.org/officeDocument/2006/relationships" r:id="Rc08a0a6589fc4744"/>
  </p:notesMasterIdLst>
  <p:sldIdLst>
    <p:sldId xmlns:r="http://schemas.openxmlformats.org/officeDocument/2006/relationships" id="256" r:id="R72398ce0b0de42f9"/>
    <p:sldId xmlns:r="http://schemas.openxmlformats.org/officeDocument/2006/relationships" id="257" r:id="Rf4a24f9b5952451c"/>
    <p:sldId xmlns:r="http://schemas.openxmlformats.org/officeDocument/2006/relationships" id="258" r:id="R82f0c83aa5234bce"/>
    <p:sldId xmlns:r="http://schemas.openxmlformats.org/officeDocument/2006/relationships" id="259" r:id="Rf1a4e1b5df0e4556"/>
    <p:sldId xmlns:r="http://schemas.openxmlformats.org/officeDocument/2006/relationships" id="260" r:id="Red7c9c1f310e49ba"/>
    <p:sldId xmlns:r="http://schemas.openxmlformats.org/officeDocument/2006/relationships" id="261" r:id="Rf3f03d81458c4612"/>
    <p:sldId xmlns:r="http://schemas.openxmlformats.org/officeDocument/2006/relationships" id="262" r:id="R14f885fcfa63474f"/>
    <p:sldId xmlns:r="http://schemas.openxmlformats.org/officeDocument/2006/relationships" id="263" r:id="Rff337239e5b04bbb"/>
    <p:sldId xmlns:r="http://schemas.openxmlformats.org/officeDocument/2006/relationships" id="264" r:id="Re2e4a798d95d4dbd"/>
    <p:sldId xmlns:r="http://schemas.openxmlformats.org/officeDocument/2006/relationships" id="265" r:id="Rb1a551fd10fe45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cf7369f4c4481b" /><Relationship Type="http://schemas.openxmlformats.org/officeDocument/2006/relationships/slideMaster" Target="/ppt/slideMasters/slideMaster1.xml" Id="R59d7e27ce0054498" /><Relationship Type="http://schemas.openxmlformats.org/officeDocument/2006/relationships/notesMaster" Target="/ppt/notesMasters/notesMaster1.xml" Id="Rc08a0a6589fc4744" /><Relationship Type="http://schemas.openxmlformats.org/officeDocument/2006/relationships/presProps" Target="/ppt/presProps.xml" Id="R809d716a529b4c47" /><Relationship Type="http://schemas.openxmlformats.org/officeDocument/2006/relationships/tableStyles" Target="/ppt/tableStyles.xml" Id="Rede8a94069654be6" /><Relationship Type="http://schemas.openxmlformats.org/officeDocument/2006/relationships/slide" Target="/ppt/slides/slide1.xml" Id="R72398ce0b0de42f9" /><Relationship Type="http://schemas.openxmlformats.org/officeDocument/2006/relationships/slide" Target="/ppt/slides/slide2.xml" Id="Rf4a24f9b5952451c" /><Relationship Type="http://schemas.openxmlformats.org/officeDocument/2006/relationships/slide" Target="/ppt/slides/slide3.xml" Id="R82f0c83aa5234bce" /><Relationship Type="http://schemas.openxmlformats.org/officeDocument/2006/relationships/slide" Target="/ppt/slides/slide4.xml" Id="Rf1a4e1b5df0e4556" /><Relationship Type="http://schemas.openxmlformats.org/officeDocument/2006/relationships/slide" Target="/ppt/slides/slide5.xml" Id="Red7c9c1f310e49ba" /><Relationship Type="http://schemas.openxmlformats.org/officeDocument/2006/relationships/slide" Target="/ppt/slides/slide6.xml" Id="Rf3f03d81458c4612" /><Relationship Type="http://schemas.openxmlformats.org/officeDocument/2006/relationships/slide" Target="/ppt/slides/slide7.xml" Id="R14f885fcfa63474f" /><Relationship Type="http://schemas.openxmlformats.org/officeDocument/2006/relationships/slide" Target="/ppt/slides/slide8.xml" Id="Rff337239e5b04bbb" /><Relationship Type="http://schemas.openxmlformats.org/officeDocument/2006/relationships/slide" Target="/ppt/slides/slide9.xml" Id="Re2e4a798d95d4dbd" /><Relationship Type="http://schemas.openxmlformats.org/officeDocument/2006/relationships/slide" Target="/ppt/slides/slide10.xml" Id="Rb1a551fd10fe45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1953c39c0a43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16b24e9b454e6d" /><Relationship Type="http://schemas.openxmlformats.org/officeDocument/2006/relationships/notesMaster" Target="/ppt/notesMasters/notesMaster1.xml" Id="R167055a089ad4b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57f3ed991c42cc" /><Relationship Type="http://schemas.openxmlformats.org/officeDocument/2006/relationships/notesMaster" Target="/ppt/notesMasters/notesMaster1.xml" Id="R95aced9e588e4a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5cb3fcb6ff4006" /><Relationship Type="http://schemas.openxmlformats.org/officeDocument/2006/relationships/notesMaster" Target="/ppt/notesMasters/notesMaster1.xml" Id="Rf8d19895334845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6455f96104428e" /><Relationship Type="http://schemas.openxmlformats.org/officeDocument/2006/relationships/notesMaster" Target="/ppt/notesMasters/notesMaster1.xml" Id="Rfcbad866d7054e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f2458c43794bf3" /><Relationship Type="http://schemas.openxmlformats.org/officeDocument/2006/relationships/notesMaster" Target="/ppt/notesMasters/notesMaster1.xml" Id="R7f5ff3ac111347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1e4c9746374118" /><Relationship Type="http://schemas.openxmlformats.org/officeDocument/2006/relationships/notesMaster" Target="/ppt/notesMasters/notesMaster1.xml" Id="Rde9693c4bd554f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522de2e8f84bc0" /><Relationship Type="http://schemas.openxmlformats.org/officeDocument/2006/relationships/notesMaster" Target="/ppt/notesMasters/notesMaster1.xml" Id="Rac8128fbe5b54a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8cdc19686a4093" /><Relationship Type="http://schemas.openxmlformats.org/officeDocument/2006/relationships/notesMaster" Target="/ppt/notesMasters/notesMaster1.xml" Id="R4c73a4162ee442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fe4ac2373b4b5c" /><Relationship Type="http://schemas.openxmlformats.org/officeDocument/2006/relationships/notesMaster" Target="/ppt/notesMasters/notesMaster1.xml" Id="R79ea33aa847f46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e86b45d13841d7" /><Relationship Type="http://schemas.openxmlformats.org/officeDocument/2006/relationships/notesMaster" Target="/ppt/notesMasters/notesMaster1.xml" Id="R42bb1f7f232249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Local portfolio.json and project payloads.</a:t>
            </a:r>
          </a:p>
          <a:p xmlns:a="http://schemas.openxmlformats.org/drawingml/2006/main">
            <a:r>
              <a:t>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website/public/data/portfolio.json</a:t>
            </a:r>
          </a:p>
          <a:p xmlns:a="http://schemas.openxmlformats.org/drawingml/2006/main">
            <a:r>
              <a:t>12-logs/guardrail_report_latest.md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tools/generate_nextjs_website_data.py</a:t>
            </a:r>
          </a:p>
          <a:p xmlns:a="http://schemas.openxmlformats.org/drawingml/2006/main">
            <a:r>
              <a:t>tools/validate_streamlit_vercel_pipeline.py</a:t>
            </a:r>
          </a:p>
          <a:p xmlns:a="http://schemas.openxmlformats.org/drawingml/2006/main">
            <a:r>
              <a:t>tools/vercel_project_pipeline.ps1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core/project_context.py / project manifests</a:t>
            </a:r>
          </a:p>
          <a:p xmlns:a="http://schemas.openxmlformats.org/drawingml/2006/main">
            <a:r>
              <a:t>tools/validate_project_isolation.py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website/public/data/portfolio.json</a:t>
            </a:r>
          </a:p>
          <a:p xmlns:a="http://schemas.openxmlformats.org/drawingml/2006/main">
            <a:r>
              <a:t>website/src/app/page.tsx</a:t>
            </a:r>
          </a:p>
          <a:p xmlns:a="http://schemas.openxmlformats.org/drawingml/2006/main">
            <a:r>
              <a:t>Charts design/samco_dashboard_charts.html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User-provided chart-reference screenshots.</a:t>
            </a:r>
          </a:p>
          <a:p xmlns:a="http://schemas.openxmlformats.org/drawingml/2006/main">
            <a:r>
              <a:t>website/src/app/page.tsx</a:t>
            </a:r>
          </a:p>
          <a:p xmlns:a="http://schemas.openxmlformats.org/drawingml/2006/main">
            <a:r>
              <a:t>tools/project_chart_payloads.py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projects/ folder structure</a:t>
            </a:r>
          </a:p>
          <a:p xmlns:a="http://schemas.openxmlformats.org/drawingml/2006/main">
            <a:r>
              <a:t>tools/validate_project_isolation.py</a:t>
            </a:r>
          </a:p>
          <a:p xmlns:a="http://schemas.openxmlformats.org/drawingml/2006/main">
            <a:r>
              <a:t>tools/generate_nextjs_website_data.py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website/src/app/api/analyze-delay/route.ts</a:t>
            </a:r>
          </a:p>
          <a:p xmlns:a="http://schemas.openxmlformats.org/drawingml/2006/main">
            <a:r>
              <a:t>website/src/lib/ai/project-context.ts</a:t>
            </a:r>
          </a:p>
          <a:p xmlns:a="http://schemas.openxmlformats.org/drawingml/2006/main">
            <a:r>
              <a:t>knowledge/technical_question_bank/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src/construction_system/tia_source_governance.py</a:t>
            </a:r>
          </a:p>
          <a:p xmlns:a="http://schemas.openxmlformats.org/drawingml/2006/main">
            <a:r>
              <a:t>src/construction_system/tia_report_engine.py</a:t>
            </a:r>
          </a:p>
          <a:p xmlns:a="http://schemas.openxmlformats.org/drawingml/2006/main">
            <a:r>
              <a:t>Selected project delay-analysis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Board brief and operating pipeline validation results.</a:t>
            </a:r>
          </a:p>
          <a:p xmlns:a="http://schemas.openxmlformats.org/drawingml/2006/main">
            <a:r>
              <a:t>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74fdc5963348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caf45377224798" /><Relationship Type="http://schemas.openxmlformats.org/officeDocument/2006/relationships/slideLayout" Target="/ppt/slideLayouts/slideLayout1.xml" Id="Ra3ad0ad8c9974c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ad0ad8c9974c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b3443219364534" /><Relationship Type="http://schemas.openxmlformats.org/officeDocument/2006/relationships/notesSlide" Target="/ppt/notesSlides/notesSlide1.xml" Id="Rf73e5f5fc0ad4f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5bfa4ed1854fef" /><Relationship Type="http://schemas.openxmlformats.org/officeDocument/2006/relationships/notesSlide" Target="/ppt/notesSlides/notesSlide2.xml" Id="R22e49996c49446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cdc82996da4f90" /><Relationship Type="http://schemas.openxmlformats.org/officeDocument/2006/relationships/notesSlide" Target="/ppt/notesSlides/notesSlide3.xml" Id="R6315f0581fa644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5aa1ef631146a0" /><Relationship Type="http://schemas.openxmlformats.org/officeDocument/2006/relationships/notesSlide" Target="/ppt/notesSlides/notesSlide4.xml" Id="Ra98fbb42fe7d46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aa8c851d7f4225" /><Relationship Type="http://schemas.openxmlformats.org/officeDocument/2006/relationships/chart" Target="/ppt/slides/charts/chart1.xml" Id="R8109dc01becd41b0" /><Relationship Type="http://schemas.openxmlformats.org/officeDocument/2006/relationships/notesSlide" Target="/ppt/notesSlides/notesSlide5.xml" Id="R5043ccc89fa941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8d690b9bdf46b5" /><Relationship Type="http://schemas.openxmlformats.org/officeDocument/2006/relationships/image" Target="/ppt/media/image.png" Id="R0f331c0c0cc34a00" /><Relationship Type="http://schemas.openxmlformats.org/officeDocument/2006/relationships/image" Target="/ppt/media/image2.png" Id="R3094ddff5216439b" /><Relationship Type="http://schemas.openxmlformats.org/officeDocument/2006/relationships/image" Target="/ppt/media/image3.png" Id="R6bf2164ddf154327" /><Relationship Type="http://schemas.openxmlformats.org/officeDocument/2006/relationships/notesSlide" Target="/ppt/notesSlides/notesSlide6.xml" Id="Ree2172da59ec4c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a32ba4814f4b7e" /><Relationship Type="http://schemas.openxmlformats.org/officeDocument/2006/relationships/notesSlide" Target="/ppt/notesSlides/notesSlide7.xml" Id="R9bc1ecdc03e14d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76f0e6fe1b464e" /><Relationship Type="http://schemas.openxmlformats.org/officeDocument/2006/relationships/notesSlide" Target="/ppt/notesSlides/notesSlide8.xml" Id="R30f4b58b684c45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7fb8d8e4fd40e1" /><Relationship Type="http://schemas.openxmlformats.org/officeDocument/2006/relationships/notesSlide" Target="/ppt/notesSlides/notesSlide9.xml" Id="R063276fbb83547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cf55673e964f74" /><Relationship Type="http://schemas.openxmlformats.org/officeDocument/2006/relationships/notesSlide" Target="/ppt/notesSlides/notesSlide10.xml" Id="R59df32da009c4eba" /></Relationships>
</file>

<file path=ppt/slides/charts/chart1.xml><?xml version="1.0" encoding="utf-8"?>
<c:chartSpace xmlns:c="http://schemas.openxmlformats.org/drawingml/2006/chart">
  <c:lang val="en-US"/>
  <c:chart>
    <c:plotArea>
      <c:barChart>
        <c:barDir val="col"/>
        <c:varyColors val="0"/>
        <c:ser>
          <c:idx val="0"/>
          <c:order val="0"/>
          <c:tx>
            <c:v>Projects</c:v>
          </c:tx>
          <c:spPr>
            <a:solidFill xmlns:a="http://schemas.openxmlformats.org/drawingml/2006/main">
              <a:srgbClr val="16C9E8"/>
            </a:solidFill>
          </c:spPr>
          <c:cat>
            <c:strLit>
              <c:ptCount val="3"/>
              <c:pt idx="0">
                <c:v>Bridges</c:v>
              </c:pt>
              <c:pt idx="1">
                <c:v>Buildings</c:v>
              </c:pt>
              <c:pt idx="2">
                <c:v>Tunnels</c:v>
              </c:pt>
            </c:strLit>
          </c:cat>
          <c:val>
            <c:numLit>
              <c:formatCode>General</c:formatCode>
              <c:ptCount val="3"/>
              <c:pt idx="0">
                <c:v>1</c:v>
              </c:pt>
              <c:pt idx="1">
                <c:v>2</c:v>
              </c:pt>
              <c:pt idx="2">
                <c:v>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23425F"/>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034E2B-40D3-4FF6-ABDC-59651F2BBCBC}"/>
              </a:ext>
            </a:extLst>
          </p:cNvPr>
          <p:cNvSpPr>
            <a:spLocks xmlns:a="http://schemas.openxmlformats.org/drawingml/2006/main" noGrp="1"/>
          </p:cNvSpPr>
          <p:nvPr/>
        </p:nvSpPr>
        <p:spPr>
          <a:xfrm xmlns:a="http://schemas.openxmlformats.org/drawingml/2006/main">
            <a:off x="609600" y="5524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6C9E8"/>
                </a:solidFill>
              </a:defRPr>
            </a:pPr>
            <a:r>
              <a:rPr sz="1125" b="1">
                <a:solidFill>
                  <a:srgbClr val="16C9E8"/>
                </a:solidFill>
              </a:rPr>
              <a:t>SAMCO EGYPT</a:t>
            </a:r>
          </a:p>
        </p:txBody>
      </p:sp>
      <p:sp>
        <p:nvSpPr>
          <p:cNvPr id="2" name="">
            <a:extLst xmlns:a="http://schemas.openxmlformats.org/drawingml/2006/main">
              <a:ext uri="{FF2B5EF4-FFF2-40B4-BE49-F238E27FC236}">
                <a16:creationId xmlns:a16="http://schemas.microsoft.com/office/drawing/2014/main" id="{72945532-48D6-4035-B105-3D7078A6B4E2}"/>
              </a:ext>
            </a:extLst>
          </p:cNvPr>
          <p:cNvSpPr>
            <a:spLocks xmlns:a="http://schemas.openxmlformats.org/drawingml/2006/main" noGrp="1"/>
          </p:cNvSpPr>
          <p:nvPr/>
        </p:nvSpPr>
        <p:spPr>
          <a:xfrm xmlns:a="http://schemas.openxmlformats.org/drawingml/2006/main">
            <a:off x="609600" y="1524000"/>
            <a:ext cx="809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350" b="1">
                <a:solidFill>
                  <a:srgbClr val="F4F8FC"/>
                </a:solidFill>
              </a:defRPr>
            </a:pPr>
            <a:r>
              <a:rPr sz="4350" b="1">
                <a:solidFill>
                  <a:srgbClr val="F4F8FC"/>
                </a:solidFill>
              </a:rPr>
              <a:t>Project Intelligence Hub</a:t>
            </a:r>
          </a:p>
        </p:txBody>
      </p:sp>
      <p:sp>
        <p:nvSpPr>
          <p:cNvPr id="3" name="">
            <a:extLst xmlns:a="http://schemas.openxmlformats.org/drawingml/2006/main">
              <a:ext uri="{FF2B5EF4-FFF2-40B4-BE49-F238E27FC236}">
                <a16:creationId xmlns:a16="http://schemas.microsoft.com/office/drawing/2014/main" id="{A2F12525-9CDE-4682-8E43-16B02EAEEAF6}"/>
              </a:ext>
            </a:extLst>
          </p:cNvPr>
          <p:cNvSpPr>
            <a:spLocks xmlns:a="http://schemas.openxmlformats.org/drawingml/2006/main" noGrp="1"/>
          </p:cNvSpPr>
          <p:nvPr/>
        </p:nvSpPr>
        <p:spPr>
          <a:xfrm xmlns:a="http://schemas.openxmlformats.org/drawingml/2006/main">
            <a:off x="647700" y="2438400"/>
            <a:ext cx="7524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A8B9CA"/>
                </a:solidFill>
              </a:defRPr>
            </a:pPr>
            <a:r>
              <a:rPr sz="1725">
                <a:solidFill>
                  <a:srgbClr val="A8B9CA"/>
                </a:solidFill>
              </a:rPr>
              <a:t>Board presentation: source-governed decision intelligence, project isolation, and controlled publishing.</a:t>
            </a:r>
          </a:p>
        </p:txBody>
      </p:sp>
      <p:sp>
        <p:nvSpPr>
          <p:cNvPr id="4" name="">
            <a:extLst xmlns:a="http://schemas.openxmlformats.org/drawingml/2006/main">
              <a:ext uri="{FF2B5EF4-FFF2-40B4-BE49-F238E27FC236}">
                <a16:creationId xmlns:a16="http://schemas.microsoft.com/office/drawing/2014/main" id="{B75D34C9-404C-4D27-8193-22EBC1293482}"/>
              </a:ext>
            </a:extLst>
          </p:cNvPr>
          <p:cNvSpPr>
            <a:spLocks xmlns:a="http://schemas.openxmlformats.org/drawingml/2006/main" noGrp="1"/>
          </p:cNvSpPr>
          <p:nvPr/>
        </p:nvSpPr>
        <p:spPr>
          <a:xfrm xmlns:a="http://schemas.openxmlformats.org/drawingml/2006/main">
            <a:off x="609600" y="3771900"/>
            <a:ext cx="9715500" cy="1238250"/>
          </a:xfrm>
          <a:prstGeom xmlns:a="http://schemas.openxmlformats.org/drawingml/2006/main" prst="roundRect">
            <a:avLst>
              <a:gd name="adj" fmla="val 9231"/>
            </a:avLst>
          </a:prstGeom>
          <a:solidFill xmlns:a="http://schemas.openxmlformats.org/drawingml/2006/main">
            <a:srgbClr val="0D1B30"/>
          </a:solidFill>
          <a:ln xmlns:a="http://schemas.openxmlformats.org/drawingml/2006/main" w="9525">
            <a:solidFill>
              <a:srgbClr val="23425F"/>
            </a:solidFill>
            <a:prstDash val="solid"/>
          </a:ln>
        </p:spPr>
      </p:sp>
      <p:sp>
        <p:nvSpPr>
          <p:cNvPr id="5" name="">
            <a:extLst xmlns:a="http://schemas.openxmlformats.org/drawingml/2006/main">
              <a:ext uri="{FF2B5EF4-FFF2-40B4-BE49-F238E27FC236}">
                <a16:creationId xmlns:a16="http://schemas.microsoft.com/office/drawing/2014/main" id="{6391EC49-C3E8-4577-BBA8-836C0ECA5063}"/>
              </a:ext>
            </a:extLst>
          </p:cNvPr>
          <p:cNvSpPr>
            <a:spLocks xmlns:a="http://schemas.openxmlformats.org/drawingml/2006/main" noGrp="1"/>
          </p:cNvSpPr>
          <p:nvPr/>
        </p:nvSpPr>
        <p:spPr>
          <a:xfrm xmlns:a="http://schemas.openxmlformats.org/drawingml/2006/main">
            <a:off x="933450" y="4114800"/>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a:solidFill>
                  <a:srgbClr val="F4F8FC"/>
                </a:solidFill>
              </a:defRPr>
            </a:pPr>
            <a:r>
              <a:rPr sz="1875">
                <a:solidFill>
                  <a:srgbClr val="F4F8FC"/>
                </a:solidFill>
              </a:rPr>
              <a:t>The platform keeps source data separate by project, calculates through the canonical control layer, and publishes only verified payloads to management views.</a:t>
            </a:r>
          </a:p>
        </p:txBody>
      </p:sp>
      <p:sp>
        <p:nvSpPr>
          <p:cNvPr id="6" name="">
            <a:extLst xmlns:a="http://schemas.openxmlformats.org/drawingml/2006/main">
              <a:ext uri="{FF2B5EF4-FFF2-40B4-BE49-F238E27FC236}">
                <a16:creationId xmlns:a16="http://schemas.microsoft.com/office/drawing/2014/main" id="{0AE81CDA-4D5E-4452-9206-4A48CF0776B3}"/>
              </a:ext>
            </a:extLst>
          </p:cNvPr>
          <p:cNvSpPr>
            <a:spLocks xmlns:a="http://schemas.openxmlformats.org/drawingml/2006/main" noGrp="1"/>
          </p:cNvSpPr>
          <p:nvPr/>
        </p:nvSpPr>
        <p:spPr>
          <a:xfrm xmlns:a="http://schemas.openxmlformats.org/drawingml/2006/main">
            <a:off x="609600" y="61912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A8B9CA"/>
                </a:solidFill>
              </a:defRPr>
            </a:pPr>
            <a:r>
              <a:rPr sz="900">
                <a:solidFill>
                  <a:srgbClr val="A8B9CA"/>
                </a:solidFill>
              </a:rPr>
              <a:t>Designed &amp; Created |</a:t>
            </a:r>
          </a:p>
        </p:txBody>
      </p:sp>
      <p:sp>
        <p:nvSpPr>
          <p:cNvPr id="7" name="">
            <a:extLst xmlns:a="http://schemas.openxmlformats.org/drawingml/2006/main">
              <a:ext uri="{FF2B5EF4-FFF2-40B4-BE49-F238E27FC236}">
                <a16:creationId xmlns:a16="http://schemas.microsoft.com/office/drawing/2014/main" id="{FDA6C8B1-0C4E-4A15-A015-87507CC4D437}"/>
              </a:ext>
            </a:extLst>
          </p:cNvPr>
          <p:cNvSpPr>
            <a:spLocks xmlns:a="http://schemas.openxmlformats.org/drawingml/2006/main" noGrp="1"/>
          </p:cNvSpPr>
          <p:nvPr/>
        </p:nvSpPr>
        <p:spPr>
          <a:xfrm xmlns:a="http://schemas.openxmlformats.org/drawingml/2006/main">
            <a:off x="1990725" y="61912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6C9E8"/>
                </a:solidFill>
              </a:defRPr>
            </a:pPr>
            <a:r>
              <a:rPr sz="900" b="1">
                <a:solidFill>
                  <a:srgbClr val="16C9E8"/>
                </a:solidFill>
              </a:rPr>
              <a:t>Engr. Ahmed Labib</a:t>
            </a:r>
          </a:p>
        </p:txBody>
      </p:sp>
    </p:spTree>
    <p:extLst>
      <p:ext uri="{BB962C8B-B14F-4D97-AF65-F5344CB8AC3E}">
        <p14:creationId xmlns:p14="http://schemas.microsoft.com/office/powerpoint/2010/main" val="2120920382"/>
      </p:ext>
    </p:extLst>
  </p:cSld>
</p:sld>
</file>

<file path=ppt/slides/slide2.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1D8CF3B-56FC-4F93-91EB-3301B16A34A8}"/>
              </a:ext>
            </a:extLst>
          </p:cNvPr>
          <p:cNvSpPr>
            <a:spLocks xmlns:a="http://schemas.openxmlformats.org/drawingml/2006/main" noGrp="1"/>
          </p:cNvSpPr>
          <p:nvPr/>
        </p:nvSpPr>
        <p:spPr>
          <a:xfrm xmlns:a="http://schemas.openxmlformats.org/drawingml/2006/main">
            <a:off x="609600" y="400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6C9E8"/>
                </a:solidFill>
              </a:defRPr>
            </a:pPr>
            <a:r>
              <a:rPr sz="975" b="1">
                <a:solidFill>
                  <a:srgbClr val="16C9E8"/>
                </a:solidFill>
              </a:rPr>
              <a:t>BOARD VIEW</a:t>
            </a:r>
          </a:p>
        </p:txBody>
      </p:sp>
      <p:sp>
        <p:nvSpPr>
          <p:cNvPr id="2" name="">
            <a:extLst xmlns:a="http://schemas.openxmlformats.org/drawingml/2006/main">
              <a:ext uri="{FF2B5EF4-FFF2-40B4-BE49-F238E27FC236}">
                <a16:creationId xmlns:a16="http://schemas.microsoft.com/office/drawing/2014/main" id="{8E563370-57DB-4261-9BF8-D488955E3B13}"/>
              </a:ext>
            </a:extLst>
          </p:cNvPr>
          <p:cNvSpPr>
            <a:spLocks xmlns:a="http://schemas.openxmlformats.org/drawingml/2006/main" noGrp="1"/>
          </p:cNvSpPr>
          <p:nvPr/>
        </p:nvSpPr>
        <p:spPr>
          <a:xfrm xmlns:a="http://schemas.openxmlformats.org/drawingml/2006/main">
            <a:off x="609600" y="6858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4F8FC"/>
                </a:solidFill>
              </a:defRPr>
            </a:pPr>
            <a:r>
              <a:rPr sz="2550" b="1">
                <a:solidFill>
                  <a:srgbClr val="F4F8FC"/>
                </a:solidFill>
              </a:rPr>
              <a:t>Evidence becomes a controlled management view</a:t>
            </a:r>
          </a:p>
        </p:txBody>
      </p:sp>
      <p:sp>
        <p:nvSpPr>
          <p:cNvPr id="3" name="">
            <a:extLst xmlns:a="http://schemas.openxmlformats.org/drawingml/2006/main">
              <a:ext uri="{FF2B5EF4-FFF2-40B4-BE49-F238E27FC236}">
                <a16:creationId xmlns:a16="http://schemas.microsoft.com/office/drawing/2014/main" id="{5F0256FF-7501-4BF7-8408-14B429540037}"/>
              </a:ext>
            </a:extLst>
          </p:cNvPr>
          <p:cNvSpPr>
            <a:spLocks xmlns:a="http://schemas.openxmlformats.org/drawingml/2006/main" noGrp="1"/>
          </p:cNvSpPr>
          <p:nvPr/>
        </p:nvSpPr>
        <p:spPr>
          <a:xfrm xmlns:a="http://schemas.openxmlformats.org/drawingml/2006/main">
            <a:off x="609600" y="12573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A8B9CA"/>
                </a:solidFill>
              </a:defRPr>
            </a:pPr>
            <a:r>
              <a:rPr sz="1275">
                <a:solidFill>
                  <a:srgbClr val="A8B9CA"/>
                </a:solidFill>
              </a:rPr>
              <a:t>Portfolio signals are aggregated only after every source remains inside its own project boundary.</a:t>
            </a:r>
          </a:p>
        </p:txBody>
      </p:sp>
      <p:sp>
        <p:nvSpPr>
          <p:cNvPr id="4" name="">
            <a:extLst xmlns:a="http://schemas.openxmlformats.org/drawingml/2006/main">
              <a:ext uri="{FF2B5EF4-FFF2-40B4-BE49-F238E27FC236}">
                <a16:creationId xmlns:a16="http://schemas.microsoft.com/office/drawing/2014/main" id="{5D8E9993-0908-408D-B1F2-AFADE6120BA1}"/>
              </a:ext>
            </a:extLst>
          </p:cNvPr>
          <p:cNvSpPr>
            <a:spLocks xmlns:a="http://schemas.openxmlformats.org/drawingml/2006/main" noGrp="1"/>
          </p:cNvSpPr>
          <p:nvPr/>
        </p:nvSpPr>
        <p:spPr>
          <a:xfrm xmlns:a="http://schemas.openxmlformats.org/drawingml/2006/main">
            <a:off x="9525000" y="4381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8B9CA"/>
                </a:solidFill>
              </a:defRPr>
            </a:pPr>
            <a:r>
              <a:rPr sz="750" b="1">
                <a:solidFill>
                  <a:srgbClr val="A8B9CA"/>
                </a:solidFill>
              </a:rPr>
              <a:t>SAMCO PROJECT INTELLIGENCE HUB  |  02</a:t>
            </a:r>
          </a:p>
        </p:txBody>
      </p:sp>
      <p:sp>
        <p:nvSpPr>
          <p:cNvPr id="5" name="">
            <a:extLst xmlns:a="http://schemas.openxmlformats.org/drawingml/2006/main">
              <a:ext uri="{FF2B5EF4-FFF2-40B4-BE49-F238E27FC236}">
                <a16:creationId xmlns:a16="http://schemas.microsoft.com/office/drawing/2014/main" id="{56D123BB-712F-40B5-9FB6-D7542DC74C5F}"/>
              </a:ext>
            </a:extLst>
          </p:cNvPr>
          <p:cNvSpPr>
            <a:spLocks xmlns:a="http://schemas.openxmlformats.org/drawingml/2006/main" noGrp="1"/>
          </p:cNvSpPr>
          <p:nvPr/>
        </p:nvSpPr>
        <p:spPr>
          <a:xfrm xmlns:a="http://schemas.openxmlformats.org/drawingml/2006/main">
            <a:off x="609600" y="1695450"/>
            <a:ext cx="10972800" cy="9525"/>
          </a:xfrm>
          <a:prstGeom xmlns:a="http://schemas.openxmlformats.org/drawingml/2006/main" prst="rect">
            <a:avLst/>
          </a:prstGeom>
          <a:solidFill xmlns:a="http://schemas.openxmlformats.org/drawingml/2006/main">
            <a:srgbClr val="23425F"/>
          </a:solidFill>
          <a:ln xmlns:a="http://schemas.openxmlformats.org/drawingml/2006/main" w="0">
            <a:solidFill>
              <a:srgbClr val="23425F"/>
            </a:solidFill>
            <a:prstDash val="solid"/>
          </a:ln>
        </p:spPr>
      </p:sp>
      <p:sp>
        <p:nvSpPr>
          <p:cNvPr id="6" name="">
            <a:extLst xmlns:a="http://schemas.openxmlformats.org/drawingml/2006/main">
              <a:ext uri="{FF2B5EF4-FFF2-40B4-BE49-F238E27FC236}">
                <a16:creationId xmlns:a16="http://schemas.microsoft.com/office/drawing/2014/main" id="{B594EC79-DBF6-4EAF-9541-A36E9FFA1A78}"/>
              </a:ext>
            </a:extLst>
          </p:cNvPr>
          <p:cNvSpPr>
            <a:spLocks xmlns:a="http://schemas.openxmlformats.org/drawingml/2006/main" noGrp="1"/>
          </p:cNvSpPr>
          <p:nvPr/>
        </p:nvSpPr>
        <p:spPr>
          <a:xfrm xmlns:a="http://schemas.openxmlformats.org/drawingml/2006/main">
            <a:off x="609600" y="2095500"/>
            <a:ext cx="2428875" cy="1162050"/>
          </a:xfrm>
          <a:prstGeom xmlns:a="http://schemas.openxmlformats.org/drawingml/2006/main" prst="roundRect">
            <a:avLst>
              <a:gd name="adj" fmla="val 9836"/>
            </a:avLst>
          </a:prstGeom>
          <a:solidFill xmlns:a="http://schemas.openxmlformats.org/drawingml/2006/main">
            <a:srgbClr val="10233B"/>
          </a:solidFill>
          <a:ln xmlns:a="http://schemas.openxmlformats.org/drawingml/2006/main" w="9525">
            <a:solidFill>
              <a:srgbClr val="23425F"/>
            </a:solidFill>
            <a:prstDash val="solid"/>
          </a:ln>
        </p:spPr>
      </p:sp>
      <p:sp>
        <p:nvSpPr>
          <p:cNvPr id="7" name="">
            <a:extLst xmlns:a="http://schemas.openxmlformats.org/drawingml/2006/main">
              <a:ext uri="{FF2B5EF4-FFF2-40B4-BE49-F238E27FC236}">
                <a16:creationId xmlns:a16="http://schemas.microsoft.com/office/drawing/2014/main" id="{94FAB949-8EF4-469B-A5E0-3A4B91A1CBBA}"/>
              </a:ext>
            </a:extLst>
          </p:cNvPr>
          <p:cNvSpPr>
            <a:spLocks xmlns:a="http://schemas.openxmlformats.org/drawingml/2006/main" noGrp="1"/>
          </p:cNvSpPr>
          <p:nvPr/>
        </p:nvSpPr>
        <p:spPr>
          <a:xfrm xmlns:a="http://schemas.openxmlformats.org/drawingml/2006/main">
            <a:off x="781050" y="2266950"/>
            <a:ext cx="361950" cy="28575"/>
          </a:xfrm>
          <a:prstGeom xmlns:a="http://schemas.openxmlformats.org/drawingml/2006/main" prst="rect">
            <a:avLst/>
          </a:prstGeom>
          <a:solidFill xmlns:a="http://schemas.openxmlformats.org/drawingml/2006/main">
            <a:srgbClr val="16C9E8"/>
          </a:solidFill>
          <a:ln xmlns:a="http://schemas.openxmlformats.org/drawingml/2006/main" w="0">
            <a:solidFill>
              <a:srgbClr val="16C9E8"/>
            </a:solidFill>
            <a:prstDash val="solid"/>
          </a:ln>
        </p:spPr>
      </p:sp>
      <p:sp>
        <p:nvSpPr>
          <p:cNvPr id="8" name="">
            <a:extLst xmlns:a="http://schemas.openxmlformats.org/drawingml/2006/main">
              <a:ext uri="{FF2B5EF4-FFF2-40B4-BE49-F238E27FC236}">
                <a16:creationId xmlns:a16="http://schemas.microsoft.com/office/drawing/2014/main" id="{017CC479-47AF-44CC-8D7F-818182C922BE}"/>
              </a:ext>
            </a:extLst>
          </p:cNvPr>
          <p:cNvSpPr>
            <a:spLocks xmlns:a="http://schemas.openxmlformats.org/drawingml/2006/main" noGrp="1"/>
          </p:cNvSpPr>
          <p:nvPr/>
        </p:nvSpPr>
        <p:spPr>
          <a:xfrm xmlns:a="http://schemas.openxmlformats.org/drawingml/2006/main">
            <a:off x="781050" y="2419350"/>
            <a:ext cx="20859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A8B9CA"/>
                </a:solidFill>
              </a:defRPr>
            </a:pPr>
            <a:r>
              <a:rPr sz="750" b="1">
                <a:solidFill>
                  <a:srgbClr val="A8B9CA"/>
                </a:solidFill>
              </a:rPr>
              <a:t>RECOGNIZED PROJECTS</a:t>
            </a:r>
          </a:p>
        </p:txBody>
      </p:sp>
      <p:sp>
        <p:nvSpPr>
          <p:cNvPr id="9" name="">
            <a:extLst xmlns:a="http://schemas.openxmlformats.org/drawingml/2006/main">
              <a:ext uri="{FF2B5EF4-FFF2-40B4-BE49-F238E27FC236}">
                <a16:creationId xmlns:a16="http://schemas.microsoft.com/office/drawing/2014/main" id="{B187BDC5-BDFE-4772-858D-930ED1EA6D7E}"/>
              </a:ext>
            </a:extLst>
          </p:cNvPr>
          <p:cNvSpPr>
            <a:spLocks xmlns:a="http://schemas.openxmlformats.org/drawingml/2006/main" noGrp="1"/>
          </p:cNvSpPr>
          <p:nvPr/>
        </p:nvSpPr>
        <p:spPr>
          <a:xfrm xmlns:a="http://schemas.openxmlformats.org/drawingml/2006/main">
            <a:off x="781050" y="2638425"/>
            <a:ext cx="2085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4F8FC"/>
                </a:solidFill>
              </a:defRPr>
            </a:pPr>
            <a:r>
              <a:rPr sz="1875" b="1">
                <a:solidFill>
                  <a:srgbClr val="F4F8FC"/>
                </a:solidFill>
              </a:rPr>
              <a:t>4</a:t>
            </a:r>
          </a:p>
        </p:txBody>
      </p:sp>
      <p:sp>
        <p:nvSpPr>
          <p:cNvPr id="10" name="">
            <a:extLst xmlns:a="http://schemas.openxmlformats.org/drawingml/2006/main">
              <a:ext uri="{FF2B5EF4-FFF2-40B4-BE49-F238E27FC236}">
                <a16:creationId xmlns:a16="http://schemas.microsoft.com/office/drawing/2014/main" id="{52E411B0-1B39-4B6B-81E8-17EA313BA7D8}"/>
              </a:ext>
            </a:extLst>
          </p:cNvPr>
          <p:cNvSpPr>
            <a:spLocks xmlns:a="http://schemas.openxmlformats.org/drawingml/2006/main" noGrp="1"/>
          </p:cNvSpPr>
          <p:nvPr/>
        </p:nvSpPr>
        <p:spPr>
          <a:xfrm xmlns:a="http://schemas.openxmlformats.org/drawingml/2006/main">
            <a:off x="781050" y="3038475"/>
            <a:ext cx="20859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Current discovered portfolio</a:t>
            </a:r>
          </a:p>
        </p:txBody>
      </p:sp>
      <p:sp>
        <p:nvSpPr>
          <p:cNvPr id="11" name="">
            <a:extLst xmlns:a="http://schemas.openxmlformats.org/drawingml/2006/main">
              <a:ext uri="{FF2B5EF4-FFF2-40B4-BE49-F238E27FC236}">
                <a16:creationId xmlns:a16="http://schemas.microsoft.com/office/drawing/2014/main" id="{008EBCD5-713D-444D-9D56-D4B859B5FFF0}"/>
              </a:ext>
            </a:extLst>
          </p:cNvPr>
          <p:cNvSpPr>
            <a:spLocks xmlns:a="http://schemas.openxmlformats.org/drawingml/2006/main" noGrp="1"/>
          </p:cNvSpPr>
          <p:nvPr/>
        </p:nvSpPr>
        <p:spPr>
          <a:xfrm xmlns:a="http://schemas.openxmlformats.org/drawingml/2006/main">
            <a:off x="3276600" y="2095500"/>
            <a:ext cx="2428875" cy="1162050"/>
          </a:xfrm>
          <a:prstGeom xmlns:a="http://schemas.openxmlformats.org/drawingml/2006/main" prst="roundRect">
            <a:avLst>
              <a:gd name="adj" fmla="val 9836"/>
            </a:avLst>
          </a:prstGeom>
          <a:solidFill xmlns:a="http://schemas.openxmlformats.org/drawingml/2006/main">
            <a:srgbClr val="10233B"/>
          </a:solidFill>
          <a:ln xmlns:a="http://schemas.openxmlformats.org/drawingml/2006/main" w="9525">
            <a:solidFill>
              <a:srgbClr val="23425F"/>
            </a:solidFill>
            <a:prstDash val="solid"/>
          </a:ln>
        </p:spPr>
      </p:sp>
      <p:sp>
        <p:nvSpPr>
          <p:cNvPr id="12" name="">
            <a:extLst xmlns:a="http://schemas.openxmlformats.org/drawingml/2006/main">
              <a:ext uri="{FF2B5EF4-FFF2-40B4-BE49-F238E27FC236}">
                <a16:creationId xmlns:a16="http://schemas.microsoft.com/office/drawing/2014/main" id="{63BEB35E-16C4-4793-8F71-547D383C4A49}"/>
              </a:ext>
            </a:extLst>
          </p:cNvPr>
          <p:cNvSpPr>
            <a:spLocks xmlns:a="http://schemas.openxmlformats.org/drawingml/2006/main" noGrp="1"/>
          </p:cNvSpPr>
          <p:nvPr/>
        </p:nvSpPr>
        <p:spPr>
          <a:xfrm xmlns:a="http://schemas.openxmlformats.org/drawingml/2006/main">
            <a:off x="3448050" y="2266950"/>
            <a:ext cx="361950" cy="28575"/>
          </a:xfrm>
          <a:prstGeom xmlns:a="http://schemas.openxmlformats.org/drawingml/2006/main" prst="rect">
            <a:avLst/>
          </a:prstGeom>
          <a:solidFill xmlns:a="http://schemas.openxmlformats.org/drawingml/2006/main">
            <a:srgbClr val="22C7B8"/>
          </a:solidFill>
          <a:ln xmlns:a="http://schemas.openxmlformats.org/drawingml/2006/main" w="0">
            <a:solidFill>
              <a:srgbClr val="22C7B8"/>
            </a:solidFill>
            <a:prstDash val="solid"/>
          </a:ln>
        </p:spPr>
      </p:sp>
      <p:sp>
        <p:nvSpPr>
          <p:cNvPr id="13" name="">
            <a:extLst xmlns:a="http://schemas.openxmlformats.org/drawingml/2006/main">
              <a:ext uri="{FF2B5EF4-FFF2-40B4-BE49-F238E27FC236}">
                <a16:creationId xmlns:a16="http://schemas.microsoft.com/office/drawing/2014/main" id="{A0C0D291-059C-4B18-897C-DE8CC094DD96}"/>
              </a:ext>
            </a:extLst>
          </p:cNvPr>
          <p:cNvSpPr>
            <a:spLocks xmlns:a="http://schemas.openxmlformats.org/drawingml/2006/main" noGrp="1"/>
          </p:cNvSpPr>
          <p:nvPr/>
        </p:nvSpPr>
        <p:spPr>
          <a:xfrm xmlns:a="http://schemas.openxmlformats.org/drawingml/2006/main">
            <a:off x="3448050" y="2419350"/>
            <a:ext cx="20859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A8B9CA"/>
                </a:solidFill>
              </a:defRPr>
            </a:pPr>
            <a:r>
              <a:rPr sz="750" b="1">
                <a:solidFill>
                  <a:srgbClr val="A8B9CA"/>
                </a:solidFill>
              </a:rPr>
              <a:t>SECTORS</a:t>
            </a:r>
          </a:p>
        </p:txBody>
      </p:sp>
      <p:sp>
        <p:nvSpPr>
          <p:cNvPr id="14" name="">
            <a:extLst xmlns:a="http://schemas.openxmlformats.org/drawingml/2006/main">
              <a:ext uri="{FF2B5EF4-FFF2-40B4-BE49-F238E27FC236}">
                <a16:creationId xmlns:a16="http://schemas.microsoft.com/office/drawing/2014/main" id="{F67CE5F3-93E2-4049-943E-C60E6F4D55DB}"/>
              </a:ext>
            </a:extLst>
          </p:cNvPr>
          <p:cNvSpPr>
            <a:spLocks xmlns:a="http://schemas.openxmlformats.org/drawingml/2006/main" noGrp="1"/>
          </p:cNvSpPr>
          <p:nvPr/>
        </p:nvSpPr>
        <p:spPr>
          <a:xfrm xmlns:a="http://schemas.openxmlformats.org/drawingml/2006/main">
            <a:off x="3448050" y="2638425"/>
            <a:ext cx="2085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4F8FC"/>
                </a:solidFill>
              </a:defRPr>
            </a:pPr>
            <a:r>
              <a:rPr sz="1875" b="1">
                <a:solidFill>
                  <a:srgbClr val="F4F8FC"/>
                </a:solidFill>
              </a:rPr>
              <a:t>3</a:t>
            </a:r>
          </a:p>
        </p:txBody>
      </p:sp>
      <p:sp>
        <p:nvSpPr>
          <p:cNvPr id="15" name="">
            <a:extLst xmlns:a="http://schemas.openxmlformats.org/drawingml/2006/main">
              <a:ext uri="{FF2B5EF4-FFF2-40B4-BE49-F238E27FC236}">
                <a16:creationId xmlns:a16="http://schemas.microsoft.com/office/drawing/2014/main" id="{2B323ED6-9666-4109-BEF0-DE5E792608D3}"/>
              </a:ext>
            </a:extLst>
          </p:cNvPr>
          <p:cNvSpPr>
            <a:spLocks xmlns:a="http://schemas.openxmlformats.org/drawingml/2006/main" noGrp="1"/>
          </p:cNvSpPr>
          <p:nvPr/>
        </p:nvSpPr>
        <p:spPr>
          <a:xfrm xmlns:a="http://schemas.openxmlformats.org/drawingml/2006/main">
            <a:off x="3448050" y="3038475"/>
            <a:ext cx="20859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Folder-driven classification</a:t>
            </a:r>
          </a:p>
        </p:txBody>
      </p:sp>
      <p:sp>
        <p:nvSpPr>
          <p:cNvPr id="16" name="">
            <a:extLst xmlns:a="http://schemas.openxmlformats.org/drawingml/2006/main">
              <a:ext uri="{FF2B5EF4-FFF2-40B4-BE49-F238E27FC236}">
                <a16:creationId xmlns:a16="http://schemas.microsoft.com/office/drawing/2014/main" id="{A60FA5EB-7ADC-45CC-AD91-2EE5993BF25F}"/>
              </a:ext>
            </a:extLst>
          </p:cNvPr>
          <p:cNvSpPr>
            <a:spLocks xmlns:a="http://schemas.openxmlformats.org/drawingml/2006/main" noGrp="1"/>
          </p:cNvSpPr>
          <p:nvPr/>
        </p:nvSpPr>
        <p:spPr>
          <a:xfrm xmlns:a="http://schemas.openxmlformats.org/drawingml/2006/main">
            <a:off x="5943600" y="2095500"/>
            <a:ext cx="2428875" cy="1162050"/>
          </a:xfrm>
          <a:prstGeom xmlns:a="http://schemas.openxmlformats.org/drawingml/2006/main" prst="roundRect">
            <a:avLst>
              <a:gd name="adj" fmla="val 9836"/>
            </a:avLst>
          </a:prstGeom>
          <a:solidFill xmlns:a="http://schemas.openxmlformats.org/drawingml/2006/main">
            <a:srgbClr val="10233B"/>
          </a:solidFill>
          <a:ln xmlns:a="http://schemas.openxmlformats.org/drawingml/2006/main" w="9525">
            <a:solidFill>
              <a:srgbClr val="23425F"/>
            </a:solidFill>
            <a:prstDash val="solid"/>
          </a:ln>
        </p:spPr>
      </p:sp>
      <p:sp>
        <p:nvSpPr>
          <p:cNvPr id="17" name="">
            <a:extLst xmlns:a="http://schemas.openxmlformats.org/drawingml/2006/main">
              <a:ext uri="{FF2B5EF4-FFF2-40B4-BE49-F238E27FC236}">
                <a16:creationId xmlns:a16="http://schemas.microsoft.com/office/drawing/2014/main" id="{C04B1387-D73C-4312-B0D2-574F930B459C}"/>
              </a:ext>
            </a:extLst>
          </p:cNvPr>
          <p:cNvSpPr>
            <a:spLocks xmlns:a="http://schemas.openxmlformats.org/drawingml/2006/main" noGrp="1"/>
          </p:cNvSpPr>
          <p:nvPr/>
        </p:nvSpPr>
        <p:spPr>
          <a:xfrm xmlns:a="http://schemas.openxmlformats.org/drawingml/2006/main">
            <a:off x="6115050" y="2266950"/>
            <a:ext cx="361950" cy="28575"/>
          </a:xfrm>
          <a:prstGeom xmlns:a="http://schemas.openxmlformats.org/drawingml/2006/main" prst="rect">
            <a:avLst/>
          </a:prstGeom>
          <a:solidFill xmlns:a="http://schemas.openxmlformats.org/drawingml/2006/main">
            <a:srgbClr val="FFB21A"/>
          </a:solidFill>
          <a:ln xmlns:a="http://schemas.openxmlformats.org/drawingml/2006/main" w="0">
            <a:solidFill>
              <a:srgbClr val="FFB21A"/>
            </a:solidFill>
            <a:prstDash val="solid"/>
          </a:ln>
        </p:spPr>
      </p:sp>
      <p:sp>
        <p:nvSpPr>
          <p:cNvPr id="18" name="">
            <a:extLst xmlns:a="http://schemas.openxmlformats.org/drawingml/2006/main">
              <a:ext uri="{FF2B5EF4-FFF2-40B4-BE49-F238E27FC236}">
                <a16:creationId xmlns:a16="http://schemas.microsoft.com/office/drawing/2014/main" id="{D027A110-63C2-401B-9F61-774F877A2627}"/>
              </a:ext>
            </a:extLst>
          </p:cNvPr>
          <p:cNvSpPr>
            <a:spLocks xmlns:a="http://schemas.openxmlformats.org/drawingml/2006/main" noGrp="1"/>
          </p:cNvSpPr>
          <p:nvPr/>
        </p:nvSpPr>
        <p:spPr>
          <a:xfrm xmlns:a="http://schemas.openxmlformats.org/drawingml/2006/main">
            <a:off x="6115050" y="2419350"/>
            <a:ext cx="20859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A8B9CA"/>
                </a:solidFill>
              </a:defRPr>
            </a:pPr>
            <a:r>
              <a:rPr sz="750" b="1">
                <a:solidFill>
                  <a:srgbClr val="A8B9CA"/>
                </a:solidFill>
              </a:rPr>
              <a:t>PORTFOLIO CONTRACT VALUE</a:t>
            </a:r>
          </a:p>
        </p:txBody>
      </p:sp>
      <p:sp>
        <p:nvSpPr>
          <p:cNvPr id="19" name="">
            <a:extLst xmlns:a="http://schemas.openxmlformats.org/drawingml/2006/main">
              <a:ext uri="{FF2B5EF4-FFF2-40B4-BE49-F238E27FC236}">
                <a16:creationId xmlns:a16="http://schemas.microsoft.com/office/drawing/2014/main" id="{61B13DFF-20A7-45A8-9688-15254F25E0EE}"/>
              </a:ext>
            </a:extLst>
          </p:cNvPr>
          <p:cNvSpPr>
            <a:spLocks xmlns:a="http://schemas.openxmlformats.org/drawingml/2006/main" noGrp="1"/>
          </p:cNvSpPr>
          <p:nvPr/>
        </p:nvSpPr>
        <p:spPr>
          <a:xfrm xmlns:a="http://schemas.openxmlformats.org/drawingml/2006/main">
            <a:off x="6115050" y="2638425"/>
            <a:ext cx="2085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4F8FC"/>
                </a:solidFill>
              </a:defRPr>
            </a:pPr>
            <a:r>
              <a:rPr sz="1875" b="1">
                <a:solidFill>
                  <a:srgbClr val="F4F8FC"/>
                </a:solidFill>
              </a:rPr>
              <a:t>EGP 4567.3M</a:t>
            </a:r>
          </a:p>
        </p:txBody>
      </p:sp>
      <p:sp>
        <p:nvSpPr>
          <p:cNvPr id="20" name="">
            <a:extLst xmlns:a="http://schemas.openxmlformats.org/drawingml/2006/main">
              <a:ext uri="{FF2B5EF4-FFF2-40B4-BE49-F238E27FC236}">
                <a16:creationId xmlns:a16="http://schemas.microsoft.com/office/drawing/2014/main" id="{EDFAA43D-D18C-4B93-ACBC-F6F679462DA0}"/>
              </a:ext>
            </a:extLst>
          </p:cNvPr>
          <p:cNvSpPr>
            <a:spLocks xmlns:a="http://schemas.openxmlformats.org/drawingml/2006/main" noGrp="1"/>
          </p:cNvSpPr>
          <p:nvPr/>
        </p:nvSpPr>
        <p:spPr>
          <a:xfrm xmlns:a="http://schemas.openxmlformats.org/drawingml/2006/main">
            <a:off x="6115050" y="3038475"/>
            <a:ext cx="20859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Source-backed total</a:t>
            </a:r>
          </a:p>
        </p:txBody>
      </p:sp>
      <p:sp>
        <p:nvSpPr>
          <p:cNvPr id="21" name="">
            <a:extLst xmlns:a="http://schemas.openxmlformats.org/drawingml/2006/main">
              <a:ext uri="{FF2B5EF4-FFF2-40B4-BE49-F238E27FC236}">
                <a16:creationId xmlns:a16="http://schemas.microsoft.com/office/drawing/2014/main" id="{7CF390E6-B43A-48A2-BE6D-59B03239B800}"/>
              </a:ext>
            </a:extLst>
          </p:cNvPr>
          <p:cNvSpPr>
            <a:spLocks xmlns:a="http://schemas.openxmlformats.org/drawingml/2006/main" noGrp="1"/>
          </p:cNvSpPr>
          <p:nvPr/>
        </p:nvSpPr>
        <p:spPr>
          <a:xfrm xmlns:a="http://schemas.openxmlformats.org/drawingml/2006/main">
            <a:off x="8610600" y="2095500"/>
            <a:ext cx="2428875" cy="1162050"/>
          </a:xfrm>
          <a:prstGeom xmlns:a="http://schemas.openxmlformats.org/drawingml/2006/main" prst="roundRect">
            <a:avLst>
              <a:gd name="adj" fmla="val 9836"/>
            </a:avLst>
          </a:prstGeom>
          <a:solidFill xmlns:a="http://schemas.openxmlformats.org/drawingml/2006/main">
            <a:srgbClr val="10233B"/>
          </a:solidFill>
          <a:ln xmlns:a="http://schemas.openxmlformats.org/drawingml/2006/main" w="9525">
            <a:solidFill>
              <a:srgbClr val="23425F"/>
            </a:solidFill>
            <a:prstDash val="solid"/>
          </a:ln>
        </p:spPr>
      </p:sp>
      <p:sp>
        <p:nvSpPr>
          <p:cNvPr id="22" name="">
            <a:extLst xmlns:a="http://schemas.openxmlformats.org/drawingml/2006/main">
              <a:ext uri="{FF2B5EF4-FFF2-40B4-BE49-F238E27FC236}">
                <a16:creationId xmlns:a16="http://schemas.microsoft.com/office/drawing/2014/main" id="{8293BB55-4510-47C6-8A12-7018257ECB1E}"/>
              </a:ext>
            </a:extLst>
          </p:cNvPr>
          <p:cNvSpPr>
            <a:spLocks xmlns:a="http://schemas.openxmlformats.org/drawingml/2006/main" noGrp="1"/>
          </p:cNvSpPr>
          <p:nvPr/>
        </p:nvSpPr>
        <p:spPr>
          <a:xfrm xmlns:a="http://schemas.openxmlformats.org/drawingml/2006/main">
            <a:off x="8782050" y="2266950"/>
            <a:ext cx="361950" cy="28575"/>
          </a:xfrm>
          <a:prstGeom xmlns:a="http://schemas.openxmlformats.org/drawingml/2006/main" prst="rect">
            <a:avLst/>
          </a:prstGeom>
          <a:solidFill xmlns:a="http://schemas.openxmlformats.org/drawingml/2006/main">
            <a:srgbClr val="A779FF"/>
          </a:solidFill>
          <a:ln xmlns:a="http://schemas.openxmlformats.org/drawingml/2006/main" w="0">
            <a:solidFill>
              <a:srgbClr val="A779FF"/>
            </a:solidFill>
            <a:prstDash val="solid"/>
          </a:ln>
        </p:spPr>
      </p:sp>
      <p:sp>
        <p:nvSpPr>
          <p:cNvPr id="23" name="">
            <a:extLst xmlns:a="http://schemas.openxmlformats.org/drawingml/2006/main">
              <a:ext uri="{FF2B5EF4-FFF2-40B4-BE49-F238E27FC236}">
                <a16:creationId xmlns:a16="http://schemas.microsoft.com/office/drawing/2014/main" id="{75EFD73E-8723-4BD1-8DA1-24E47FFD9B2B}"/>
              </a:ext>
            </a:extLst>
          </p:cNvPr>
          <p:cNvSpPr>
            <a:spLocks xmlns:a="http://schemas.openxmlformats.org/drawingml/2006/main" noGrp="1"/>
          </p:cNvSpPr>
          <p:nvPr/>
        </p:nvSpPr>
        <p:spPr>
          <a:xfrm xmlns:a="http://schemas.openxmlformats.org/drawingml/2006/main">
            <a:off x="8782050" y="2419350"/>
            <a:ext cx="20859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A8B9CA"/>
                </a:solidFill>
              </a:defRPr>
            </a:pPr>
            <a:r>
              <a:rPr sz="750" b="1">
                <a:solidFill>
                  <a:srgbClr val="A8B9CA"/>
                </a:solidFill>
              </a:rPr>
              <a:t>DATA GUARDRAIL</a:t>
            </a:r>
          </a:p>
        </p:txBody>
      </p:sp>
      <p:sp>
        <p:nvSpPr>
          <p:cNvPr id="24" name="">
            <a:extLst xmlns:a="http://schemas.openxmlformats.org/drawingml/2006/main">
              <a:ext uri="{FF2B5EF4-FFF2-40B4-BE49-F238E27FC236}">
                <a16:creationId xmlns:a16="http://schemas.microsoft.com/office/drawing/2014/main" id="{2468320D-5CFF-4045-8693-8E801411AFE6}"/>
              </a:ext>
            </a:extLst>
          </p:cNvPr>
          <p:cNvSpPr>
            <a:spLocks xmlns:a="http://schemas.openxmlformats.org/drawingml/2006/main" noGrp="1"/>
          </p:cNvSpPr>
          <p:nvPr/>
        </p:nvSpPr>
        <p:spPr>
          <a:xfrm xmlns:a="http://schemas.openxmlformats.org/drawingml/2006/main">
            <a:off x="8782050" y="2638425"/>
            <a:ext cx="2085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4F8FC"/>
                </a:solidFill>
              </a:defRPr>
            </a:pPr>
            <a:r>
              <a:rPr sz="1875" b="1">
                <a:solidFill>
                  <a:srgbClr val="F4F8FC"/>
                </a:solidFill>
              </a:rPr>
              <a:t>N/A</a:t>
            </a:r>
          </a:p>
        </p:txBody>
      </p:sp>
      <p:sp>
        <p:nvSpPr>
          <p:cNvPr id="25" name="">
            <a:extLst xmlns:a="http://schemas.openxmlformats.org/drawingml/2006/main">
              <a:ext uri="{FF2B5EF4-FFF2-40B4-BE49-F238E27FC236}">
                <a16:creationId xmlns:a16="http://schemas.microsoft.com/office/drawing/2014/main" id="{79D5CAEC-60BF-49BA-B795-24F33A5F4EDA}"/>
              </a:ext>
            </a:extLst>
          </p:cNvPr>
          <p:cNvSpPr>
            <a:spLocks xmlns:a="http://schemas.openxmlformats.org/drawingml/2006/main" noGrp="1"/>
          </p:cNvSpPr>
          <p:nvPr/>
        </p:nvSpPr>
        <p:spPr>
          <a:xfrm xmlns:a="http://schemas.openxmlformats.org/drawingml/2006/main">
            <a:off x="8782050" y="3038475"/>
            <a:ext cx="20859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No portfolio trust score published</a:t>
            </a:r>
          </a:p>
        </p:txBody>
      </p:sp>
      <p:sp>
        <p:nvSpPr>
          <p:cNvPr id="26" name="">
            <a:extLst xmlns:a="http://schemas.openxmlformats.org/drawingml/2006/main">
              <a:ext uri="{FF2B5EF4-FFF2-40B4-BE49-F238E27FC236}">
                <a16:creationId xmlns:a16="http://schemas.microsoft.com/office/drawing/2014/main" id="{71280528-9D48-43F8-95EB-CA8A107892C7}"/>
              </a:ext>
            </a:extLst>
          </p:cNvPr>
          <p:cNvSpPr>
            <a:spLocks xmlns:a="http://schemas.openxmlformats.org/drawingml/2006/main" noGrp="1"/>
          </p:cNvSpPr>
          <p:nvPr/>
        </p:nvSpPr>
        <p:spPr>
          <a:xfrm xmlns:a="http://schemas.openxmlformats.org/drawingml/2006/main">
            <a:off x="609600" y="3619500"/>
            <a:ext cx="10429875" cy="1809750"/>
          </a:xfrm>
          <a:prstGeom xmlns:a="http://schemas.openxmlformats.org/drawingml/2006/main" prst="roundRect">
            <a:avLst>
              <a:gd name="adj" fmla="val 6316"/>
            </a:avLst>
          </a:prstGeom>
          <a:solidFill xmlns:a="http://schemas.openxmlformats.org/drawingml/2006/main">
            <a:srgbClr val="0D1B30"/>
          </a:solidFill>
          <a:ln xmlns:a="http://schemas.openxmlformats.org/drawingml/2006/main" w="9525">
            <a:solidFill>
              <a:srgbClr val="23425F"/>
            </a:solidFill>
            <a:prstDash val="solid"/>
          </a:ln>
        </p:spPr>
      </p:sp>
      <p:sp>
        <p:nvSpPr>
          <p:cNvPr id="27" name="">
            <a:extLst xmlns:a="http://schemas.openxmlformats.org/drawingml/2006/main">
              <a:ext uri="{FF2B5EF4-FFF2-40B4-BE49-F238E27FC236}">
                <a16:creationId xmlns:a16="http://schemas.microsoft.com/office/drawing/2014/main" id="{B47D1D14-E413-4E31-9092-E4F043567C54}"/>
              </a:ext>
            </a:extLst>
          </p:cNvPr>
          <p:cNvSpPr>
            <a:spLocks xmlns:a="http://schemas.openxmlformats.org/drawingml/2006/main" noGrp="1"/>
          </p:cNvSpPr>
          <p:nvPr/>
        </p:nvSpPr>
        <p:spPr>
          <a:xfrm xmlns:a="http://schemas.openxmlformats.org/drawingml/2006/main">
            <a:off x="895350" y="39243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6C9E8"/>
                </a:solidFill>
              </a:defRPr>
            </a:pPr>
            <a:r>
              <a:rPr sz="1725" b="1">
                <a:solidFill>
                  <a:srgbClr val="16C9E8"/>
                </a:solidFill>
              </a:rPr>
              <a:t>Board conclusion</a:t>
            </a:r>
          </a:p>
        </p:txBody>
      </p:sp>
      <p:sp>
        <p:nvSpPr>
          <p:cNvPr id="28" name="">
            <a:extLst xmlns:a="http://schemas.openxmlformats.org/drawingml/2006/main">
              <a:ext uri="{FF2B5EF4-FFF2-40B4-BE49-F238E27FC236}">
                <a16:creationId xmlns:a16="http://schemas.microsoft.com/office/drawing/2014/main" id="{459DB17D-F4D4-4EF2-8BB1-27EC9A033C23}"/>
              </a:ext>
            </a:extLst>
          </p:cNvPr>
          <p:cNvSpPr>
            <a:spLocks xmlns:a="http://schemas.openxmlformats.org/drawingml/2006/main" noGrp="1"/>
          </p:cNvSpPr>
          <p:nvPr/>
        </p:nvSpPr>
        <p:spPr>
          <a:xfrm xmlns:a="http://schemas.openxmlformats.org/drawingml/2006/main">
            <a:off x="895350" y="4362450"/>
            <a:ext cx="947737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F4F8FC"/>
                </a:solidFill>
              </a:defRPr>
            </a:pPr>
            <a:r>
              <a:rPr sz="1650">
                <a:solidFill>
                  <a:srgbClr val="F4F8FC"/>
                </a:solidFill>
              </a:rPr>
              <a:t>The operating model is designed to prevent cross-project leakage, avoid fabricated management values, and expose missing evidence before it becomes a decision. The decision dashboard aggregates verified project signals; detailed controls remain project-scoped.</a:t>
            </a:r>
          </a:p>
        </p:txBody>
      </p:sp>
      <p:sp>
        <p:nvSpPr>
          <p:cNvPr id="29" name="">
            <a:extLst xmlns:a="http://schemas.openxmlformats.org/drawingml/2006/main">
              <a:ext uri="{FF2B5EF4-FFF2-40B4-BE49-F238E27FC236}">
                <a16:creationId xmlns:a16="http://schemas.microsoft.com/office/drawing/2014/main" id="{9B3FA535-3DE3-4097-B8EB-072FAA76D85B}"/>
              </a:ext>
            </a:extLst>
          </p:cNvPr>
          <p:cNvSpPr>
            <a:spLocks xmlns:a="http://schemas.openxmlformats.org/drawingml/2006/main" noGrp="1"/>
          </p:cNvSpPr>
          <p:nvPr/>
        </p:nvSpPr>
        <p:spPr>
          <a:xfrm xmlns:a="http://schemas.openxmlformats.org/drawingml/2006/main">
            <a:off x="609600"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Designed &amp; Created |</a:t>
            </a:r>
          </a:p>
        </p:txBody>
      </p:sp>
      <p:sp>
        <p:nvSpPr>
          <p:cNvPr id="30" name="">
            <a:extLst xmlns:a="http://schemas.openxmlformats.org/drawingml/2006/main">
              <a:ext uri="{FF2B5EF4-FFF2-40B4-BE49-F238E27FC236}">
                <a16:creationId xmlns:a16="http://schemas.microsoft.com/office/drawing/2014/main" id="{72C59E75-1C51-4D2C-863B-04764185B115}"/>
              </a:ext>
            </a:extLst>
          </p:cNvPr>
          <p:cNvSpPr>
            <a:spLocks xmlns:a="http://schemas.openxmlformats.org/drawingml/2006/main" noGrp="1"/>
          </p:cNvSpPr>
          <p:nvPr/>
        </p:nvSpPr>
        <p:spPr>
          <a:xfrm xmlns:a="http://schemas.openxmlformats.org/drawingml/2006/main">
            <a:off x="1952625"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6C9E8"/>
                </a:solidFill>
              </a:defRPr>
            </a:pPr>
            <a:r>
              <a:rPr sz="750" b="1">
                <a:solidFill>
                  <a:srgbClr val="16C9E8"/>
                </a:solidFill>
              </a:rPr>
              <a:t>Engr. Ahmed Labib</a:t>
            </a:r>
          </a:p>
        </p:txBody>
      </p:sp>
      <p:sp>
        <p:nvSpPr>
          <p:cNvPr id="31" name="">
            <a:extLst xmlns:a="http://schemas.openxmlformats.org/drawingml/2006/main">
              <a:ext uri="{FF2B5EF4-FFF2-40B4-BE49-F238E27FC236}">
                <a16:creationId xmlns:a16="http://schemas.microsoft.com/office/drawing/2014/main" id="{B82D38E3-AA74-486F-91C6-BE895400D7C8}"/>
              </a:ext>
            </a:extLst>
          </p:cNvPr>
          <p:cNvSpPr>
            <a:spLocks xmlns:a="http://schemas.openxmlformats.org/drawingml/2006/main" noGrp="1"/>
          </p:cNvSpPr>
          <p:nvPr/>
        </p:nvSpPr>
        <p:spPr>
          <a:xfrm xmlns:a="http://schemas.openxmlformats.org/drawingml/2006/main">
            <a:off x="9144000" y="6496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A8B9CA"/>
                </a:solidFill>
              </a:defRPr>
            </a:pPr>
            <a:r>
              <a:rPr sz="750">
                <a:solidFill>
                  <a:srgbClr val="A8B9CA"/>
                </a:solidFill>
              </a:rPr>
              <a:t>Evidence-led project controls</a:t>
            </a:r>
          </a:p>
        </p:txBody>
      </p:sp>
    </p:spTree>
    <p:extLst>
      <p:ext uri="{BB962C8B-B14F-4D97-AF65-F5344CB8AC3E}">
        <p14:creationId xmlns:p14="http://schemas.microsoft.com/office/powerpoint/2010/main" val="253442213"/>
      </p:ext>
    </p:extLst>
  </p:cSld>
</p:sld>
</file>

<file path=ppt/slides/slide3.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1AF0422-04CF-4475-B66E-55EE3435DCF3}"/>
              </a:ext>
            </a:extLst>
          </p:cNvPr>
          <p:cNvSpPr>
            <a:spLocks xmlns:a="http://schemas.openxmlformats.org/drawingml/2006/main" noGrp="1"/>
          </p:cNvSpPr>
          <p:nvPr/>
        </p:nvSpPr>
        <p:spPr>
          <a:xfrm xmlns:a="http://schemas.openxmlformats.org/drawingml/2006/main">
            <a:off x="609600" y="400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6C9E8"/>
                </a:solidFill>
              </a:defRPr>
            </a:pPr>
            <a:r>
              <a:rPr sz="975" b="1">
                <a:solidFill>
                  <a:srgbClr val="16C9E8"/>
                </a:solidFill>
              </a:rPr>
              <a:t>OPERATING PIPELINE</a:t>
            </a:r>
          </a:p>
        </p:txBody>
      </p:sp>
      <p:sp>
        <p:nvSpPr>
          <p:cNvPr id="2" name="">
            <a:extLst xmlns:a="http://schemas.openxmlformats.org/drawingml/2006/main">
              <a:ext uri="{FF2B5EF4-FFF2-40B4-BE49-F238E27FC236}">
                <a16:creationId xmlns:a16="http://schemas.microsoft.com/office/drawing/2014/main" id="{FEE4A15C-4FF1-49D2-B538-41BD4CC8BBE9}"/>
              </a:ext>
            </a:extLst>
          </p:cNvPr>
          <p:cNvSpPr>
            <a:spLocks xmlns:a="http://schemas.openxmlformats.org/drawingml/2006/main" noGrp="1"/>
          </p:cNvSpPr>
          <p:nvPr/>
        </p:nvSpPr>
        <p:spPr>
          <a:xfrm xmlns:a="http://schemas.openxmlformats.org/drawingml/2006/main">
            <a:off x="609600" y="6858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4F8FC"/>
                </a:solidFill>
              </a:defRPr>
            </a:pPr>
            <a:r>
              <a:rPr sz="2550" b="1">
                <a:solidFill>
                  <a:srgbClr val="F4F8FC"/>
                </a:solidFill>
              </a:rPr>
              <a:t>One source path to board-ready views</a:t>
            </a:r>
          </a:p>
        </p:txBody>
      </p:sp>
      <p:sp>
        <p:nvSpPr>
          <p:cNvPr id="3" name="">
            <a:extLst xmlns:a="http://schemas.openxmlformats.org/drawingml/2006/main">
              <a:ext uri="{FF2B5EF4-FFF2-40B4-BE49-F238E27FC236}">
                <a16:creationId xmlns:a16="http://schemas.microsoft.com/office/drawing/2014/main" id="{95F68B0C-6F48-4D1B-9238-E04B44AE7343}"/>
              </a:ext>
            </a:extLst>
          </p:cNvPr>
          <p:cNvSpPr>
            <a:spLocks xmlns:a="http://schemas.openxmlformats.org/drawingml/2006/main" noGrp="1"/>
          </p:cNvSpPr>
          <p:nvPr/>
        </p:nvSpPr>
        <p:spPr>
          <a:xfrm xmlns:a="http://schemas.openxmlformats.org/drawingml/2006/main">
            <a:off x="609600" y="12573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A8B9CA"/>
                </a:solidFill>
              </a:defRPr>
            </a:pPr>
            <a:r>
              <a:rPr sz="1275">
                <a:solidFill>
                  <a:srgbClr val="A8B9CA"/>
                </a:solidFill>
              </a:rPr>
              <a:t>Calculation, validation, reporting, and publishing are separated so a display cannot overwrite source evidence.</a:t>
            </a:r>
          </a:p>
        </p:txBody>
      </p:sp>
      <p:sp>
        <p:nvSpPr>
          <p:cNvPr id="4" name="">
            <a:extLst xmlns:a="http://schemas.openxmlformats.org/drawingml/2006/main">
              <a:ext uri="{FF2B5EF4-FFF2-40B4-BE49-F238E27FC236}">
                <a16:creationId xmlns:a16="http://schemas.microsoft.com/office/drawing/2014/main" id="{E6029AFC-0ED0-444F-90D4-FAD8B3E7534C}"/>
              </a:ext>
            </a:extLst>
          </p:cNvPr>
          <p:cNvSpPr>
            <a:spLocks xmlns:a="http://schemas.openxmlformats.org/drawingml/2006/main" noGrp="1"/>
          </p:cNvSpPr>
          <p:nvPr/>
        </p:nvSpPr>
        <p:spPr>
          <a:xfrm xmlns:a="http://schemas.openxmlformats.org/drawingml/2006/main">
            <a:off x="9525000" y="4381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8B9CA"/>
                </a:solidFill>
              </a:defRPr>
            </a:pPr>
            <a:r>
              <a:rPr sz="750" b="1">
                <a:solidFill>
                  <a:srgbClr val="A8B9CA"/>
                </a:solidFill>
              </a:rPr>
              <a:t>SAMCO PROJECT INTELLIGENCE HUB  |  03</a:t>
            </a:r>
          </a:p>
        </p:txBody>
      </p:sp>
      <p:sp>
        <p:nvSpPr>
          <p:cNvPr id="5" name="">
            <a:extLst xmlns:a="http://schemas.openxmlformats.org/drawingml/2006/main">
              <a:ext uri="{FF2B5EF4-FFF2-40B4-BE49-F238E27FC236}">
                <a16:creationId xmlns:a16="http://schemas.microsoft.com/office/drawing/2014/main" id="{EF880249-EBA5-4881-AFE3-DB129F0F1561}"/>
              </a:ext>
            </a:extLst>
          </p:cNvPr>
          <p:cNvSpPr>
            <a:spLocks xmlns:a="http://schemas.openxmlformats.org/drawingml/2006/main" noGrp="1"/>
          </p:cNvSpPr>
          <p:nvPr/>
        </p:nvSpPr>
        <p:spPr>
          <a:xfrm xmlns:a="http://schemas.openxmlformats.org/drawingml/2006/main">
            <a:off x="609600" y="1695450"/>
            <a:ext cx="10972800" cy="9525"/>
          </a:xfrm>
          <a:prstGeom xmlns:a="http://schemas.openxmlformats.org/drawingml/2006/main" prst="rect">
            <a:avLst/>
          </a:prstGeom>
          <a:solidFill xmlns:a="http://schemas.openxmlformats.org/drawingml/2006/main">
            <a:srgbClr val="23425F"/>
          </a:solidFill>
          <a:ln xmlns:a="http://schemas.openxmlformats.org/drawingml/2006/main" w="0">
            <a:solidFill>
              <a:srgbClr val="23425F"/>
            </a:solidFill>
            <a:prstDash val="solid"/>
          </a:ln>
        </p:spPr>
      </p:sp>
      <p:sp>
        <p:nvSpPr>
          <p:cNvPr id="6" name="">
            <a:extLst xmlns:a="http://schemas.openxmlformats.org/drawingml/2006/main">
              <a:ext uri="{FF2B5EF4-FFF2-40B4-BE49-F238E27FC236}">
                <a16:creationId xmlns:a16="http://schemas.microsoft.com/office/drawing/2014/main" id="{42506975-B064-4509-B041-7EC35BC3748A}"/>
              </a:ext>
            </a:extLst>
          </p:cNvPr>
          <p:cNvSpPr>
            <a:spLocks xmlns:a="http://schemas.openxmlformats.org/drawingml/2006/main" noGrp="1"/>
          </p:cNvSpPr>
          <p:nvPr/>
        </p:nvSpPr>
        <p:spPr>
          <a:xfrm xmlns:a="http://schemas.openxmlformats.org/drawingml/2006/main">
            <a:off x="609600" y="2428875"/>
            <a:ext cx="2095500" cy="1238250"/>
          </a:xfrm>
          <a:prstGeom xmlns:a="http://schemas.openxmlformats.org/drawingml/2006/main" prst="roundRect">
            <a:avLst>
              <a:gd name="adj" fmla="val 9231"/>
            </a:avLst>
          </a:prstGeom>
          <a:solidFill xmlns:a="http://schemas.openxmlformats.org/drawingml/2006/main">
            <a:srgbClr val="10233B"/>
          </a:solidFill>
          <a:ln xmlns:a="http://schemas.openxmlformats.org/drawingml/2006/main" w="9525">
            <a:solidFill>
              <a:srgbClr val="23425F"/>
            </a:solidFill>
            <a:prstDash val="solid"/>
          </a:ln>
        </p:spPr>
      </p:sp>
      <p:sp>
        <p:nvSpPr>
          <p:cNvPr id="7" name="">
            <a:extLst xmlns:a="http://schemas.openxmlformats.org/drawingml/2006/main">
              <a:ext uri="{FF2B5EF4-FFF2-40B4-BE49-F238E27FC236}">
                <a16:creationId xmlns:a16="http://schemas.microsoft.com/office/drawing/2014/main" id="{50214E29-E204-4A9A-81DE-08C26DA9DB63}"/>
              </a:ext>
            </a:extLst>
          </p:cNvPr>
          <p:cNvSpPr>
            <a:spLocks xmlns:a="http://schemas.openxmlformats.org/drawingml/2006/main" noGrp="1"/>
          </p:cNvSpPr>
          <p:nvPr/>
        </p:nvSpPr>
        <p:spPr>
          <a:xfrm xmlns:a="http://schemas.openxmlformats.org/drawingml/2006/main">
            <a:off x="781050" y="2590800"/>
            <a:ext cx="76200" cy="400050"/>
          </a:xfrm>
          <a:prstGeom xmlns:a="http://schemas.openxmlformats.org/drawingml/2006/main" prst="rect">
            <a:avLst/>
          </a:prstGeom>
          <a:solidFill xmlns:a="http://schemas.openxmlformats.org/drawingml/2006/main">
            <a:srgbClr val="16C9E8"/>
          </a:solidFill>
          <a:ln xmlns:a="http://schemas.openxmlformats.org/drawingml/2006/main" w="0">
            <a:solidFill>
              <a:srgbClr val="16C9E8"/>
            </a:solidFill>
            <a:prstDash val="solid"/>
          </a:ln>
        </p:spPr>
      </p:sp>
      <p:sp>
        <p:nvSpPr>
          <p:cNvPr id="8" name="">
            <a:extLst xmlns:a="http://schemas.openxmlformats.org/drawingml/2006/main">
              <a:ext uri="{FF2B5EF4-FFF2-40B4-BE49-F238E27FC236}">
                <a16:creationId xmlns:a16="http://schemas.microsoft.com/office/drawing/2014/main" id="{3A8D1C8E-B9E0-4760-AA94-73D5389B108F}"/>
              </a:ext>
            </a:extLst>
          </p:cNvPr>
          <p:cNvSpPr>
            <a:spLocks xmlns:a="http://schemas.openxmlformats.org/drawingml/2006/main" noGrp="1"/>
          </p:cNvSpPr>
          <p:nvPr/>
        </p:nvSpPr>
        <p:spPr>
          <a:xfrm xmlns:a="http://schemas.openxmlformats.org/drawingml/2006/main">
            <a:off x="1009650" y="2638425"/>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C"/>
                </a:solidFill>
              </a:defRPr>
            </a:pPr>
            <a:r>
              <a:rPr sz="1350" b="1">
                <a:solidFill>
                  <a:srgbClr val="F4F8FC"/>
                </a:solidFill>
              </a:rPr>
              <a:t>Project folders</a:t>
            </a:r>
          </a:p>
        </p:txBody>
      </p:sp>
      <p:sp>
        <p:nvSpPr>
          <p:cNvPr id="9" name="">
            <a:extLst xmlns:a="http://schemas.openxmlformats.org/drawingml/2006/main">
              <a:ext uri="{FF2B5EF4-FFF2-40B4-BE49-F238E27FC236}">
                <a16:creationId xmlns:a16="http://schemas.microsoft.com/office/drawing/2014/main" id="{9D9AEF4C-123A-4E6E-A03A-DCCF024E7D0E}"/>
              </a:ext>
            </a:extLst>
          </p:cNvPr>
          <p:cNvSpPr>
            <a:spLocks xmlns:a="http://schemas.openxmlformats.org/drawingml/2006/main" noGrp="1"/>
          </p:cNvSpPr>
          <p:nvPr/>
        </p:nvSpPr>
        <p:spPr>
          <a:xfrm xmlns:a="http://schemas.openxmlformats.org/drawingml/2006/main">
            <a:off x="1009650" y="3000375"/>
            <a:ext cx="1504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A8B9CA"/>
                </a:solidFill>
              </a:defRPr>
            </a:pPr>
            <a:r>
              <a:rPr sz="900">
                <a:solidFill>
                  <a:srgbClr val="A8B9CA"/>
                </a:solidFill>
              </a:rPr>
              <a:t>Data, contracts, letters, evidence, schedule, and delay sources</a:t>
            </a:r>
          </a:p>
        </p:txBody>
      </p:sp>
      <p:sp>
        <p:nvSpPr>
          <p:cNvPr id="10" name="">
            <a:extLst xmlns:a="http://schemas.openxmlformats.org/drawingml/2006/main">
              <a:ext uri="{FF2B5EF4-FFF2-40B4-BE49-F238E27FC236}">
                <a16:creationId xmlns:a16="http://schemas.microsoft.com/office/drawing/2014/main" id="{7B9CF028-011C-408E-BE2E-3FAA32D45EB3}"/>
              </a:ext>
            </a:extLst>
          </p:cNvPr>
          <p:cNvSpPr>
            <a:spLocks xmlns:a="http://schemas.openxmlformats.org/drawingml/2006/main" noGrp="1"/>
          </p:cNvSpPr>
          <p:nvPr/>
        </p:nvSpPr>
        <p:spPr>
          <a:xfrm xmlns:a="http://schemas.openxmlformats.org/drawingml/2006/main">
            <a:off x="2781300" y="2819400"/>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16C9E8"/>
                </a:solidFill>
              </a:defRPr>
            </a:pPr>
            <a:r>
              <a:rPr sz="2400" b="1">
                <a:solidFill>
                  <a:srgbClr val="16C9E8"/>
                </a:solidFill>
              </a:rPr>
              <a:t>→</a:t>
            </a:r>
          </a:p>
        </p:txBody>
      </p:sp>
      <p:sp>
        <p:nvSpPr>
          <p:cNvPr id="11" name="">
            <a:extLst xmlns:a="http://schemas.openxmlformats.org/drawingml/2006/main">
              <a:ext uri="{FF2B5EF4-FFF2-40B4-BE49-F238E27FC236}">
                <a16:creationId xmlns:a16="http://schemas.microsoft.com/office/drawing/2014/main" id="{9659B43A-0057-4FF0-B9E1-EDC31B88BF55}"/>
              </a:ext>
            </a:extLst>
          </p:cNvPr>
          <p:cNvSpPr>
            <a:spLocks xmlns:a="http://schemas.openxmlformats.org/drawingml/2006/main" noGrp="1"/>
          </p:cNvSpPr>
          <p:nvPr/>
        </p:nvSpPr>
        <p:spPr>
          <a:xfrm xmlns:a="http://schemas.openxmlformats.org/drawingml/2006/main">
            <a:off x="3181350" y="2428875"/>
            <a:ext cx="2095500" cy="1238250"/>
          </a:xfrm>
          <a:prstGeom xmlns:a="http://schemas.openxmlformats.org/drawingml/2006/main" prst="roundRect">
            <a:avLst>
              <a:gd name="adj" fmla="val 9231"/>
            </a:avLst>
          </a:prstGeom>
          <a:solidFill xmlns:a="http://schemas.openxmlformats.org/drawingml/2006/main">
            <a:srgbClr val="10233B"/>
          </a:solidFill>
          <a:ln xmlns:a="http://schemas.openxmlformats.org/drawingml/2006/main" w="9525">
            <a:solidFill>
              <a:srgbClr val="23425F"/>
            </a:solidFill>
            <a:prstDash val="solid"/>
          </a:ln>
        </p:spPr>
      </p:sp>
      <p:sp>
        <p:nvSpPr>
          <p:cNvPr id="12" name="">
            <a:extLst xmlns:a="http://schemas.openxmlformats.org/drawingml/2006/main">
              <a:ext uri="{FF2B5EF4-FFF2-40B4-BE49-F238E27FC236}">
                <a16:creationId xmlns:a16="http://schemas.microsoft.com/office/drawing/2014/main" id="{56178648-E728-42D9-9C59-6B6C51EC61DF}"/>
              </a:ext>
            </a:extLst>
          </p:cNvPr>
          <p:cNvSpPr>
            <a:spLocks xmlns:a="http://schemas.openxmlformats.org/drawingml/2006/main" noGrp="1"/>
          </p:cNvSpPr>
          <p:nvPr/>
        </p:nvSpPr>
        <p:spPr>
          <a:xfrm xmlns:a="http://schemas.openxmlformats.org/drawingml/2006/main">
            <a:off x="3352800" y="2590800"/>
            <a:ext cx="76200" cy="400050"/>
          </a:xfrm>
          <a:prstGeom xmlns:a="http://schemas.openxmlformats.org/drawingml/2006/main" prst="rect">
            <a:avLst/>
          </a:prstGeom>
          <a:solidFill xmlns:a="http://schemas.openxmlformats.org/drawingml/2006/main">
            <a:srgbClr val="22C7B8"/>
          </a:solidFill>
          <a:ln xmlns:a="http://schemas.openxmlformats.org/drawingml/2006/main" w="0">
            <a:solidFill>
              <a:srgbClr val="22C7B8"/>
            </a:solidFill>
            <a:prstDash val="solid"/>
          </a:ln>
        </p:spPr>
      </p:sp>
      <p:sp>
        <p:nvSpPr>
          <p:cNvPr id="13" name="">
            <a:extLst xmlns:a="http://schemas.openxmlformats.org/drawingml/2006/main">
              <a:ext uri="{FF2B5EF4-FFF2-40B4-BE49-F238E27FC236}">
                <a16:creationId xmlns:a16="http://schemas.microsoft.com/office/drawing/2014/main" id="{10581FA0-3653-47E9-AC6B-04F5767B27AC}"/>
              </a:ext>
            </a:extLst>
          </p:cNvPr>
          <p:cNvSpPr>
            <a:spLocks xmlns:a="http://schemas.openxmlformats.org/drawingml/2006/main" noGrp="1"/>
          </p:cNvSpPr>
          <p:nvPr/>
        </p:nvSpPr>
        <p:spPr>
          <a:xfrm xmlns:a="http://schemas.openxmlformats.org/drawingml/2006/main">
            <a:off x="3581400" y="2638425"/>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C"/>
                </a:solidFill>
              </a:defRPr>
            </a:pPr>
            <a:r>
              <a:rPr sz="1350" b="1">
                <a:solidFill>
                  <a:srgbClr val="F4F8FC"/>
                </a:solidFill>
              </a:rPr>
              <a:t>Canonical engines</a:t>
            </a:r>
          </a:p>
        </p:txBody>
      </p:sp>
      <p:sp>
        <p:nvSpPr>
          <p:cNvPr id="14" name="">
            <a:extLst xmlns:a="http://schemas.openxmlformats.org/drawingml/2006/main">
              <a:ext uri="{FF2B5EF4-FFF2-40B4-BE49-F238E27FC236}">
                <a16:creationId xmlns:a16="http://schemas.microsoft.com/office/drawing/2014/main" id="{4EF03E5B-2376-4E92-9936-31C9E218AD45}"/>
              </a:ext>
            </a:extLst>
          </p:cNvPr>
          <p:cNvSpPr>
            <a:spLocks xmlns:a="http://schemas.openxmlformats.org/drawingml/2006/main" noGrp="1"/>
          </p:cNvSpPr>
          <p:nvPr/>
        </p:nvSpPr>
        <p:spPr>
          <a:xfrm xmlns:a="http://schemas.openxmlformats.org/drawingml/2006/main">
            <a:off x="3581400" y="3000375"/>
            <a:ext cx="1504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A8B9CA"/>
                </a:solidFill>
              </a:defRPr>
            </a:pPr>
            <a:r>
              <a:rPr sz="900">
                <a:solidFill>
                  <a:srgbClr val="A8B9CA"/>
                </a:solidFill>
              </a:rPr>
              <a:t>Python calculations, project context, source lineage, and validation</a:t>
            </a:r>
          </a:p>
        </p:txBody>
      </p:sp>
      <p:sp>
        <p:nvSpPr>
          <p:cNvPr id="15" name="">
            <a:extLst xmlns:a="http://schemas.openxmlformats.org/drawingml/2006/main">
              <a:ext uri="{FF2B5EF4-FFF2-40B4-BE49-F238E27FC236}">
                <a16:creationId xmlns:a16="http://schemas.microsoft.com/office/drawing/2014/main" id="{91162E30-72A8-4C84-8D45-2B1AFF488FCA}"/>
              </a:ext>
            </a:extLst>
          </p:cNvPr>
          <p:cNvSpPr>
            <a:spLocks xmlns:a="http://schemas.openxmlformats.org/drawingml/2006/main" noGrp="1"/>
          </p:cNvSpPr>
          <p:nvPr/>
        </p:nvSpPr>
        <p:spPr>
          <a:xfrm xmlns:a="http://schemas.openxmlformats.org/drawingml/2006/main">
            <a:off x="5353050" y="2819400"/>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16C9E8"/>
                </a:solidFill>
              </a:defRPr>
            </a:pPr>
            <a:r>
              <a:rPr sz="2400" b="1">
                <a:solidFill>
                  <a:srgbClr val="16C9E8"/>
                </a:solidFill>
              </a:rPr>
              <a:t>→</a:t>
            </a:r>
          </a:p>
        </p:txBody>
      </p:sp>
      <p:sp>
        <p:nvSpPr>
          <p:cNvPr id="16" name="">
            <a:extLst xmlns:a="http://schemas.openxmlformats.org/drawingml/2006/main">
              <a:ext uri="{FF2B5EF4-FFF2-40B4-BE49-F238E27FC236}">
                <a16:creationId xmlns:a16="http://schemas.microsoft.com/office/drawing/2014/main" id="{B1C59D7A-80E4-4285-8093-8B83BB29E7A4}"/>
              </a:ext>
            </a:extLst>
          </p:cNvPr>
          <p:cNvSpPr>
            <a:spLocks xmlns:a="http://schemas.openxmlformats.org/drawingml/2006/main" noGrp="1"/>
          </p:cNvSpPr>
          <p:nvPr/>
        </p:nvSpPr>
        <p:spPr>
          <a:xfrm xmlns:a="http://schemas.openxmlformats.org/drawingml/2006/main">
            <a:off x="5753100" y="2428875"/>
            <a:ext cx="2095500" cy="1238250"/>
          </a:xfrm>
          <a:prstGeom xmlns:a="http://schemas.openxmlformats.org/drawingml/2006/main" prst="roundRect">
            <a:avLst>
              <a:gd name="adj" fmla="val 9231"/>
            </a:avLst>
          </a:prstGeom>
          <a:solidFill xmlns:a="http://schemas.openxmlformats.org/drawingml/2006/main">
            <a:srgbClr val="10233B"/>
          </a:solidFill>
          <a:ln xmlns:a="http://schemas.openxmlformats.org/drawingml/2006/main" w="9525">
            <a:solidFill>
              <a:srgbClr val="23425F"/>
            </a:solidFill>
            <a:prstDash val="solid"/>
          </a:ln>
        </p:spPr>
      </p:sp>
      <p:sp>
        <p:nvSpPr>
          <p:cNvPr id="17" name="">
            <a:extLst xmlns:a="http://schemas.openxmlformats.org/drawingml/2006/main">
              <a:ext uri="{FF2B5EF4-FFF2-40B4-BE49-F238E27FC236}">
                <a16:creationId xmlns:a16="http://schemas.microsoft.com/office/drawing/2014/main" id="{E1467DA2-5066-44BB-8CE6-C90BCB10EADB}"/>
              </a:ext>
            </a:extLst>
          </p:cNvPr>
          <p:cNvSpPr>
            <a:spLocks xmlns:a="http://schemas.openxmlformats.org/drawingml/2006/main" noGrp="1"/>
          </p:cNvSpPr>
          <p:nvPr/>
        </p:nvSpPr>
        <p:spPr>
          <a:xfrm xmlns:a="http://schemas.openxmlformats.org/drawingml/2006/main">
            <a:off x="5924550" y="2590800"/>
            <a:ext cx="76200" cy="400050"/>
          </a:xfrm>
          <a:prstGeom xmlns:a="http://schemas.openxmlformats.org/drawingml/2006/main" prst="rect">
            <a:avLst/>
          </a:prstGeom>
          <a:solidFill xmlns:a="http://schemas.openxmlformats.org/drawingml/2006/main">
            <a:srgbClr val="FFB21A"/>
          </a:solidFill>
          <a:ln xmlns:a="http://schemas.openxmlformats.org/drawingml/2006/main" w="0">
            <a:solidFill>
              <a:srgbClr val="FFB21A"/>
            </a:solidFill>
            <a:prstDash val="solid"/>
          </a:ln>
        </p:spPr>
      </p:sp>
      <p:sp>
        <p:nvSpPr>
          <p:cNvPr id="18" name="">
            <a:extLst xmlns:a="http://schemas.openxmlformats.org/drawingml/2006/main">
              <a:ext uri="{FF2B5EF4-FFF2-40B4-BE49-F238E27FC236}">
                <a16:creationId xmlns:a16="http://schemas.microsoft.com/office/drawing/2014/main" id="{F27477B5-1692-4184-AA9C-E424B1B2EAD1}"/>
              </a:ext>
            </a:extLst>
          </p:cNvPr>
          <p:cNvSpPr>
            <a:spLocks xmlns:a="http://schemas.openxmlformats.org/drawingml/2006/main" noGrp="1"/>
          </p:cNvSpPr>
          <p:nvPr/>
        </p:nvSpPr>
        <p:spPr>
          <a:xfrm xmlns:a="http://schemas.openxmlformats.org/drawingml/2006/main">
            <a:off x="6153150" y="2638425"/>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C"/>
                </a:solidFill>
              </a:defRPr>
            </a:pPr>
            <a:r>
              <a:rPr sz="1350" b="1">
                <a:solidFill>
                  <a:srgbClr val="F4F8FC"/>
                </a:solidFill>
              </a:rPr>
              <a:t>Verified payloads</a:t>
            </a:r>
          </a:p>
        </p:txBody>
      </p:sp>
      <p:sp>
        <p:nvSpPr>
          <p:cNvPr id="19" name="">
            <a:extLst xmlns:a="http://schemas.openxmlformats.org/drawingml/2006/main">
              <a:ext uri="{FF2B5EF4-FFF2-40B4-BE49-F238E27FC236}">
                <a16:creationId xmlns:a16="http://schemas.microsoft.com/office/drawing/2014/main" id="{EDB973BF-BEB6-40FC-BFD8-7A02BD7B32AE}"/>
              </a:ext>
            </a:extLst>
          </p:cNvPr>
          <p:cNvSpPr>
            <a:spLocks xmlns:a="http://schemas.openxmlformats.org/drawingml/2006/main" noGrp="1"/>
          </p:cNvSpPr>
          <p:nvPr/>
        </p:nvSpPr>
        <p:spPr>
          <a:xfrm xmlns:a="http://schemas.openxmlformats.org/drawingml/2006/main">
            <a:off x="6153150" y="3000375"/>
            <a:ext cx="1504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A8B9CA"/>
                </a:solidFill>
              </a:defRPr>
            </a:pPr>
            <a:r>
              <a:rPr sz="900">
                <a:solidFill>
                  <a:srgbClr val="A8B9CA"/>
                </a:solidFill>
              </a:rPr>
              <a:t>Per-project JSON, charts, output manifests, and AI context</a:t>
            </a:r>
          </a:p>
        </p:txBody>
      </p:sp>
      <p:sp>
        <p:nvSpPr>
          <p:cNvPr id="20" name="">
            <a:extLst xmlns:a="http://schemas.openxmlformats.org/drawingml/2006/main">
              <a:ext uri="{FF2B5EF4-FFF2-40B4-BE49-F238E27FC236}">
                <a16:creationId xmlns:a16="http://schemas.microsoft.com/office/drawing/2014/main" id="{B91506A3-B16A-453D-AD60-1BF7DC0B979F}"/>
              </a:ext>
            </a:extLst>
          </p:cNvPr>
          <p:cNvSpPr>
            <a:spLocks xmlns:a="http://schemas.openxmlformats.org/drawingml/2006/main" noGrp="1"/>
          </p:cNvSpPr>
          <p:nvPr/>
        </p:nvSpPr>
        <p:spPr>
          <a:xfrm xmlns:a="http://schemas.openxmlformats.org/drawingml/2006/main">
            <a:off x="7924800" y="2819400"/>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16C9E8"/>
                </a:solidFill>
              </a:defRPr>
            </a:pPr>
            <a:r>
              <a:rPr sz="2400" b="1">
                <a:solidFill>
                  <a:srgbClr val="16C9E8"/>
                </a:solidFill>
              </a:rPr>
              <a:t>→</a:t>
            </a:r>
          </a:p>
        </p:txBody>
      </p:sp>
      <p:sp>
        <p:nvSpPr>
          <p:cNvPr id="21" name="">
            <a:extLst xmlns:a="http://schemas.openxmlformats.org/drawingml/2006/main">
              <a:ext uri="{FF2B5EF4-FFF2-40B4-BE49-F238E27FC236}">
                <a16:creationId xmlns:a16="http://schemas.microsoft.com/office/drawing/2014/main" id="{64765C5F-4753-4DC5-A511-832071DF76A1}"/>
              </a:ext>
            </a:extLst>
          </p:cNvPr>
          <p:cNvSpPr>
            <a:spLocks xmlns:a="http://schemas.openxmlformats.org/drawingml/2006/main" noGrp="1"/>
          </p:cNvSpPr>
          <p:nvPr/>
        </p:nvSpPr>
        <p:spPr>
          <a:xfrm xmlns:a="http://schemas.openxmlformats.org/drawingml/2006/main">
            <a:off x="8324850" y="2428875"/>
            <a:ext cx="2095500" cy="1238250"/>
          </a:xfrm>
          <a:prstGeom xmlns:a="http://schemas.openxmlformats.org/drawingml/2006/main" prst="roundRect">
            <a:avLst>
              <a:gd name="adj" fmla="val 9231"/>
            </a:avLst>
          </a:prstGeom>
          <a:solidFill xmlns:a="http://schemas.openxmlformats.org/drawingml/2006/main">
            <a:srgbClr val="10233B"/>
          </a:solidFill>
          <a:ln xmlns:a="http://schemas.openxmlformats.org/drawingml/2006/main" w="9525">
            <a:solidFill>
              <a:srgbClr val="23425F"/>
            </a:solidFill>
            <a:prstDash val="solid"/>
          </a:ln>
        </p:spPr>
      </p:sp>
      <p:sp>
        <p:nvSpPr>
          <p:cNvPr id="22" name="">
            <a:extLst xmlns:a="http://schemas.openxmlformats.org/drawingml/2006/main">
              <a:ext uri="{FF2B5EF4-FFF2-40B4-BE49-F238E27FC236}">
                <a16:creationId xmlns:a16="http://schemas.microsoft.com/office/drawing/2014/main" id="{AD8A9BD0-6588-474F-97FE-6DE8E971C5EB}"/>
              </a:ext>
            </a:extLst>
          </p:cNvPr>
          <p:cNvSpPr>
            <a:spLocks xmlns:a="http://schemas.openxmlformats.org/drawingml/2006/main" noGrp="1"/>
          </p:cNvSpPr>
          <p:nvPr/>
        </p:nvSpPr>
        <p:spPr>
          <a:xfrm xmlns:a="http://schemas.openxmlformats.org/drawingml/2006/main">
            <a:off x="8496300" y="2590800"/>
            <a:ext cx="76200" cy="400050"/>
          </a:xfrm>
          <a:prstGeom xmlns:a="http://schemas.openxmlformats.org/drawingml/2006/main" prst="rect">
            <a:avLst/>
          </a:prstGeom>
          <a:solidFill xmlns:a="http://schemas.openxmlformats.org/drawingml/2006/main">
            <a:srgbClr val="A779FF"/>
          </a:solidFill>
          <a:ln xmlns:a="http://schemas.openxmlformats.org/drawingml/2006/main" w="0">
            <a:solidFill>
              <a:srgbClr val="A779FF"/>
            </a:solidFill>
            <a:prstDash val="solid"/>
          </a:ln>
        </p:spPr>
      </p:sp>
      <p:sp>
        <p:nvSpPr>
          <p:cNvPr id="23" name="">
            <a:extLst xmlns:a="http://schemas.openxmlformats.org/drawingml/2006/main">
              <a:ext uri="{FF2B5EF4-FFF2-40B4-BE49-F238E27FC236}">
                <a16:creationId xmlns:a16="http://schemas.microsoft.com/office/drawing/2014/main" id="{6F8F7A82-1738-4283-867D-E72B63581BF1}"/>
              </a:ext>
            </a:extLst>
          </p:cNvPr>
          <p:cNvSpPr>
            <a:spLocks xmlns:a="http://schemas.openxmlformats.org/drawingml/2006/main" noGrp="1"/>
          </p:cNvSpPr>
          <p:nvPr/>
        </p:nvSpPr>
        <p:spPr>
          <a:xfrm xmlns:a="http://schemas.openxmlformats.org/drawingml/2006/main">
            <a:off x="8724900" y="2638425"/>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C"/>
                </a:solidFill>
              </a:defRPr>
            </a:pPr>
            <a:r>
              <a:rPr sz="1350" b="1">
                <a:solidFill>
                  <a:srgbClr val="F4F8FC"/>
                </a:solidFill>
              </a:rPr>
              <a:t>Vercel delivery</a:t>
            </a:r>
          </a:p>
        </p:txBody>
      </p:sp>
      <p:sp>
        <p:nvSpPr>
          <p:cNvPr id="24" name="">
            <a:extLst xmlns:a="http://schemas.openxmlformats.org/drawingml/2006/main">
              <a:ext uri="{FF2B5EF4-FFF2-40B4-BE49-F238E27FC236}">
                <a16:creationId xmlns:a16="http://schemas.microsoft.com/office/drawing/2014/main" id="{A8267BED-AB32-4CD1-BC90-44C7E5F17869}"/>
              </a:ext>
            </a:extLst>
          </p:cNvPr>
          <p:cNvSpPr>
            <a:spLocks xmlns:a="http://schemas.openxmlformats.org/drawingml/2006/main" noGrp="1"/>
          </p:cNvSpPr>
          <p:nvPr/>
        </p:nvSpPr>
        <p:spPr>
          <a:xfrm xmlns:a="http://schemas.openxmlformats.org/drawingml/2006/main">
            <a:off x="8724900" y="3000375"/>
            <a:ext cx="1504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A8B9CA"/>
                </a:solidFill>
              </a:defRPr>
            </a:pPr>
            <a:r>
              <a:rPr sz="900">
                <a:solidFill>
                  <a:srgbClr val="A8B9CA"/>
                </a:solidFill>
              </a:rPr>
              <a:t>Same-page workspace, Decision Dashboard, and direct outputs</a:t>
            </a:r>
          </a:p>
        </p:txBody>
      </p:sp>
      <p:sp>
        <p:nvSpPr>
          <p:cNvPr id="25" name="">
            <a:extLst xmlns:a="http://schemas.openxmlformats.org/drawingml/2006/main">
              <a:ext uri="{FF2B5EF4-FFF2-40B4-BE49-F238E27FC236}">
                <a16:creationId xmlns:a16="http://schemas.microsoft.com/office/drawing/2014/main" id="{E8F5B2AE-4E5B-4810-88CD-5ACBCB716EE8}"/>
              </a:ext>
            </a:extLst>
          </p:cNvPr>
          <p:cNvSpPr>
            <a:spLocks xmlns:a="http://schemas.openxmlformats.org/drawingml/2006/main" noGrp="1"/>
          </p:cNvSpPr>
          <p:nvPr/>
        </p:nvSpPr>
        <p:spPr>
          <a:xfrm xmlns:a="http://schemas.openxmlformats.org/drawingml/2006/main">
            <a:off x="609600" y="4476750"/>
            <a:ext cx="9810750" cy="857250"/>
          </a:xfrm>
          <a:prstGeom xmlns:a="http://schemas.openxmlformats.org/drawingml/2006/main" prst="roundRect">
            <a:avLst>
              <a:gd name="adj" fmla="val 13333"/>
            </a:avLst>
          </a:prstGeom>
          <a:solidFill xmlns:a="http://schemas.openxmlformats.org/drawingml/2006/main">
            <a:srgbClr val="10233B"/>
          </a:solidFill>
          <a:ln xmlns:a="http://schemas.openxmlformats.org/drawingml/2006/main" w="9525">
            <a:solidFill>
              <a:srgbClr val="23425F"/>
            </a:solidFill>
            <a:prstDash val="solid"/>
          </a:ln>
        </p:spPr>
      </p:sp>
      <p:sp>
        <p:nvSpPr>
          <p:cNvPr id="26" name="">
            <a:extLst xmlns:a="http://schemas.openxmlformats.org/drawingml/2006/main">
              <a:ext uri="{FF2B5EF4-FFF2-40B4-BE49-F238E27FC236}">
                <a16:creationId xmlns:a16="http://schemas.microsoft.com/office/drawing/2014/main" id="{15C6B8BD-AF43-4AC7-86E0-4832125A6047}"/>
              </a:ext>
            </a:extLst>
          </p:cNvPr>
          <p:cNvSpPr>
            <a:spLocks xmlns:a="http://schemas.openxmlformats.org/drawingml/2006/main" noGrp="1"/>
          </p:cNvSpPr>
          <p:nvPr/>
        </p:nvSpPr>
        <p:spPr>
          <a:xfrm xmlns:a="http://schemas.openxmlformats.org/drawingml/2006/main">
            <a:off x="933450" y="477202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4F8FC"/>
                </a:solidFill>
              </a:defRPr>
            </a:pPr>
            <a:r>
              <a:rPr sz="1500" b="1">
                <a:solidFill>
                  <a:srgbClr val="F4F8FC"/>
                </a:solidFill>
              </a:rPr>
              <a:t>Control rule: every source row, calculated metric, chart payload, report artifact, and AI context carries project_id and project_key.</a:t>
            </a:r>
          </a:p>
        </p:txBody>
      </p:sp>
      <p:sp>
        <p:nvSpPr>
          <p:cNvPr id="27" name="">
            <a:extLst xmlns:a="http://schemas.openxmlformats.org/drawingml/2006/main">
              <a:ext uri="{FF2B5EF4-FFF2-40B4-BE49-F238E27FC236}">
                <a16:creationId xmlns:a16="http://schemas.microsoft.com/office/drawing/2014/main" id="{FB7460FD-DD5E-4022-AF2C-1FE252031995}"/>
              </a:ext>
            </a:extLst>
          </p:cNvPr>
          <p:cNvSpPr>
            <a:spLocks xmlns:a="http://schemas.openxmlformats.org/drawingml/2006/main" noGrp="1"/>
          </p:cNvSpPr>
          <p:nvPr/>
        </p:nvSpPr>
        <p:spPr>
          <a:xfrm xmlns:a="http://schemas.openxmlformats.org/drawingml/2006/main">
            <a:off x="609600"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Designed &amp; Created |</a:t>
            </a:r>
          </a:p>
        </p:txBody>
      </p:sp>
      <p:sp>
        <p:nvSpPr>
          <p:cNvPr id="28" name="">
            <a:extLst xmlns:a="http://schemas.openxmlformats.org/drawingml/2006/main">
              <a:ext uri="{FF2B5EF4-FFF2-40B4-BE49-F238E27FC236}">
                <a16:creationId xmlns:a16="http://schemas.microsoft.com/office/drawing/2014/main" id="{5BC5C254-4A3D-404D-A01C-D6EB05C239FD}"/>
              </a:ext>
            </a:extLst>
          </p:cNvPr>
          <p:cNvSpPr>
            <a:spLocks xmlns:a="http://schemas.openxmlformats.org/drawingml/2006/main" noGrp="1"/>
          </p:cNvSpPr>
          <p:nvPr/>
        </p:nvSpPr>
        <p:spPr>
          <a:xfrm xmlns:a="http://schemas.openxmlformats.org/drawingml/2006/main">
            <a:off x="1952625"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6C9E8"/>
                </a:solidFill>
              </a:defRPr>
            </a:pPr>
            <a:r>
              <a:rPr sz="750" b="1">
                <a:solidFill>
                  <a:srgbClr val="16C9E8"/>
                </a:solidFill>
              </a:rPr>
              <a:t>Engr. Ahmed Labib</a:t>
            </a:r>
          </a:p>
        </p:txBody>
      </p:sp>
      <p:sp>
        <p:nvSpPr>
          <p:cNvPr id="29" name="">
            <a:extLst xmlns:a="http://schemas.openxmlformats.org/drawingml/2006/main">
              <a:ext uri="{FF2B5EF4-FFF2-40B4-BE49-F238E27FC236}">
                <a16:creationId xmlns:a16="http://schemas.microsoft.com/office/drawing/2014/main" id="{214CC192-AC82-431D-9478-6AF09C26F7F4}"/>
              </a:ext>
            </a:extLst>
          </p:cNvPr>
          <p:cNvSpPr>
            <a:spLocks xmlns:a="http://schemas.openxmlformats.org/drawingml/2006/main" noGrp="1"/>
          </p:cNvSpPr>
          <p:nvPr/>
        </p:nvSpPr>
        <p:spPr>
          <a:xfrm xmlns:a="http://schemas.openxmlformats.org/drawingml/2006/main">
            <a:off x="9144000" y="6496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A8B9CA"/>
                </a:solidFill>
              </a:defRPr>
            </a:pPr>
            <a:r>
              <a:rPr sz="750">
                <a:solidFill>
                  <a:srgbClr val="A8B9CA"/>
                </a:solidFill>
              </a:rPr>
              <a:t>Evidence-led project controls</a:t>
            </a:r>
          </a:p>
        </p:txBody>
      </p:sp>
    </p:spTree>
    <p:extLst>
      <p:ext uri="{BB962C8B-B14F-4D97-AF65-F5344CB8AC3E}">
        <p14:creationId xmlns:p14="http://schemas.microsoft.com/office/powerpoint/2010/main" val="818400899"/>
      </p:ext>
    </p:extLst>
  </p:cSld>
</p:sld>
</file>

<file path=ppt/slides/slide4.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A63A5B8-A2DA-461E-81A3-3FB3F945DB05}"/>
              </a:ext>
            </a:extLst>
          </p:cNvPr>
          <p:cNvSpPr>
            <a:spLocks xmlns:a="http://schemas.openxmlformats.org/drawingml/2006/main" noGrp="1"/>
          </p:cNvSpPr>
          <p:nvPr/>
        </p:nvSpPr>
        <p:spPr>
          <a:xfrm xmlns:a="http://schemas.openxmlformats.org/drawingml/2006/main">
            <a:off x="609600" y="400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6C9E8"/>
                </a:solidFill>
              </a:defRPr>
            </a:pPr>
            <a:r>
              <a:rPr sz="975" b="1">
                <a:solidFill>
                  <a:srgbClr val="16C9E8"/>
                </a:solidFill>
              </a:rPr>
              <a:t>PROJECT ISOLATION</a:t>
            </a:r>
          </a:p>
        </p:txBody>
      </p:sp>
      <p:sp>
        <p:nvSpPr>
          <p:cNvPr id="2" name="">
            <a:extLst xmlns:a="http://schemas.openxmlformats.org/drawingml/2006/main">
              <a:ext uri="{FF2B5EF4-FFF2-40B4-BE49-F238E27FC236}">
                <a16:creationId xmlns:a16="http://schemas.microsoft.com/office/drawing/2014/main" id="{805FDC2C-402D-4DC4-A814-4C52281C118D}"/>
              </a:ext>
            </a:extLst>
          </p:cNvPr>
          <p:cNvSpPr>
            <a:spLocks xmlns:a="http://schemas.openxmlformats.org/drawingml/2006/main" noGrp="1"/>
          </p:cNvSpPr>
          <p:nvPr/>
        </p:nvSpPr>
        <p:spPr>
          <a:xfrm xmlns:a="http://schemas.openxmlformats.org/drawingml/2006/main">
            <a:off x="609600" y="6858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4F8FC"/>
                </a:solidFill>
              </a:defRPr>
            </a:pPr>
            <a:r>
              <a:rPr sz="2550" b="1">
                <a:solidFill>
                  <a:srgbClr val="F4F8FC"/>
                </a:solidFill>
              </a:rPr>
              <a:t>Each project is a separate evidence boundary</a:t>
            </a:r>
          </a:p>
        </p:txBody>
      </p:sp>
      <p:sp>
        <p:nvSpPr>
          <p:cNvPr id="3" name="">
            <a:extLst xmlns:a="http://schemas.openxmlformats.org/drawingml/2006/main">
              <a:ext uri="{FF2B5EF4-FFF2-40B4-BE49-F238E27FC236}">
                <a16:creationId xmlns:a16="http://schemas.microsoft.com/office/drawing/2014/main" id="{1DEC5A82-09FA-47E3-AA65-C3A9B10AD093}"/>
              </a:ext>
            </a:extLst>
          </p:cNvPr>
          <p:cNvSpPr>
            <a:spLocks xmlns:a="http://schemas.openxmlformats.org/drawingml/2006/main" noGrp="1"/>
          </p:cNvSpPr>
          <p:nvPr/>
        </p:nvSpPr>
        <p:spPr>
          <a:xfrm xmlns:a="http://schemas.openxmlformats.org/drawingml/2006/main">
            <a:off x="609600" y="12573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A8B9CA"/>
                </a:solidFill>
              </a:defRPr>
            </a:pPr>
            <a:r>
              <a:rPr sz="1275">
                <a:solidFill>
                  <a:srgbClr val="A8B9CA"/>
                </a:solidFill>
              </a:rPr>
              <a:t>The shared dashboard can aggregate management signals without allowing a project workspace to read another project’s records.</a:t>
            </a:r>
          </a:p>
        </p:txBody>
      </p:sp>
      <p:sp>
        <p:nvSpPr>
          <p:cNvPr id="4" name="">
            <a:extLst xmlns:a="http://schemas.openxmlformats.org/drawingml/2006/main">
              <a:ext uri="{FF2B5EF4-FFF2-40B4-BE49-F238E27FC236}">
                <a16:creationId xmlns:a16="http://schemas.microsoft.com/office/drawing/2014/main" id="{B1943162-1476-4F3D-BB22-C5A71C36374B}"/>
              </a:ext>
            </a:extLst>
          </p:cNvPr>
          <p:cNvSpPr>
            <a:spLocks xmlns:a="http://schemas.openxmlformats.org/drawingml/2006/main" noGrp="1"/>
          </p:cNvSpPr>
          <p:nvPr/>
        </p:nvSpPr>
        <p:spPr>
          <a:xfrm xmlns:a="http://schemas.openxmlformats.org/drawingml/2006/main">
            <a:off x="9525000" y="4381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8B9CA"/>
                </a:solidFill>
              </a:defRPr>
            </a:pPr>
            <a:r>
              <a:rPr sz="750" b="1">
                <a:solidFill>
                  <a:srgbClr val="A8B9CA"/>
                </a:solidFill>
              </a:rPr>
              <a:t>SAMCO PROJECT INTELLIGENCE HUB  |  04</a:t>
            </a:r>
          </a:p>
        </p:txBody>
      </p:sp>
      <p:sp>
        <p:nvSpPr>
          <p:cNvPr id="5" name="">
            <a:extLst xmlns:a="http://schemas.openxmlformats.org/drawingml/2006/main">
              <a:ext uri="{FF2B5EF4-FFF2-40B4-BE49-F238E27FC236}">
                <a16:creationId xmlns:a16="http://schemas.microsoft.com/office/drawing/2014/main" id="{A012F0D4-C2F4-4082-B19E-1FB1221872D8}"/>
              </a:ext>
            </a:extLst>
          </p:cNvPr>
          <p:cNvSpPr>
            <a:spLocks xmlns:a="http://schemas.openxmlformats.org/drawingml/2006/main" noGrp="1"/>
          </p:cNvSpPr>
          <p:nvPr/>
        </p:nvSpPr>
        <p:spPr>
          <a:xfrm xmlns:a="http://schemas.openxmlformats.org/drawingml/2006/main">
            <a:off x="609600" y="1695450"/>
            <a:ext cx="10972800" cy="9525"/>
          </a:xfrm>
          <a:prstGeom xmlns:a="http://schemas.openxmlformats.org/drawingml/2006/main" prst="rect">
            <a:avLst/>
          </a:prstGeom>
          <a:solidFill xmlns:a="http://schemas.openxmlformats.org/drawingml/2006/main">
            <a:srgbClr val="23425F"/>
          </a:solidFill>
          <a:ln xmlns:a="http://schemas.openxmlformats.org/drawingml/2006/main" w="0">
            <a:solidFill>
              <a:srgbClr val="23425F"/>
            </a:solidFill>
            <a:prstDash val="solid"/>
          </a:ln>
        </p:spPr>
      </p:sp>
      <p:sp>
        <p:nvSpPr>
          <p:cNvPr id="6" name="">
            <a:extLst xmlns:a="http://schemas.openxmlformats.org/drawingml/2006/main">
              <a:ext uri="{FF2B5EF4-FFF2-40B4-BE49-F238E27FC236}">
                <a16:creationId xmlns:a16="http://schemas.microsoft.com/office/drawing/2014/main" id="{372A7150-77F4-4859-8BE4-62A9298AACD2}"/>
              </a:ext>
            </a:extLst>
          </p:cNvPr>
          <p:cNvSpPr>
            <a:spLocks xmlns:a="http://schemas.openxmlformats.org/drawingml/2006/main" noGrp="1"/>
          </p:cNvSpPr>
          <p:nvPr/>
        </p:nvSpPr>
        <p:spPr>
          <a:xfrm xmlns:a="http://schemas.openxmlformats.org/drawingml/2006/main">
            <a:off x="609600" y="2190750"/>
            <a:ext cx="4953000" cy="3143250"/>
          </a:xfrm>
          <a:prstGeom xmlns:a="http://schemas.openxmlformats.org/drawingml/2006/main" prst="roundRect">
            <a:avLst>
              <a:gd name="adj" fmla="val 3636"/>
            </a:avLst>
          </a:prstGeom>
          <a:solidFill xmlns:a="http://schemas.openxmlformats.org/drawingml/2006/main">
            <a:srgbClr val="0D1B30"/>
          </a:solidFill>
          <a:ln xmlns:a="http://schemas.openxmlformats.org/drawingml/2006/main" w="9525">
            <a:solidFill>
              <a:srgbClr val="23425F"/>
            </a:solidFill>
            <a:prstDash val="solid"/>
          </a:ln>
        </p:spPr>
      </p:sp>
      <p:sp>
        <p:nvSpPr>
          <p:cNvPr id="7" name="">
            <a:extLst xmlns:a="http://schemas.openxmlformats.org/drawingml/2006/main">
              <a:ext uri="{FF2B5EF4-FFF2-40B4-BE49-F238E27FC236}">
                <a16:creationId xmlns:a16="http://schemas.microsoft.com/office/drawing/2014/main" id="{6606AB2D-90B5-472A-8AFB-5A9583819EE2}"/>
              </a:ext>
            </a:extLst>
          </p:cNvPr>
          <p:cNvSpPr>
            <a:spLocks xmlns:a="http://schemas.openxmlformats.org/drawingml/2006/main" noGrp="1"/>
          </p:cNvSpPr>
          <p:nvPr/>
        </p:nvSpPr>
        <p:spPr>
          <a:xfrm xmlns:a="http://schemas.openxmlformats.org/drawingml/2006/main">
            <a:off x="914400" y="24574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16C9E8"/>
                </a:solidFill>
              </a:defRPr>
            </a:pPr>
            <a:r>
              <a:rPr sz="1950" b="1">
                <a:solidFill>
                  <a:srgbClr val="16C9E8"/>
                </a:solidFill>
              </a:rPr>
              <a:t>Within one project</a:t>
            </a:r>
          </a:p>
        </p:txBody>
      </p:sp>
      <p:sp>
        <p:nvSpPr>
          <p:cNvPr id="8" name="">
            <a:extLst xmlns:a="http://schemas.openxmlformats.org/drawingml/2006/main">
              <a:ext uri="{FF2B5EF4-FFF2-40B4-BE49-F238E27FC236}">
                <a16:creationId xmlns:a16="http://schemas.microsoft.com/office/drawing/2014/main" id="{C501CF94-933A-4CF3-81F9-B9D0FB06FB6B}"/>
              </a:ext>
            </a:extLst>
          </p:cNvPr>
          <p:cNvSpPr>
            <a:spLocks xmlns:a="http://schemas.openxmlformats.org/drawingml/2006/main" noGrp="1"/>
          </p:cNvSpPr>
          <p:nvPr/>
        </p:nvSpPr>
        <p:spPr>
          <a:xfrm xmlns:a="http://schemas.openxmlformats.org/drawingml/2006/main">
            <a:off x="952500" y="3000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F4F8FC"/>
                </a:solidFill>
              </a:defRPr>
            </a:pPr>
            <a:r>
              <a:rPr sz="1350">
                <a:solidFill>
                  <a:srgbClr val="F4F8FC"/>
                </a:solidFill>
              </a:rPr>
              <a:t>•  Project manifest and stable project_id</a:t>
            </a:r>
          </a:p>
        </p:txBody>
      </p:sp>
      <p:sp>
        <p:nvSpPr>
          <p:cNvPr id="9" name="">
            <a:extLst xmlns:a="http://schemas.openxmlformats.org/drawingml/2006/main">
              <a:ext uri="{FF2B5EF4-FFF2-40B4-BE49-F238E27FC236}">
                <a16:creationId xmlns:a16="http://schemas.microsoft.com/office/drawing/2014/main" id="{0537EEE7-828B-4E12-9E05-B74F47DB1641}"/>
              </a:ext>
            </a:extLst>
          </p:cNvPr>
          <p:cNvSpPr>
            <a:spLocks xmlns:a="http://schemas.openxmlformats.org/drawingml/2006/main" noGrp="1"/>
          </p:cNvSpPr>
          <p:nvPr/>
        </p:nvSpPr>
        <p:spPr>
          <a:xfrm xmlns:a="http://schemas.openxmlformats.org/drawingml/2006/main">
            <a:off x="952500" y="34956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F4F8FC"/>
                </a:solidFill>
              </a:defRPr>
            </a:pPr>
            <a:r>
              <a:rPr sz="1350">
                <a:solidFill>
                  <a:srgbClr val="F4F8FC"/>
                </a:solidFill>
              </a:rPr>
              <a:t>•  Data and schedule sources</a:t>
            </a:r>
          </a:p>
        </p:txBody>
      </p:sp>
      <p:sp>
        <p:nvSpPr>
          <p:cNvPr id="10" name="">
            <a:extLst xmlns:a="http://schemas.openxmlformats.org/drawingml/2006/main">
              <a:ext uri="{FF2B5EF4-FFF2-40B4-BE49-F238E27FC236}">
                <a16:creationId xmlns:a16="http://schemas.microsoft.com/office/drawing/2014/main" id="{62CD4053-010F-493F-BD53-476E6485D98C}"/>
              </a:ext>
            </a:extLst>
          </p:cNvPr>
          <p:cNvSpPr>
            <a:spLocks xmlns:a="http://schemas.openxmlformats.org/drawingml/2006/main" noGrp="1"/>
          </p:cNvSpPr>
          <p:nvPr/>
        </p:nvSpPr>
        <p:spPr>
          <a:xfrm xmlns:a="http://schemas.openxmlformats.org/drawingml/2006/main">
            <a:off x="952500" y="39909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F4F8FC"/>
                </a:solidFill>
              </a:defRPr>
            </a:pPr>
            <a:r>
              <a:rPr sz="1350">
                <a:solidFill>
                  <a:srgbClr val="F4F8FC"/>
                </a:solidFill>
              </a:rPr>
              <a:t>•  Letters, contracts, evidence, and claims</a:t>
            </a:r>
          </a:p>
        </p:txBody>
      </p:sp>
      <p:sp>
        <p:nvSpPr>
          <p:cNvPr id="11" name="">
            <a:extLst xmlns:a="http://schemas.openxmlformats.org/drawingml/2006/main">
              <a:ext uri="{FF2B5EF4-FFF2-40B4-BE49-F238E27FC236}">
                <a16:creationId xmlns:a16="http://schemas.microsoft.com/office/drawing/2014/main" id="{428D8879-55A1-4498-A764-8CFEFBB64499}"/>
              </a:ext>
            </a:extLst>
          </p:cNvPr>
          <p:cNvSpPr>
            <a:spLocks xmlns:a="http://schemas.openxmlformats.org/drawingml/2006/main" noGrp="1"/>
          </p:cNvSpPr>
          <p:nvPr/>
        </p:nvSpPr>
        <p:spPr>
          <a:xfrm xmlns:a="http://schemas.openxmlformats.org/drawingml/2006/main">
            <a:off x="952500" y="44862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F4F8FC"/>
                </a:solidFill>
              </a:defRPr>
            </a:pPr>
            <a:r>
              <a:rPr sz="1350">
                <a:solidFill>
                  <a:srgbClr val="F4F8FC"/>
                </a:solidFill>
              </a:rPr>
              <a:t>•  Delay logic, report outputs, and AI context</a:t>
            </a:r>
          </a:p>
        </p:txBody>
      </p:sp>
      <p:sp>
        <p:nvSpPr>
          <p:cNvPr id="12" name="">
            <a:extLst xmlns:a="http://schemas.openxmlformats.org/drawingml/2006/main">
              <a:ext uri="{FF2B5EF4-FFF2-40B4-BE49-F238E27FC236}">
                <a16:creationId xmlns:a16="http://schemas.microsoft.com/office/drawing/2014/main" id="{128BC334-F01C-4264-A824-845678D250FE}"/>
              </a:ext>
            </a:extLst>
          </p:cNvPr>
          <p:cNvSpPr>
            <a:spLocks xmlns:a="http://schemas.openxmlformats.org/drawingml/2006/main" noGrp="1"/>
          </p:cNvSpPr>
          <p:nvPr/>
        </p:nvSpPr>
        <p:spPr>
          <a:xfrm xmlns:a="http://schemas.openxmlformats.org/drawingml/2006/main">
            <a:off x="6048375" y="2190750"/>
            <a:ext cx="4991100" cy="3143250"/>
          </a:xfrm>
          <a:prstGeom xmlns:a="http://schemas.openxmlformats.org/drawingml/2006/main" prst="roundRect">
            <a:avLst>
              <a:gd name="adj" fmla="val 3636"/>
            </a:avLst>
          </a:prstGeom>
          <a:solidFill xmlns:a="http://schemas.openxmlformats.org/drawingml/2006/main">
            <a:srgbClr val="10233B"/>
          </a:solidFill>
          <a:ln xmlns:a="http://schemas.openxmlformats.org/drawingml/2006/main" w="9525">
            <a:solidFill>
              <a:srgbClr val="23425F"/>
            </a:solidFill>
            <a:prstDash val="solid"/>
          </a:ln>
        </p:spPr>
      </p:sp>
      <p:sp>
        <p:nvSpPr>
          <p:cNvPr id="13" name="">
            <a:extLst xmlns:a="http://schemas.openxmlformats.org/drawingml/2006/main">
              <a:ext uri="{FF2B5EF4-FFF2-40B4-BE49-F238E27FC236}">
                <a16:creationId xmlns:a16="http://schemas.microsoft.com/office/drawing/2014/main" id="{A9EE12B6-56CF-4B99-B3C5-9345F68A1D37}"/>
              </a:ext>
            </a:extLst>
          </p:cNvPr>
          <p:cNvSpPr>
            <a:spLocks xmlns:a="http://schemas.openxmlformats.org/drawingml/2006/main" noGrp="1"/>
          </p:cNvSpPr>
          <p:nvPr/>
        </p:nvSpPr>
        <p:spPr>
          <a:xfrm xmlns:a="http://schemas.openxmlformats.org/drawingml/2006/main">
            <a:off x="6353175" y="24574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22C7B8"/>
                </a:solidFill>
              </a:defRPr>
            </a:pPr>
            <a:r>
              <a:rPr sz="1950" b="1">
                <a:solidFill>
                  <a:srgbClr val="22C7B8"/>
                </a:solidFill>
              </a:rPr>
              <a:t>Across the portfolio</a:t>
            </a:r>
          </a:p>
        </p:txBody>
      </p:sp>
      <p:sp>
        <p:nvSpPr>
          <p:cNvPr id="14" name="">
            <a:extLst xmlns:a="http://schemas.openxmlformats.org/drawingml/2006/main">
              <a:ext uri="{FF2B5EF4-FFF2-40B4-BE49-F238E27FC236}">
                <a16:creationId xmlns:a16="http://schemas.microsoft.com/office/drawing/2014/main" id="{9BDC823E-1556-4D8D-989F-EB8DAABE6C06}"/>
              </a:ext>
            </a:extLst>
          </p:cNvPr>
          <p:cNvSpPr>
            <a:spLocks xmlns:a="http://schemas.openxmlformats.org/drawingml/2006/main" noGrp="1"/>
          </p:cNvSpPr>
          <p:nvPr/>
        </p:nvSpPr>
        <p:spPr>
          <a:xfrm xmlns:a="http://schemas.openxmlformats.org/drawingml/2006/main">
            <a:off x="6353175" y="3048000"/>
            <a:ext cx="4000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F4F8FC"/>
                </a:solidFill>
              </a:defRPr>
            </a:pPr>
            <a:r>
              <a:rPr sz="1650">
                <a:solidFill>
                  <a:srgbClr val="F4F8FC"/>
                </a:solidFill>
              </a:rPr>
              <a:t>Only derived, verified portfolio metrics are aggregated. The Decision Making Dashboard is clearly portfolio-scoped; project AI, letters, claims, and outputs stay within the selected project.</a:t>
            </a:r>
          </a:p>
        </p:txBody>
      </p:sp>
      <p:sp>
        <p:nvSpPr>
          <p:cNvPr id="15" name="">
            <a:extLst xmlns:a="http://schemas.openxmlformats.org/drawingml/2006/main">
              <a:ext uri="{FF2B5EF4-FFF2-40B4-BE49-F238E27FC236}">
                <a16:creationId xmlns:a16="http://schemas.microsoft.com/office/drawing/2014/main" id="{29A17109-DE4B-4747-A0BB-B2ED9A4693BF}"/>
              </a:ext>
            </a:extLst>
          </p:cNvPr>
          <p:cNvSpPr>
            <a:spLocks xmlns:a="http://schemas.openxmlformats.org/drawingml/2006/main" noGrp="1"/>
          </p:cNvSpPr>
          <p:nvPr/>
        </p:nvSpPr>
        <p:spPr>
          <a:xfrm xmlns:a="http://schemas.openxmlformats.org/drawingml/2006/main">
            <a:off x="6353175" y="4629150"/>
            <a:ext cx="3857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B21A"/>
                </a:solidFill>
              </a:defRPr>
            </a:pPr>
            <a:r>
              <a:rPr sz="1350" b="1">
                <a:solidFill>
                  <a:srgbClr val="FFB21A"/>
                </a:solidFill>
              </a:rPr>
              <a:t>No fallback to another project is permitted when data is missing.</a:t>
            </a:r>
          </a:p>
        </p:txBody>
      </p:sp>
      <p:sp>
        <p:nvSpPr>
          <p:cNvPr id="16" name="">
            <a:extLst xmlns:a="http://schemas.openxmlformats.org/drawingml/2006/main">
              <a:ext uri="{FF2B5EF4-FFF2-40B4-BE49-F238E27FC236}">
                <a16:creationId xmlns:a16="http://schemas.microsoft.com/office/drawing/2014/main" id="{0A7EC982-ADC9-4A66-AB46-671C24753001}"/>
              </a:ext>
            </a:extLst>
          </p:cNvPr>
          <p:cNvSpPr>
            <a:spLocks xmlns:a="http://schemas.openxmlformats.org/drawingml/2006/main" noGrp="1"/>
          </p:cNvSpPr>
          <p:nvPr/>
        </p:nvSpPr>
        <p:spPr>
          <a:xfrm xmlns:a="http://schemas.openxmlformats.org/drawingml/2006/main">
            <a:off x="609600"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Designed &amp; Created |</a:t>
            </a:r>
          </a:p>
        </p:txBody>
      </p:sp>
      <p:sp>
        <p:nvSpPr>
          <p:cNvPr id="17" name="">
            <a:extLst xmlns:a="http://schemas.openxmlformats.org/drawingml/2006/main">
              <a:ext uri="{FF2B5EF4-FFF2-40B4-BE49-F238E27FC236}">
                <a16:creationId xmlns:a16="http://schemas.microsoft.com/office/drawing/2014/main" id="{727C32B7-72A8-4CA9-AA92-B7A800BC54CA}"/>
              </a:ext>
            </a:extLst>
          </p:cNvPr>
          <p:cNvSpPr>
            <a:spLocks xmlns:a="http://schemas.openxmlformats.org/drawingml/2006/main" noGrp="1"/>
          </p:cNvSpPr>
          <p:nvPr/>
        </p:nvSpPr>
        <p:spPr>
          <a:xfrm xmlns:a="http://schemas.openxmlformats.org/drawingml/2006/main">
            <a:off x="1952625"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6C9E8"/>
                </a:solidFill>
              </a:defRPr>
            </a:pPr>
            <a:r>
              <a:rPr sz="750" b="1">
                <a:solidFill>
                  <a:srgbClr val="16C9E8"/>
                </a:solidFill>
              </a:rPr>
              <a:t>Engr. Ahmed Labib</a:t>
            </a:r>
          </a:p>
        </p:txBody>
      </p:sp>
      <p:sp>
        <p:nvSpPr>
          <p:cNvPr id="18" name="">
            <a:extLst xmlns:a="http://schemas.openxmlformats.org/drawingml/2006/main">
              <a:ext uri="{FF2B5EF4-FFF2-40B4-BE49-F238E27FC236}">
                <a16:creationId xmlns:a16="http://schemas.microsoft.com/office/drawing/2014/main" id="{F5CFDBB2-E0A0-46C1-B319-BC93C2B2FB3B}"/>
              </a:ext>
            </a:extLst>
          </p:cNvPr>
          <p:cNvSpPr>
            <a:spLocks xmlns:a="http://schemas.openxmlformats.org/drawingml/2006/main" noGrp="1"/>
          </p:cNvSpPr>
          <p:nvPr/>
        </p:nvSpPr>
        <p:spPr>
          <a:xfrm xmlns:a="http://schemas.openxmlformats.org/drawingml/2006/main">
            <a:off x="9144000" y="6496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A8B9CA"/>
                </a:solidFill>
              </a:defRPr>
            </a:pPr>
            <a:r>
              <a:rPr sz="750">
                <a:solidFill>
                  <a:srgbClr val="A8B9CA"/>
                </a:solidFill>
              </a:rPr>
              <a:t>Evidence-led project controls</a:t>
            </a:r>
          </a:p>
        </p:txBody>
      </p:sp>
    </p:spTree>
    <p:extLst>
      <p:ext uri="{BB962C8B-B14F-4D97-AF65-F5344CB8AC3E}">
        <p14:creationId xmlns:p14="http://schemas.microsoft.com/office/powerpoint/2010/main" val="1288964325"/>
      </p:ext>
    </p:extLst>
  </p:cSld>
</p:sld>
</file>

<file path=ppt/slides/slide5.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7E98D34-C256-464A-B201-AA4BCFD14EBF}"/>
              </a:ext>
            </a:extLst>
          </p:cNvPr>
          <p:cNvSpPr>
            <a:spLocks xmlns:a="http://schemas.openxmlformats.org/drawingml/2006/main" noGrp="1"/>
          </p:cNvSpPr>
          <p:nvPr/>
        </p:nvSpPr>
        <p:spPr>
          <a:xfrm xmlns:a="http://schemas.openxmlformats.org/drawingml/2006/main">
            <a:off x="609600" y="400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6C9E8"/>
                </a:solidFill>
              </a:defRPr>
            </a:pPr>
            <a:r>
              <a:rPr sz="975" b="1">
                <a:solidFill>
                  <a:srgbClr val="16C9E8"/>
                </a:solidFill>
              </a:rPr>
              <a:t>DECISION INTELLIGENCE</a:t>
            </a:r>
          </a:p>
        </p:txBody>
      </p:sp>
      <p:sp>
        <p:nvSpPr>
          <p:cNvPr id="2" name="">
            <a:extLst xmlns:a="http://schemas.openxmlformats.org/drawingml/2006/main">
              <a:ext uri="{FF2B5EF4-FFF2-40B4-BE49-F238E27FC236}">
                <a16:creationId xmlns:a16="http://schemas.microsoft.com/office/drawing/2014/main" id="{DF4702F4-E667-4674-B8C0-4744EDBADAA6}"/>
              </a:ext>
            </a:extLst>
          </p:cNvPr>
          <p:cNvSpPr>
            <a:spLocks xmlns:a="http://schemas.openxmlformats.org/drawingml/2006/main" noGrp="1"/>
          </p:cNvSpPr>
          <p:nvPr/>
        </p:nvSpPr>
        <p:spPr>
          <a:xfrm xmlns:a="http://schemas.openxmlformats.org/drawingml/2006/main">
            <a:off x="609600" y="6858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4F8FC"/>
                </a:solidFill>
              </a:defRPr>
            </a:pPr>
            <a:r>
              <a:rPr sz="2550" b="1">
                <a:solidFill>
                  <a:srgbClr val="F4F8FC"/>
                </a:solidFill>
              </a:rPr>
              <a:t>Signals, confidence, actions, and evidence gaps</a:t>
            </a:r>
          </a:p>
        </p:txBody>
      </p:sp>
      <p:sp>
        <p:nvSpPr>
          <p:cNvPr id="3" name="">
            <a:extLst xmlns:a="http://schemas.openxmlformats.org/drawingml/2006/main">
              <a:ext uri="{FF2B5EF4-FFF2-40B4-BE49-F238E27FC236}">
                <a16:creationId xmlns:a16="http://schemas.microsoft.com/office/drawing/2014/main" id="{086AF216-DBD8-46CE-8446-B39A3AF8AB45}"/>
              </a:ext>
            </a:extLst>
          </p:cNvPr>
          <p:cNvSpPr>
            <a:spLocks xmlns:a="http://schemas.openxmlformats.org/drawingml/2006/main" noGrp="1"/>
          </p:cNvSpPr>
          <p:nvPr/>
        </p:nvSpPr>
        <p:spPr>
          <a:xfrm xmlns:a="http://schemas.openxmlformats.org/drawingml/2006/main">
            <a:off x="609600" y="12573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A8B9CA"/>
                </a:solidFill>
              </a:defRPr>
            </a:pPr>
            <a:r>
              <a:rPr sz="1275">
                <a:solidFill>
                  <a:srgbClr val="A8B9CA"/>
                </a:solidFill>
              </a:rPr>
              <a:t>The design language follows the supplied dark chart reference: compact controls, high signal density, and restrained accent colours.</a:t>
            </a:r>
          </a:p>
        </p:txBody>
      </p:sp>
      <p:sp>
        <p:nvSpPr>
          <p:cNvPr id="4" name="">
            <a:extLst xmlns:a="http://schemas.openxmlformats.org/drawingml/2006/main">
              <a:ext uri="{FF2B5EF4-FFF2-40B4-BE49-F238E27FC236}">
                <a16:creationId xmlns:a16="http://schemas.microsoft.com/office/drawing/2014/main" id="{FF81E062-630D-4FB5-8EEC-DB94BC603036}"/>
              </a:ext>
            </a:extLst>
          </p:cNvPr>
          <p:cNvSpPr>
            <a:spLocks xmlns:a="http://schemas.openxmlformats.org/drawingml/2006/main" noGrp="1"/>
          </p:cNvSpPr>
          <p:nvPr/>
        </p:nvSpPr>
        <p:spPr>
          <a:xfrm xmlns:a="http://schemas.openxmlformats.org/drawingml/2006/main">
            <a:off x="9525000" y="4381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8B9CA"/>
                </a:solidFill>
              </a:defRPr>
            </a:pPr>
            <a:r>
              <a:rPr sz="750" b="1">
                <a:solidFill>
                  <a:srgbClr val="A8B9CA"/>
                </a:solidFill>
              </a:rPr>
              <a:t>SAMCO PROJECT INTELLIGENCE HUB  |  05</a:t>
            </a:r>
          </a:p>
        </p:txBody>
      </p:sp>
      <p:sp>
        <p:nvSpPr>
          <p:cNvPr id="5" name="">
            <a:extLst xmlns:a="http://schemas.openxmlformats.org/drawingml/2006/main">
              <a:ext uri="{FF2B5EF4-FFF2-40B4-BE49-F238E27FC236}">
                <a16:creationId xmlns:a16="http://schemas.microsoft.com/office/drawing/2014/main" id="{7A3D84B9-16C3-487A-ABF7-7976D4D69080}"/>
              </a:ext>
            </a:extLst>
          </p:cNvPr>
          <p:cNvSpPr>
            <a:spLocks xmlns:a="http://schemas.openxmlformats.org/drawingml/2006/main" noGrp="1"/>
          </p:cNvSpPr>
          <p:nvPr/>
        </p:nvSpPr>
        <p:spPr>
          <a:xfrm xmlns:a="http://schemas.openxmlformats.org/drawingml/2006/main">
            <a:off x="609600" y="1695450"/>
            <a:ext cx="10972800" cy="9525"/>
          </a:xfrm>
          <a:prstGeom xmlns:a="http://schemas.openxmlformats.org/drawingml/2006/main" prst="rect">
            <a:avLst/>
          </a:prstGeom>
          <a:solidFill xmlns:a="http://schemas.openxmlformats.org/drawingml/2006/main">
            <a:srgbClr val="23425F"/>
          </a:solidFill>
          <a:ln xmlns:a="http://schemas.openxmlformats.org/drawingml/2006/main" w="0">
            <a:solidFill>
              <a:srgbClr val="23425F"/>
            </a:solidFill>
            <a:prstDash val="solid"/>
          </a:ln>
        </p:spPr>
      </p:sp>
      <p:sp>
        <p:nvSpPr>
          <p:cNvPr id="6" name="">
            <a:extLst xmlns:a="http://schemas.openxmlformats.org/drawingml/2006/main">
              <a:ext uri="{FF2B5EF4-FFF2-40B4-BE49-F238E27FC236}">
                <a16:creationId xmlns:a16="http://schemas.microsoft.com/office/drawing/2014/main" id="{BC4DE660-FB8F-45B3-B709-31EAA3FA7495}"/>
              </a:ext>
            </a:extLst>
          </p:cNvPr>
          <p:cNvSpPr>
            <a:spLocks xmlns:a="http://schemas.openxmlformats.org/drawingml/2006/main" noGrp="1"/>
          </p:cNvSpPr>
          <p:nvPr/>
        </p:nvSpPr>
        <p:spPr>
          <a:xfrm xmlns:a="http://schemas.openxmlformats.org/drawingml/2006/main">
            <a:off x="609600" y="2095500"/>
            <a:ext cx="10363200" cy="3333750"/>
          </a:xfrm>
          <a:prstGeom xmlns:a="http://schemas.openxmlformats.org/drawingml/2006/main" prst="roundRect">
            <a:avLst>
              <a:gd name="adj" fmla="val 3429"/>
            </a:avLst>
          </a:prstGeom>
          <a:solidFill xmlns:a="http://schemas.openxmlformats.org/drawingml/2006/main">
            <a:srgbClr val="0D1B30"/>
          </a:solidFill>
          <a:ln xmlns:a="http://schemas.openxmlformats.org/drawingml/2006/main" w="9525">
            <a:solidFill>
              <a:srgbClr val="23425F"/>
            </a:solidFill>
            <a:prstDash val="solid"/>
          </a:ln>
        </p:spPr>
      </p:sp>
      <p:graphicFrame>
        <p:nvGraphicFramePr>
          <p:cNvPr id="24" name="Chart"/>
          <p:cNvGraphicFramePr/>
          <p:nvPr/>
        </p:nvGraphicFramePr>
        <p:xfrm>
          <a:off xmlns:a="http://schemas.openxmlformats.org/drawingml/2006/main" x="914400" y="2619375"/>
          <a:ext xmlns:a="http://schemas.openxmlformats.org/drawingml/2006/main" cx="4714875" cy="2238375"/>
        </p:xfrm>
        <a:graphic xmlns:a="http://schemas.openxmlformats.org/drawingml/2006/main">
          <a:graphicData uri="http://schemas.openxmlformats.org/drawingml/2006/chart">
            <c:chart xmlns:r="http://schemas.openxmlformats.org/officeDocument/2006/relationships" xmlns:c="http://schemas.openxmlformats.org/drawingml/2006/chart" r:id="R8109dc01becd41b0"/>
          </a:graphicData>
        </a:graphic>
      </p:graphicFrame>
      <p:sp>
        <p:nvSpPr>
          <p:cNvPr id="8" name="">
            <a:extLst xmlns:a="http://schemas.openxmlformats.org/drawingml/2006/main">
              <a:ext uri="{FF2B5EF4-FFF2-40B4-BE49-F238E27FC236}">
                <a16:creationId xmlns:a16="http://schemas.microsoft.com/office/drawing/2014/main" id="{70EFAE59-8C76-49C5-B795-5D8D0C56A5CE}"/>
              </a:ext>
            </a:extLst>
          </p:cNvPr>
          <p:cNvSpPr>
            <a:spLocks xmlns:a="http://schemas.openxmlformats.org/drawingml/2006/main" noGrp="1"/>
          </p:cNvSpPr>
          <p:nvPr/>
        </p:nvSpPr>
        <p:spPr>
          <a:xfrm xmlns:a="http://schemas.openxmlformats.org/drawingml/2006/main">
            <a:off x="904875" y="22669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C"/>
                </a:solidFill>
              </a:defRPr>
            </a:pPr>
            <a:r>
              <a:rPr sz="1350" b="1">
                <a:solidFill>
                  <a:srgbClr val="F4F8FC"/>
                </a:solidFill>
              </a:rPr>
              <a:t>Portfolio composition</a:t>
            </a:r>
          </a:p>
        </p:txBody>
      </p:sp>
      <p:sp>
        <p:nvSpPr>
          <p:cNvPr id="9" name="">
            <a:extLst xmlns:a="http://schemas.openxmlformats.org/drawingml/2006/main">
              <a:ext uri="{FF2B5EF4-FFF2-40B4-BE49-F238E27FC236}">
                <a16:creationId xmlns:a16="http://schemas.microsoft.com/office/drawing/2014/main" id="{E58BC365-7AE0-466A-BA90-E59B5993889F}"/>
              </a:ext>
            </a:extLst>
          </p:cNvPr>
          <p:cNvSpPr>
            <a:spLocks xmlns:a="http://schemas.openxmlformats.org/drawingml/2006/main" noGrp="1"/>
          </p:cNvSpPr>
          <p:nvPr/>
        </p:nvSpPr>
        <p:spPr>
          <a:xfrm xmlns:a="http://schemas.openxmlformats.org/drawingml/2006/main">
            <a:off x="6000750" y="2438400"/>
            <a:ext cx="4476750" cy="2333625"/>
          </a:xfrm>
          <a:prstGeom xmlns:a="http://schemas.openxmlformats.org/drawingml/2006/main" prst="roundRect">
            <a:avLst>
              <a:gd name="adj" fmla="val 4898"/>
            </a:avLst>
          </a:prstGeom>
          <a:solidFill xmlns:a="http://schemas.openxmlformats.org/drawingml/2006/main">
            <a:srgbClr val="10233B"/>
          </a:solidFill>
          <a:ln xmlns:a="http://schemas.openxmlformats.org/drawingml/2006/main" w="9525">
            <a:solidFill>
              <a:srgbClr val="23425F"/>
            </a:solidFill>
            <a:prstDash val="solid"/>
          </a:ln>
        </p:spPr>
      </p:sp>
      <p:sp>
        <p:nvSpPr>
          <p:cNvPr id="10" name="">
            <a:extLst xmlns:a="http://schemas.openxmlformats.org/drawingml/2006/main">
              <a:ext uri="{FF2B5EF4-FFF2-40B4-BE49-F238E27FC236}">
                <a16:creationId xmlns:a16="http://schemas.microsoft.com/office/drawing/2014/main" id="{220F37CE-C6A1-4F53-821F-8DEFC9D2BCF9}"/>
              </a:ext>
            </a:extLst>
          </p:cNvPr>
          <p:cNvSpPr>
            <a:spLocks xmlns:a="http://schemas.openxmlformats.org/drawingml/2006/main" noGrp="1"/>
          </p:cNvSpPr>
          <p:nvPr/>
        </p:nvSpPr>
        <p:spPr>
          <a:xfrm xmlns:a="http://schemas.openxmlformats.org/drawingml/2006/main">
            <a:off x="6286500" y="270510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6C9E8"/>
                </a:solidFill>
              </a:defRPr>
            </a:pPr>
            <a:r>
              <a:rPr sz="1575" b="1">
                <a:solidFill>
                  <a:srgbClr val="16C9E8"/>
                </a:solidFill>
              </a:rPr>
              <a:t>Decision components</a:t>
            </a:r>
          </a:p>
        </p:txBody>
      </p:sp>
      <p:sp>
        <p:nvSpPr>
          <p:cNvPr id="11" name="">
            <a:extLst xmlns:a="http://schemas.openxmlformats.org/drawingml/2006/main">
              <a:ext uri="{FF2B5EF4-FFF2-40B4-BE49-F238E27FC236}">
                <a16:creationId xmlns:a16="http://schemas.microsoft.com/office/drawing/2014/main" id="{D90F8231-77F3-442B-A94C-2FCE996DDF73}"/>
              </a:ext>
            </a:extLst>
          </p:cNvPr>
          <p:cNvSpPr>
            <a:spLocks xmlns:a="http://schemas.openxmlformats.org/drawingml/2006/main" noGrp="1"/>
          </p:cNvSpPr>
          <p:nvPr/>
        </p:nvSpPr>
        <p:spPr>
          <a:xfrm xmlns:a="http://schemas.openxmlformats.org/drawingml/2006/main">
            <a:off x="6305550" y="319087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01  Executive KPI and data-trust indicators</a:t>
            </a:r>
          </a:p>
        </p:txBody>
      </p:sp>
      <p:sp>
        <p:nvSpPr>
          <p:cNvPr id="12" name="">
            <a:extLst xmlns:a="http://schemas.openxmlformats.org/drawingml/2006/main">
              <a:ext uri="{FF2B5EF4-FFF2-40B4-BE49-F238E27FC236}">
                <a16:creationId xmlns:a16="http://schemas.microsoft.com/office/drawing/2014/main" id="{D405228D-7DBF-41DC-B3A4-72E9364ACCF2}"/>
              </a:ext>
            </a:extLst>
          </p:cNvPr>
          <p:cNvSpPr>
            <a:spLocks xmlns:a="http://schemas.openxmlformats.org/drawingml/2006/main" noGrp="1"/>
          </p:cNvSpPr>
          <p:nvPr/>
        </p:nvSpPr>
        <p:spPr>
          <a:xfrm xmlns:a="http://schemas.openxmlformats.org/drawingml/2006/main">
            <a:off x="6305550" y="354330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02  Predictive warnings and scenario impacts</a:t>
            </a:r>
          </a:p>
        </p:txBody>
      </p:sp>
      <p:sp>
        <p:nvSpPr>
          <p:cNvPr id="13" name="">
            <a:extLst xmlns:a="http://schemas.openxmlformats.org/drawingml/2006/main">
              <a:ext uri="{FF2B5EF4-FFF2-40B4-BE49-F238E27FC236}">
                <a16:creationId xmlns:a16="http://schemas.microsoft.com/office/drawing/2014/main" id="{24D2074B-526F-4EC0-95DE-1F6286305424}"/>
              </a:ext>
            </a:extLst>
          </p:cNvPr>
          <p:cNvSpPr>
            <a:spLocks xmlns:a="http://schemas.openxmlformats.org/drawingml/2006/main" noGrp="1"/>
          </p:cNvSpPr>
          <p:nvPr/>
        </p:nvSpPr>
        <p:spPr>
          <a:xfrm xmlns:a="http://schemas.openxmlformats.org/drawingml/2006/main">
            <a:off x="6305550" y="389572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03  Management decision brief and action tracker</a:t>
            </a:r>
          </a:p>
        </p:txBody>
      </p:sp>
      <p:sp>
        <p:nvSpPr>
          <p:cNvPr id="14" name="">
            <a:extLst xmlns:a="http://schemas.openxmlformats.org/drawingml/2006/main">
              <a:ext uri="{FF2B5EF4-FFF2-40B4-BE49-F238E27FC236}">
                <a16:creationId xmlns:a16="http://schemas.microsoft.com/office/drawing/2014/main" id="{08A2637E-ED02-44EC-9ABF-0DBA3C543E52}"/>
              </a:ext>
            </a:extLst>
          </p:cNvPr>
          <p:cNvSpPr>
            <a:spLocks xmlns:a="http://schemas.openxmlformats.org/drawingml/2006/main" noGrp="1"/>
          </p:cNvSpPr>
          <p:nvPr/>
        </p:nvSpPr>
        <p:spPr>
          <a:xfrm xmlns:a="http://schemas.openxmlformats.org/drawingml/2006/main">
            <a:off x="6305550" y="42481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04  Technical knowledge advisor and evidence-aware AI</a:t>
            </a:r>
          </a:p>
        </p:txBody>
      </p:sp>
      <p:sp>
        <p:nvSpPr>
          <p:cNvPr id="15" name="">
            <a:extLst xmlns:a="http://schemas.openxmlformats.org/drawingml/2006/main">
              <a:ext uri="{FF2B5EF4-FFF2-40B4-BE49-F238E27FC236}">
                <a16:creationId xmlns:a16="http://schemas.microsoft.com/office/drawing/2014/main" id="{ADB79767-70F7-4FC8-B7AC-6B9CAB889EE0}"/>
              </a:ext>
            </a:extLst>
          </p:cNvPr>
          <p:cNvSpPr>
            <a:spLocks xmlns:a="http://schemas.openxmlformats.org/drawingml/2006/main" noGrp="1"/>
          </p:cNvSpPr>
          <p:nvPr/>
        </p:nvSpPr>
        <p:spPr>
          <a:xfrm xmlns:a="http://schemas.openxmlformats.org/drawingml/2006/main">
            <a:off x="609600"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Designed &amp; Created |</a:t>
            </a:r>
          </a:p>
        </p:txBody>
      </p:sp>
      <p:sp>
        <p:nvSpPr>
          <p:cNvPr id="16" name="">
            <a:extLst xmlns:a="http://schemas.openxmlformats.org/drawingml/2006/main">
              <a:ext uri="{FF2B5EF4-FFF2-40B4-BE49-F238E27FC236}">
                <a16:creationId xmlns:a16="http://schemas.microsoft.com/office/drawing/2014/main" id="{32D0FA05-C13B-48BE-A031-88C29FAAED45}"/>
              </a:ext>
            </a:extLst>
          </p:cNvPr>
          <p:cNvSpPr>
            <a:spLocks xmlns:a="http://schemas.openxmlformats.org/drawingml/2006/main" noGrp="1"/>
          </p:cNvSpPr>
          <p:nvPr/>
        </p:nvSpPr>
        <p:spPr>
          <a:xfrm xmlns:a="http://schemas.openxmlformats.org/drawingml/2006/main">
            <a:off x="1952625"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6C9E8"/>
                </a:solidFill>
              </a:defRPr>
            </a:pPr>
            <a:r>
              <a:rPr sz="750" b="1">
                <a:solidFill>
                  <a:srgbClr val="16C9E8"/>
                </a:solidFill>
              </a:rPr>
              <a:t>Engr. Ahmed Labib</a:t>
            </a:r>
          </a:p>
        </p:txBody>
      </p:sp>
      <p:sp>
        <p:nvSpPr>
          <p:cNvPr id="17" name="">
            <a:extLst xmlns:a="http://schemas.openxmlformats.org/drawingml/2006/main">
              <a:ext uri="{FF2B5EF4-FFF2-40B4-BE49-F238E27FC236}">
                <a16:creationId xmlns:a16="http://schemas.microsoft.com/office/drawing/2014/main" id="{3DFFBE60-4C7A-4AD1-BA7A-F43E8A6A9A6D}"/>
              </a:ext>
            </a:extLst>
          </p:cNvPr>
          <p:cNvSpPr>
            <a:spLocks xmlns:a="http://schemas.openxmlformats.org/drawingml/2006/main" noGrp="1"/>
          </p:cNvSpPr>
          <p:nvPr/>
        </p:nvSpPr>
        <p:spPr>
          <a:xfrm xmlns:a="http://schemas.openxmlformats.org/drawingml/2006/main">
            <a:off x="9144000" y="6496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A8B9CA"/>
                </a:solidFill>
              </a:defRPr>
            </a:pPr>
            <a:r>
              <a:rPr sz="750">
                <a:solidFill>
                  <a:srgbClr val="A8B9CA"/>
                </a:solidFill>
              </a:rPr>
              <a:t>Evidence-led project controls</a:t>
            </a:r>
          </a:p>
        </p:txBody>
      </p:sp>
    </p:spTree>
    <p:extLst>
      <p:ext uri="{BB962C8B-B14F-4D97-AF65-F5344CB8AC3E}">
        <p14:creationId xmlns:p14="http://schemas.microsoft.com/office/powerpoint/2010/main" val="2068661261"/>
      </p:ext>
    </p:extLst>
  </p:cSld>
</p:sld>
</file>

<file path=ppt/slides/slide6.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1383957-578C-4EE1-BDC9-2CEB758A82B8}"/>
              </a:ext>
            </a:extLst>
          </p:cNvPr>
          <p:cNvSpPr>
            <a:spLocks xmlns:a="http://schemas.openxmlformats.org/drawingml/2006/main" noGrp="1"/>
          </p:cNvSpPr>
          <p:nvPr/>
        </p:nvSpPr>
        <p:spPr>
          <a:xfrm xmlns:a="http://schemas.openxmlformats.org/drawingml/2006/main">
            <a:off x="609600" y="400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6C9E8"/>
                </a:solidFill>
              </a:defRPr>
            </a:pPr>
            <a:r>
              <a:rPr sz="975" b="1">
                <a:solidFill>
                  <a:srgbClr val="16C9E8"/>
                </a:solidFill>
              </a:rPr>
              <a:t>PROJECT WORKSPACE</a:t>
            </a:r>
          </a:p>
        </p:txBody>
      </p:sp>
      <p:sp>
        <p:nvSpPr>
          <p:cNvPr id="2" name="">
            <a:extLst xmlns:a="http://schemas.openxmlformats.org/drawingml/2006/main">
              <a:ext uri="{FF2B5EF4-FFF2-40B4-BE49-F238E27FC236}">
                <a16:creationId xmlns:a16="http://schemas.microsoft.com/office/drawing/2014/main" id="{28113065-5B03-474E-BE93-55D732E2F3B0}"/>
              </a:ext>
            </a:extLst>
          </p:cNvPr>
          <p:cNvSpPr>
            <a:spLocks xmlns:a="http://schemas.openxmlformats.org/drawingml/2006/main" noGrp="1"/>
          </p:cNvSpPr>
          <p:nvPr/>
        </p:nvSpPr>
        <p:spPr>
          <a:xfrm xmlns:a="http://schemas.openxmlformats.org/drawingml/2006/main">
            <a:off x="609600" y="6858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4F8FC"/>
                </a:solidFill>
              </a:defRPr>
            </a:pPr>
            <a:r>
              <a:rPr sz="2550" b="1">
                <a:solidFill>
                  <a:srgbClr val="F4F8FC"/>
                </a:solidFill>
              </a:rPr>
              <a:t>Every tab has a source-backed control view</a:t>
            </a:r>
          </a:p>
        </p:txBody>
      </p:sp>
      <p:sp>
        <p:nvSpPr>
          <p:cNvPr id="3" name="">
            <a:extLst xmlns:a="http://schemas.openxmlformats.org/drawingml/2006/main">
              <a:ext uri="{FF2B5EF4-FFF2-40B4-BE49-F238E27FC236}">
                <a16:creationId xmlns:a16="http://schemas.microsoft.com/office/drawing/2014/main" id="{B09BC27B-83CF-43DE-A84F-84F45A5119CE}"/>
              </a:ext>
            </a:extLst>
          </p:cNvPr>
          <p:cNvSpPr>
            <a:spLocks xmlns:a="http://schemas.openxmlformats.org/drawingml/2006/main" noGrp="1"/>
          </p:cNvSpPr>
          <p:nvPr/>
        </p:nvSpPr>
        <p:spPr>
          <a:xfrm xmlns:a="http://schemas.openxmlformats.org/drawingml/2006/main">
            <a:off x="609600" y="12573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A8B9CA"/>
                </a:solidFill>
              </a:defRPr>
            </a:pPr>
            <a:r>
              <a:rPr sz="1275">
                <a:solidFill>
                  <a:srgbClr val="A8B9CA"/>
                </a:solidFill>
              </a:rPr>
              <a:t>The application does not embed reports inside working tabs. Charts provide active control views; Output Studio remains the formal delivery surface.</a:t>
            </a:r>
          </a:p>
        </p:txBody>
      </p:sp>
      <p:sp>
        <p:nvSpPr>
          <p:cNvPr id="4" name="">
            <a:extLst xmlns:a="http://schemas.openxmlformats.org/drawingml/2006/main">
              <a:ext uri="{FF2B5EF4-FFF2-40B4-BE49-F238E27FC236}">
                <a16:creationId xmlns:a16="http://schemas.microsoft.com/office/drawing/2014/main" id="{67598225-9335-4899-96A3-00692E8FC55D}"/>
              </a:ext>
            </a:extLst>
          </p:cNvPr>
          <p:cNvSpPr>
            <a:spLocks xmlns:a="http://schemas.openxmlformats.org/drawingml/2006/main" noGrp="1"/>
          </p:cNvSpPr>
          <p:nvPr/>
        </p:nvSpPr>
        <p:spPr>
          <a:xfrm xmlns:a="http://schemas.openxmlformats.org/drawingml/2006/main">
            <a:off x="9525000" y="4381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8B9CA"/>
                </a:solidFill>
              </a:defRPr>
            </a:pPr>
            <a:r>
              <a:rPr sz="750" b="1">
                <a:solidFill>
                  <a:srgbClr val="A8B9CA"/>
                </a:solidFill>
              </a:rPr>
              <a:t>SAMCO PROJECT INTELLIGENCE HUB  |  06</a:t>
            </a:r>
          </a:p>
        </p:txBody>
      </p:sp>
      <p:sp>
        <p:nvSpPr>
          <p:cNvPr id="5" name="">
            <a:extLst xmlns:a="http://schemas.openxmlformats.org/drawingml/2006/main">
              <a:ext uri="{FF2B5EF4-FFF2-40B4-BE49-F238E27FC236}">
                <a16:creationId xmlns:a16="http://schemas.microsoft.com/office/drawing/2014/main" id="{7F41B55C-0089-41DB-A5B8-C33339FAFFE3}"/>
              </a:ext>
            </a:extLst>
          </p:cNvPr>
          <p:cNvSpPr>
            <a:spLocks xmlns:a="http://schemas.openxmlformats.org/drawingml/2006/main" noGrp="1"/>
          </p:cNvSpPr>
          <p:nvPr/>
        </p:nvSpPr>
        <p:spPr>
          <a:xfrm xmlns:a="http://schemas.openxmlformats.org/drawingml/2006/main">
            <a:off x="609600" y="1695450"/>
            <a:ext cx="10972800" cy="9525"/>
          </a:xfrm>
          <a:prstGeom xmlns:a="http://schemas.openxmlformats.org/drawingml/2006/main" prst="rect">
            <a:avLst/>
          </a:prstGeom>
          <a:solidFill xmlns:a="http://schemas.openxmlformats.org/drawingml/2006/main">
            <a:srgbClr val="23425F"/>
          </a:solidFill>
          <a:ln xmlns:a="http://schemas.openxmlformats.org/drawingml/2006/main" w="0">
            <a:solidFill>
              <a:srgbClr val="23425F"/>
            </a:solidFill>
            <a:prstDash val="solid"/>
          </a:ln>
        </p:spPr>
      </p:sp>
      <p:sp>
        <p:nvSpPr>
          <p:cNvPr id="6" name="">
            <a:extLst xmlns:a="http://schemas.openxmlformats.org/drawingml/2006/main">
              <a:ext uri="{FF2B5EF4-FFF2-40B4-BE49-F238E27FC236}">
                <a16:creationId xmlns:a16="http://schemas.microsoft.com/office/drawing/2014/main" id="{63CA4312-2C63-4751-ABC5-8F6B663390BA}"/>
              </a:ext>
            </a:extLst>
          </p:cNvPr>
          <p:cNvSpPr>
            <a:spLocks xmlns:a="http://schemas.openxmlformats.org/drawingml/2006/main" noGrp="1"/>
          </p:cNvSpPr>
          <p:nvPr/>
        </p:nvSpPr>
        <p:spPr>
          <a:xfrm xmlns:a="http://schemas.openxmlformats.org/drawingml/2006/main">
            <a:off x="609600" y="2095500"/>
            <a:ext cx="3200400" cy="3124200"/>
          </a:xfrm>
          <a:prstGeom xmlns:a="http://schemas.openxmlformats.org/drawingml/2006/main" prst="roundRect">
            <a:avLst>
              <a:gd name="adj" fmla="val 3659"/>
            </a:avLst>
          </a:prstGeom>
          <a:solidFill xmlns:a="http://schemas.openxmlformats.org/drawingml/2006/main">
            <a:srgbClr val="0D1B30"/>
          </a:solidFill>
          <a:ln xmlns:a="http://schemas.openxmlformats.org/drawingml/2006/main" w="9525">
            <a:solidFill>
              <a:srgbClr val="23425F"/>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f331c0c0cc34a00"/>
          <a:stretch xmlns:a="http://schemas.openxmlformats.org/drawingml/2006/main"/>
        </p:blipFill>
        <p:spPr>
          <a:xfrm xmlns:a="http://schemas.openxmlformats.org/drawingml/2006/main">
            <a:off x="723900" y="2612827"/>
            <a:ext cx="2971800" cy="159424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063EC8E-FC97-4228-B291-625DC73EF6A5}"/>
              </a:ext>
            </a:extLst>
          </p:cNvPr>
          <p:cNvSpPr>
            <a:spLocks xmlns:a="http://schemas.openxmlformats.org/drawingml/2006/main" noGrp="1"/>
          </p:cNvSpPr>
          <p:nvPr/>
        </p:nvSpPr>
        <p:spPr>
          <a:xfrm xmlns:a="http://schemas.openxmlformats.org/drawingml/2006/main">
            <a:off x="781050" y="4714875"/>
            <a:ext cx="2809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6C9E8"/>
                </a:solidFill>
              </a:defRPr>
            </a:pPr>
            <a:r>
              <a:rPr sz="1425" b="1">
                <a:solidFill>
                  <a:srgbClr val="16C9E8"/>
                </a:solidFill>
              </a:rPr>
              <a:t>Overview</a:t>
            </a:r>
          </a:p>
        </p:txBody>
      </p:sp>
      <p:sp>
        <p:nvSpPr>
          <p:cNvPr id="9" name="">
            <a:extLst xmlns:a="http://schemas.openxmlformats.org/drawingml/2006/main">
              <a:ext uri="{FF2B5EF4-FFF2-40B4-BE49-F238E27FC236}">
                <a16:creationId xmlns:a16="http://schemas.microsoft.com/office/drawing/2014/main" id="{B0CDD2A0-F011-4956-8ECA-56BB4F29D903}"/>
              </a:ext>
            </a:extLst>
          </p:cNvPr>
          <p:cNvSpPr>
            <a:spLocks xmlns:a="http://schemas.openxmlformats.org/drawingml/2006/main" noGrp="1"/>
          </p:cNvSpPr>
          <p:nvPr/>
        </p:nvSpPr>
        <p:spPr>
          <a:xfrm xmlns:a="http://schemas.openxmlformats.org/drawingml/2006/main">
            <a:off x="781050" y="5010150"/>
            <a:ext cx="276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A8B9CA"/>
                </a:solidFill>
              </a:defRPr>
            </a:pPr>
            <a:r>
              <a:rPr sz="825">
                <a:solidFill>
                  <a:srgbClr val="A8B9CA"/>
                </a:solidFill>
              </a:rPr>
              <a:t>Chart views are loaded from the selected project payload only.</a:t>
            </a:r>
          </a:p>
        </p:txBody>
      </p:sp>
      <p:sp>
        <p:nvSpPr>
          <p:cNvPr id="10" name="">
            <a:extLst xmlns:a="http://schemas.openxmlformats.org/drawingml/2006/main">
              <a:ext uri="{FF2B5EF4-FFF2-40B4-BE49-F238E27FC236}">
                <a16:creationId xmlns:a16="http://schemas.microsoft.com/office/drawing/2014/main" id="{97DD7C74-72BB-48E7-B1F5-779601C00A78}"/>
              </a:ext>
            </a:extLst>
          </p:cNvPr>
          <p:cNvSpPr>
            <a:spLocks xmlns:a="http://schemas.openxmlformats.org/drawingml/2006/main" noGrp="1"/>
          </p:cNvSpPr>
          <p:nvPr/>
        </p:nvSpPr>
        <p:spPr>
          <a:xfrm xmlns:a="http://schemas.openxmlformats.org/drawingml/2006/main">
            <a:off x="4114800" y="2095500"/>
            <a:ext cx="3200400" cy="3124200"/>
          </a:xfrm>
          <a:prstGeom xmlns:a="http://schemas.openxmlformats.org/drawingml/2006/main" prst="roundRect">
            <a:avLst>
              <a:gd name="adj" fmla="val 3659"/>
            </a:avLst>
          </a:prstGeom>
          <a:solidFill xmlns:a="http://schemas.openxmlformats.org/drawingml/2006/main">
            <a:srgbClr val="0D1B30"/>
          </a:solidFill>
          <a:ln xmlns:a="http://schemas.openxmlformats.org/drawingml/2006/main" w="9525">
            <a:solidFill>
              <a:srgbClr val="23425F"/>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094ddff5216439b"/>
          <a:stretch xmlns:a="http://schemas.openxmlformats.org/drawingml/2006/main"/>
        </p:blipFill>
        <p:spPr>
          <a:xfrm xmlns:a="http://schemas.openxmlformats.org/drawingml/2006/main">
            <a:off x="4229100" y="2612827"/>
            <a:ext cx="2971800" cy="1594247"/>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6A60A33-AAD8-4528-828E-6E2D1620F38D}"/>
              </a:ext>
            </a:extLst>
          </p:cNvPr>
          <p:cNvSpPr>
            <a:spLocks xmlns:a="http://schemas.openxmlformats.org/drawingml/2006/main" noGrp="1"/>
          </p:cNvSpPr>
          <p:nvPr/>
        </p:nvSpPr>
        <p:spPr>
          <a:xfrm xmlns:a="http://schemas.openxmlformats.org/drawingml/2006/main">
            <a:off x="4286250" y="4714875"/>
            <a:ext cx="2809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6C9E8"/>
                </a:solidFill>
              </a:defRPr>
            </a:pPr>
            <a:r>
              <a:rPr sz="1425" b="1">
                <a:solidFill>
                  <a:srgbClr val="16C9E8"/>
                </a:solidFill>
              </a:rPr>
              <a:t>Activities</a:t>
            </a:r>
          </a:p>
        </p:txBody>
      </p:sp>
      <p:sp>
        <p:nvSpPr>
          <p:cNvPr id="13" name="">
            <a:extLst xmlns:a="http://schemas.openxmlformats.org/drawingml/2006/main">
              <a:ext uri="{FF2B5EF4-FFF2-40B4-BE49-F238E27FC236}">
                <a16:creationId xmlns:a16="http://schemas.microsoft.com/office/drawing/2014/main" id="{1BA30331-BCF0-4280-9E41-21A9D21FFEEF}"/>
              </a:ext>
            </a:extLst>
          </p:cNvPr>
          <p:cNvSpPr>
            <a:spLocks xmlns:a="http://schemas.openxmlformats.org/drawingml/2006/main" noGrp="1"/>
          </p:cNvSpPr>
          <p:nvPr/>
        </p:nvSpPr>
        <p:spPr>
          <a:xfrm xmlns:a="http://schemas.openxmlformats.org/drawingml/2006/main">
            <a:off x="4286250" y="5010150"/>
            <a:ext cx="276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A8B9CA"/>
                </a:solidFill>
              </a:defRPr>
            </a:pPr>
            <a:r>
              <a:rPr sz="825">
                <a:solidFill>
                  <a:srgbClr val="A8B9CA"/>
                </a:solidFill>
              </a:rPr>
              <a:t>Chart views are loaded from the selected project payload only.</a:t>
            </a:r>
          </a:p>
        </p:txBody>
      </p:sp>
      <p:sp>
        <p:nvSpPr>
          <p:cNvPr id="14" name="">
            <a:extLst xmlns:a="http://schemas.openxmlformats.org/drawingml/2006/main">
              <a:ext uri="{FF2B5EF4-FFF2-40B4-BE49-F238E27FC236}">
                <a16:creationId xmlns:a16="http://schemas.microsoft.com/office/drawing/2014/main" id="{683CAF9E-3FE1-4B11-B4A8-4B0706A15060}"/>
              </a:ext>
            </a:extLst>
          </p:cNvPr>
          <p:cNvSpPr>
            <a:spLocks xmlns:a="http://schemas.openxmlformats.org/drawingml/2006/main" noGrp="1"/>
          </p:cNvSpPr>
          <p:nvPr/>
        </p:nvSpPr>
        <p:spPr>
          <a:xfrm xmlns:a="http://schemas.openxmlformats.org/drawingml/2006/main">
            <a:off x="7620000" y="2095500"/>
            <a:ext cx="3200400" cy="3124200"/>
          </a:xfrm>
          <a:prstGeom xmlns:a="http://schemas.openxmlformats.org/drawingml/2006/main" prst="roundRect">
            <a:avLst>
              <a:gd name="adj" fmla="val 3659"/>
            </a:avLst>
          </a:prstGeom>
          <a:solidFill xmlns:a="http://schemas.openxmlformats.org/drawingml/2006/main">
            <a:srgbClr val="0D1B30"/>
          </a:solidFill>
          <a:ln xmlns:a="http://schemas.openxmlformats.org/drawingml/2006/main" w="9525">
            <a:solidFill>
              <a:srgbClr val="23425F"/>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bf2164ddf154327"/>
          <a:stretch xmlns:a="http://schemas.openxmlformats.org/drawingml/2006/main"/>
        </p:blipFill>
        <p:spPr>
          <a:xfrm xmlns:a="http://schemas.openxmlformats.org/drawingml/2006/main">
            <a:off x="7734300" y="2612827"/>
            <a:ext cx="2971800" cy="1594247"/>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C2345D1-1D71-4B73-B5E3-21A6F75B2097}"/>
              </a:ext>
            </a:extLst>
          </p:cNvPr>
          <p:cNvSpPr>
            <a:spLocks xmlns:a="http://schemas.openxmlformats.org/drawingml/2006/main" noGrp="1"/>
          </p:cNvSpPr>
          <p:nvPr/>
        </p:nvSpPr>
        <p:spPr>
          <a:xfrm xmlns:a="http://schemas.openxmlformats.org/drawingml/2006/main">
            <a:off x="7791450" y="4714875"/>
            <a:ext cx="2809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6C9E8"/>
                </a:solidFill>
              </a:defRPr>
            </a:pPr>
            <a:r>
              <a:rPr sz="1425" b="1">
                <a:solidFill>
                  <a:srgbClr val="16C9E8"/>
                </a:solidFill>
              </a:rPr>
              <a:t>EVM Analysis</a:t>
            </a:r>
          </a:p>
        </p:txBody>
      </p:sp>
      <p:sp>
        <p:nvSpPr>
          <p:cNvPr id="17" name="">
            <a:extLst xmlns:a="http://schemas.openxmlformats.org/drawingml/2006/main">
              <a:ext uri="{FF2B5EF4-FFF2-40B4-BE49-F238E27FC236}">
                <a16:creationId xmlns:a16="http://schemas.microsoft.com/office/drawing/2014/main" id="{5E9BC7E7-060E-4074-8741-536349B0550D}"/>
              </a:ext>
            </a:extLst>
          </p:cNvPr>
          <p:cNvSpPr>
            <a:spLocks xmlns:a="http://schemas.openxmlformats.org/drawingml/2006/main" noGrp="1"/>
          </p:cNvSpPr>
          <p:nvPr/>
        </p:nvSpPr>
        <p:spPr>
          <a:xfrm xmlns:a="http://schemas.openxmlformats.org/drawingml/2006/main">
            <a:off x="7791450" y="5010150"/>
            <a:ext cx="276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A8B9CA"/>
                </a:solidFill>
              </a:defRPr>
            </a:pPr>
            <a:r>
              <a:rPr sz="825">
                <a:solidFill>
                  <a:srgbClr val="A8B9CA"/>
                </a:solidFill>
              </a:rPr>
              <a:t>Chart views are loaded from the selected project payload only.</a:t>
            </a:r>
          </a:p>
        </p:txBody>
      </p:sp>
      <p:sp>
        <p:nvSpPr>
          <p:cNvPr id="18" name="">
            <a:extLst xmlns:a="http://schemas.openxmlformats.org/drawingml/2006/main">
              <a:ext uri="{FF2B5EF4-FFF2-40B4-BE49-F238E27FC236}">
                <a16:creationId xmlns:a16="http://schemas.microsoft.com/office/drawing/2014/main" id="{121389FD-C12B-48BB-8120-D573FAAE2999}"/>
              </a:ext>
            </a:extLst>
          </p:cNvPr>
          <p:cNvSpPr>
            <a:spLocks xmlns:a="http://schemas.openxmlformats.org/drawingml/2006/main" noGrp="1"/>
          </p:cNvSpPr>
          <p:nvPr/>
        </p:nvSpPr>
        <p:spPr>
          <a:xfrm xmlns:a="http://schemas.openxmlformats.org/drawingml/2006/main">
            <a:off x="609600"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Designed &amp; Created |</a:t>
            </a:r>
          </a:p>
        </p:txBody>
      </p:sp>
      <p:sp>
        <p:nvSpPr>
          <p:cNvPr id="19" name="">
            <a:extLst xmlns:a="http://schemas.openxmlformats.org/drawingml/2006/main">
              <a:ext uri="{FF2B5EF4-FFF2-40B4-BE49-F238E27FC236}">
                <a16:creationId xmlns:a16="http://schemas.microsoft.com/office/drawing/2014/main" id="{480AFE81-0C45-42C4-A8CA-05339D60206B}"/>
              </a:ext>
            </a:extLst>
          </p:cNvPr>
          <p:cNvSpPr>
            <a:spLocks xmlns:a="http://schemas.openxmlformats.org/drawingml/2006/main" noGrp="1"/>
          </p:cNvSpPr>
          <p:nvPr/>
        </p:nvSpPr>
        <p:spPr>
          <a:xfrm xmlns:a="http://schemas.openxmlformats.org/drawingml/2006/main">
            <a:off x="1952625"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6C9E8"/>
                </a:solidFill>
              </a:defRPr>
            </a:pPr>
            <a:r>
              <a:rPr sz="750" b="1">
                <a:solidFill>
                  <a:srgbClr val="16C9E8"/>
                </a:solidFill>
              </a:rPr>
              <a:t>Engr. Ahmed Labib</a:t>
            </a:r>
          </a:p>
        </p:txBody>
      </p:sp>
      <p:sp>
        <p:nvSpPr>
          <p:cNvPr id="20" name="">
            <a:extLst xmlns:a="http://schemas.openxmlformats.org/drawingml/2006/main">
              <a:ext uri="{FF2B5EF4-FFF2-40B4-BE49-F238E27FC236}">
                <a16:creationId xmlns:a16="http://schemas.microsoft.com/office/drawing/2014/main" id="{E8C54EF2-84D9-4767-AE0B-AB0D13FBC54B}"/>
              </a:ext>
            </a:extLst>
          </p:cNvPr>
          <p:cNvSpPr>
            <a:spLocks xmlns:a="http://schemas.openxmlformats.org/drawingml/2006/main" noGrp="1"/>
          </p:cNvSpPr>
          <p:nvPr/>
        </p:nvSpPr>
        <p:spPr>
          <a:xfrm xmlns:a="http://schemas.openxmlformats.org/drawingml/2006/main">
            <a:off x="9144000" y="6496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A8B9CA"/>
                </a:solidFill>
              </a:defRPr>
            </a:pPr>
            <a:r>
              <a:rPr sz="750">
                <a:solidFill>
                  <a:srgbClr val="A8B9CA"/>
                </a:solidFill>
              </a:rPr>
              <a:t>Evidence-led project controls</a:t>
            </a:r>
          </a:p>
        </p:txBody>
      </p:sp>
    </p:spTree>
    <p:extLst>
      <p:ext uri="{BB962C8B-B14F-4D97-AF65-F5344CB8AC3E}">
        <p14:creationId xmlns:p14="http://schemas.microsoft.com/office/powerpoint/2010/main" val="421407836"/>
      </p:ext>
    </p:extLst>
  </p:cSld>
</p:sld>
</file>

<file path=ppt/slides/slide7.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F38F2EF-74A3-4A9B-96F1-06F28A4EC621}"/>
              </a:ext>
            </a:extLst>
          </p:cNvPr>
          <p:cNvSpPr>
            <a:spLocks xmlns:a="http://schemas.openxmlformats.org/drawingml/2006/main" noGrp="1"/>
          </p:cNvSpPr>
          <p:nvPr/>
        </p:nvSpPr>
        <p:spPr>
          <a:xfrm xmlns:a="http://schemas.openxmlformats.org/drawingml/2006/main">
            <a:off x="609600" y="400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6C9E8"/>
                </a:solidFill>
              </a:defRPr>
            </a:pPr>
            <a:r>
              <a:rPr sz="975" b="1">
                <a:solidFill>
                  <a:srgbClr val="16C9E8"/>
                </a:solidFill>
              </a:rPr>
              <a:t>DATA ONBOARDING</a:t>
            </a:r>
          </a:p>
        </p:txBody>
      </p:sp>
      <p:sp>
        <p:nvSpPr>
          <p:cNvPr id="2" name="">
            <a:extLst xmlns:a="http://schemas.openxmlformats.org/drawingml/2006/main">
              <a:ext uri="{FF2B5EF4-FFF2-40B4-BE49-F238E27FC236}">
                <a16:creationId xmlns:a16="http://schemas.microsoft.com/office/drawing/2014/main" id="{8BC9C230-9CF5-4232-B91A-81F8D025376D}"/>
              </a:ext>
            </a:extLst>
          </p:cNvPr>
          <p:cNvSpPr>
            <a:spLocks xmlns:a="http://schemas.openxmlformats.org/drawingml/2006/main" noGrp="1"/>
          </p:cNvSpPr>
          <p:nvPr/>
        </p:nvSpPr>
        <p:spPr>
          <a:xfrm xmlns:a="http://schemas.openxmlformats.org/drawingml/2006/main">
            <a:off x="609600" y="6858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4F8FC"/>
                </a:solidFill>
              </a:defRPr>
            </a:pPr>
            <a:r>
              <a:rPr sz="2550" b="1">
                <a:solidFill>
                  <a:srgbClr val="F4F8FC"/>
                </a:solidFill>
              </a:rPr>
              <a:t>New projects can be added without new code</a:t>
            </a:r>
          </a:p>
        </p:txBody>
      </p:sp>
      <p:sp>
        <p:nvSpPr>
          <p:cNvPr id="3" name="">
            <a:extLst xmlns:a="http://schemas.openxmlformats.org/drawingml/2006/main">
              <a:ext uri="{FF2B5EF4-FFF2-40B4-BE49-F238E27FC236}">
                <a16:creationId xmlns:a16="http://schemas.microsoft.com/office/drawing/2014/main" id="{C22E557A-080F-474B-AB28-C29F4AA992A4}"/>
              </a:ext>
            </a:extLst>
          </p:cNvPr>
          <p:cNvSpPr>
            <a:spLocks xmlns:a="http://schemas.openxmlformats.org/drawingml/2006/main" noGrp="1"/>
          </p:cNvSpPr>
          <p:nvPr/>
        </p:nvSpPr>
        <p:spPr>
          <a:xfrm xmlns:a="http://schemas.openxmlformats.org/drawingml/2006/main">
            <a:off x="609600" y="12573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A8B9CA"/>
                </a:solidFill>
              </a:defRPr>
            </a:pPr>
            <a:r>
              <a:rPr sz="1275">
                <a:solidFill>
                  <a:srgbClr val="A8B9CA"/>
                </a:solidFill>
              </a:rPr>
              <a:t>Project discovery, template seeding, validation, and regeneration operate from the folder and its manifest.</a:t>
            </a:r>
          </a:p>
        </p:txBody>
      </p:sp>
      <p:sp>
        <p:nvSpPr>
          <p:cNvPr id="4" name="">
            <a:extLst xmlns:a="http://schemas.openxmlformats.org/drawingml/2006/main">
              <a:ext uri="{FF2B5EF4-FFF2-40B4-BE49-F238E27FC236}">
                <a16:creationId xmlns:a16="http://schemas.microsoft.com/office/drawing/2014/main" id="{CF2C8AC2-D46B-4B1D-8041-FBB5AB69E790}"/>
              </a:ext>
            </a:extLst>
          </p:cNvPr>
          <p:cNvSpPr>
            <a:spLocks xmlns:a="http://schemas.openxmlformats.org/drawingml/2006/main" noGrp="1"/>
          </p:cNvSpPr>
          <p:nvPr/>
        </p:nvSpPr>
        <p:spPr>
          <a:xfrm xmlns:a="http://schemas.openxmlformats.org/drawingml/2006/main">
            <a:off x="9525000" y="4381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8B9CA"/>
                </a:solidFill>
              </a:defRPr>
            </a:pPr>
            <a:r>
              <a:rPr sz="750" b="1">
                <a:solidFill>
                  <a:srgbClr val="A8B9CA"/>
                </a:solidFill>
              </a:rPr>
              <a:t>SAMCO PROJECT INTELLIGENCE HUB  |  07</a:t>
            </a:r>
          </a:p>
        </p:txBody>
      </p:sp>
      <p:sp>
        <p:nvSpPr>
          <p:cNvPr id="5" name="">
            <a:extLst xmlns:a="http://schemas.openxmlformats.org/drawingml/2006/main">
              <a:ext uri="{FF2B5EF4-FFF2-40B4-BE49-F238E27FC236}">
                <a16:creationId xmlns:a16="http://schemas.microsoft.com/office/drawing/2014/main" id="{DD136994-B188-4B44-9FBB-692B3ED59BC2}"/>
              </a:ext>
            </a:extLst>
          </p:cNvPr>
          <p:cNvSpPr>
            <a:spLocks xmlns:a="http://schemas.openxmlformats.org/drawingml/2006/main" noGrp="1"/>
          </p:cNvSpPr>
          <p:nvPr/>
        </p:nvSpPr>
        <p:spPr>
          <a:xfrm xmlns:a="http://schemas.openxmlformats.org/drawingml/2006/main">
            <a:off x="609600" y="1695450"/>
            <a:ext cx="10972800" cy="9525"/>
          </a:xfrm>
          <a:prstGeom xmlns:a="http://schemas.openxmlformats.org/drawingml/2006/main" prst="rect">
            <a:avLst/>
          </a:prstGeom>
          <a:solidFill xmlns:a="http://schemas.openxmlformats.org/drawingml/2006/main">
            <a:srgbClr val="23425F"/>
          </a:solidFill>
          <a:ln xmlns:a="http://schemas.openxmlformats.org/drawingml/2006/main" w="0">
            <a:solidFill>
              <a:srgbClr val="23425F"/>
            </a:solidFill>
            <a:prstDash val="solid"/>
          </a:ln>
        </p:spPr>
      </p:sp>
      <p:sp>
        <p:nvSpPr>
          <p:cNvPr id="6" name="">
            <a:extLst xmlns:a="http://schemas.openxmlformats.org/drawingml/2006/main">
              <a:ext uri="{FF2B5EF4-FFF2-40B4-BE49-F238E27FC236}">
                <a16:creationId xmlns:a16="http://schemas.microsoft.com/office/drawing/2014/main" id="{CD4D7940-60E5-4245-A123-7E6E6E20F8EC}"/>
              </a:ext>
            </a:extLst>
          </p:cNvPr>
          <p:cNvSpPr>
            <a:spLocks xmlns:a="http://schemas.openxmlformats.org/drawingml/2006/main" noGrp="1"/>
          </p:cNvSpPr>
          <p:nvPr/>
        </p:nvSpPr>
        <p:spPr>
          <a:xfrm xmlns:a="http://schemas.openxmlformats.org/drawingml/2006/main">
            <a:off x="609600" y="2095500"/>
            <a:ext cx="10401300" cy="638175"/>
          </a:xfrm>
          <a:prstGeom xmlns:a="http://schemas.openxmlformats.org/drawingml/2006/main" prst="roundRect">
            <a:avLst>
              <a:gd name="adj" fmla="val 17910"/>
            </a:avLst>
          </a:prstGeom>
          <a:solidFill xmlns:a="http://schemas.openxmlformats.org/drawingml/2006/main">
            <a:srgbClr val="0D1B30"/>
          </a:solidFill>
          <a:ln xmlns:a="http://schemas.openxmlformats.org/drawingml/2006/main" w="9525">
            <a:solidFill>
              <a:srgbClr val="23425F"/>
            </a:solidFill>
            <a:prstDash val="solid"/>
          </a:ln>
        </p:spPr>
      </p:sp>
      <p:sp>
        <p:nvSpPr>
          <p:cNvPr id="7" name="">
            <a:extLst xmlns:a="http://schemas.openxmlformats.org/drawingml/2006/main">
              <a:ext uri="{FF2B5EF4-FFF2-40B4-BE49-F238E27FC236}">
                <a16:creationId xmlns:a16="http://schemas.microsoft.com/office/drawing/2014/main" id="{BADA4F42-1E98-4533-A162-241C2FAF2EE9}"/>
              </a:ext>
            </a:extLst>
          </p:cNvPr>
          <p:cNvSpPr>
            <a:spLocks xmlns:a="http://schemas.openxmlformats.org/drawingml/2006/main" noGrp="1"/>
          </p:cNvSpPr>
          <p:nvPr/>
        </p:nvSpPr>
        <p:spPr>
          <a:xfrm xmlns:a="http://schemas.openxmlformats.org/drawingml/2006/main">
            <a:off x="838200" y="226695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6C9E8"/>
                </a:solidFill>
              </a:defRPr>
            </a:pPr>
            <a:r>
              <a:rPr sz="1725" b="1">
                <a:solidFill>
                  <a:srgbClr val="16C9E8"/>
                </a:solidFill>
              </a:rPr>
              <a:t>1</a:t>
            </a:r>
          </a:p>
        </p:txBody>
      </p:sp>
      <p:sp>
        <p:nvSpPr>
          <p:cNvPr id="8" name="">
            <a:extLst xmlns:a="http://schemas.openxmlformats.org/drawingml/2006/main">
              <a:ext uri="{FF2B5EF4-FFF2-40B4-BE49-F238E27FC236}">
                <a16:creationId xmlns:a16="http://schemas.microsoft.com/office/drawing/2014/main" id="{DDD72385-37DA-41BC-9223-E0A98E064D87}"/>
              </a:ext>
            </a:extLst>
          </p:cNvPr>
          <p:cNvSpPr>
            <a:spLocks xmlns:a="http://schemas.openxmlformats.org/drawingml/2006/main" noGrp="1"/>
          </p:cNvSpPr>
          <p:nvPr/>
        </p:nvSpPr>
        <p:spPr>
          <a:xfrm xmlns:a="http://schemas.openxmlformats.org/drawingml/2006/main">
            <a:off x="1428750" y="2228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C"/>
                </a:solidFill>
              </a:defRPr>
            </a:pPr>
            <a:r>
              <a:rPr sz="1350" b="1">
                <a:solidFill>
                  <a:srgbClr val="F4F8FC"/>
                </a:solidFill>
              </a:rPr>
              <a:t>Create or add the project folder</a:t>
            </a:r>
          </a:p>
        </p:txBody>
      </p:sp>
      <p:sp>
        <p:nvSpPr>
          <p:cNvPr id="9" name="">
            <a:extLst xmlns:a="http://schemas.openxmlformats.org/drawingml/2006/main">
              <a:ext uri="{FF2B5EF4-FFF2-40B4-BE49-F238E27FC236}">
                <a16:creationId xmlns:a16="http://schemas.microsoft.com/office/drawing/2014/main" id="{1003BB09-109D-4106-9B15-B901009E9172}"/>
              </a:ext>
            </a:extLst>
          </p:cNvPr>
          <p:cNvSpPr>
            <a:spLocks xmlns:a="http://schemas.openxmlformats.org/drawingml/2006/main" noGrp="1"/>
          </p:cNvSpPr>
          <p:nvPr/>
        </p:nvSpPr>
        <p:spPr>
          <a:xfrm xmlns:a="http://schemas.openxmlformats.org/drawingml/2006/main">
            <a:off x="4333875" y="225742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A8B9CA"/>
                </a:solidFill>
              </a:defRPr>
            </a:pPr>
            <a:r>
              <a:rPr sz="1050">
                <a:solidFill>
                  <a:srgbClr val="A8B9CA"/>
                </a:solidFill>
              </a:rPr>
              <a:t>Sector folder discovery and manifest preserve a stable project identity.</a:t>
            </a:r>
          </a:p>
        </p:txBody>
      </p:sp>
      <p:sp>
        <p:nvSpPr>
          <p:cNvPr id="10" name="">
            <a:extLst xmlns:a="http://schemas.openxmlformats.org/drawingml/2006/main">
              <a:ext uri="{FF2B5EF4-FFF2-40B4-BE49-F238E27FC236}">
                <a16:creationId xmlns:a16="http://schemas.microsoft.com/office/drawing/2014/main" id="{E37B5E70-2F54-4837-8711-016175B4247A}"/>
              </a:ext>
            </a:extLst>
          </p:cNvPr>
          <p:cNvSpPr>
            <a:spLocks xmlns:a="http://schemas.openxmlformats.org/drawingml/2006/main" noGrp="1"/>
          </p:cNvSpPr>
          <p:nvPr/>
        </p:nvSpPr>
        <p:spPr>
          <a:xfrm xmlns:a="http://schemas.openxmlformats.org/drawingml/2006/main">
            <a:off x="609600" y="2933700"/>
            <a:ext cx="10401300" cy="638175"/>
          </a:xfrm>
          <a:prstGeom xmlns:a="http://schemas.openxmlformats.org/drawingml/2006/main" prst="roundRect">
            <a:avLst>
              <a:gd name="adj" fmla="val 17910"/>
            </a:avLst>
          </a:prstGeom>
          <a:solidFill xmlns:a="http://schemas.openxmlformats.org/drawingml/2006/main">
            <a:srgbClr val="10233B"/>
          </a:solidFill>
          <a:ln xmlns:a="http://schemas.openxmlformats.org/drawingml/2006/main" w="9525">
            <a:solidFill>
              <a:srgbClr val="23425F"/>
            </a:solidFill>
            <a:prstDash val="solid"/>
          </a:ln>
        </p:spPr>
      </p:sp>
      <p:sp>
        <p:nvSpPr>
          <p:cNvPr id="11" name="">
            <a:extLst xmlns:a="http://schemas.openxmlformats.org/drawingml/2006/main">
              <a:ext uri="{FF2B5EF4-FFF2-40B4-BE49-F238E27FC236}">
                <a16:creationId xmlns:a16="http://schemas.microsoft.com/office/drawing/2014/main" id="{CE313391-C7B7-4E95-A45A-BCDAB881AE7A}"/>
              </a:ext>
            </a:extLst>
          </p:cNvPr>
          <p:cNvSpPr>
            <a:spLocks xmlns:a="http://schemas.openxmlformats.org/drawingml/2006/main" noGrp="1"/>
          </p:cNvSpPr>
          <p:nvPr/>
        </p:nvSpPr>
        <p:spPr>
          <a:xfrm xmlns:a="http://schemas.openxmlformats.org/drawingml/2006/main">
            <a:off x="838200" y="310515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6C9E8"/>
                </a:solidFill>
              </a:defRPr>
            </a:pPr>
            <a:r>
              <a:rPr sz="1725" b="1">
                <a:solidFill>
                  <a:srgbClr val="16C9E8"/>
                </a:solidFill>
              </a:rPr>
              <a:t>2</a:t>
            </a:r>
          </a:p>
        </p:txBody>
      </p:sp>
      <p:sp>
        <p:nvSpPr>
          <p:cNvPr id="12" name="">
            <a:extLst xmlns:a="http://schemas.openxmlformats.org/drawingml/2006/main">
              <a:ext uri="{FF2B5EF4-FFF2-40B4-BE49-F238E27FC236}">
                <a16:creationId xmlns:a16="http://schemas.microsoft.com/office/drawing/2014/main" id="{10801D28-7389-40FA-A934-5C95DA54DE59}"/>
              </a:ext>
            </a:extLst>
          </p:cNvPr>
          <p:cNvSpPr>
            <a:spLocks xmlns:a="http://schemas.openxmlformats.org/drawingml/2006/main" noGrp="1"/>
          </p:cNvSpPr>
          <p:nvPr/>
        </p:nvSpPr>
        <p:spPr>
          <a:xfrm xmlns:a="http://schemas.openxmlformats.org/drawingml/2006/main">
            <a:off x="1428750" y="3067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C"/>
                </a:solidFill>
              </a:defRPr>
            </a:pPr>
            <a:r>
              <a:rPr sz="1350" b="1">
                <a:solidFill>
                  <a:srgbClr val="F4F8FC"/>
                </a:solidFill>
              </a:rPr>
              <a:t>Place source-controlled data</a:t>
            </a:r>
          </a:p>
        </p:txBody>
      </p:sp>
      <p:sp>
        <p:nvSpPr>
          <p:cNvPr id="13" name="">
            <a:extLst xmlns:a="http://schemas.openxmlformats.org/drawingml/2006/main">
              <a:ext uri="{FF2B5EF4-FFF2-40B4-BE49-F238E27FC236}">
                <a16:creationId xmlns:a16="http://schemas.microsoft.com/office/drawing/2014/main" id="{20BEB344-E2A7-408B-8C9C-AE2FBAF061ED}"/>
              </a:ext>
            </a:extLst>
          </p:cNvPr>
          <p:cNvSpPr>
            <a:spLocks xmlns:a="http://schemas.openxmlformats.org/drawingml/2006/main" noGrp="1"/>
          </p:cNvSpPr>
          <p:nvPr/>
        </p:nvSpPr>
        <p:spPr>
          <a:xfrm xmlns:a="http://schemas.openxmlformats.org/drawingml/2006/main">
            <a:off x="4333875" y="309562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A8B9CA"/>
                </a:solidFill>
              </a:defRPr>
            </a:pPr>
            <a:r>
              <a:rPr sz="1050">
                <a:solidFill>
                  <a:srgbClr val="A8B9CA"/>
                </a:solidFill>
              </a:rPr>
              <a:t>Schedules, payments, letters, contracts, risks, evidence, and project-local templates.</a:t>
            </a:r>
          </a:p>
        </p:txBody>
      </p:sp>
      <p:sp>
        <p:nvSpPr>
          <p:cNvPr id="14" name="">
            <a:extLst xmlns:a="http://schemas.openxmlformats.org/drawingml/2006/main">
              <a:ext uri="{FF2B5EF4-FFF2-40B4-BE49-F238E27FC236}">
                <a16:creationId xmlns:a16="http://schemas.microsoft.com/office/drawing/2014/main" id="{EF7E4420-626B-4972-84BF-29240C65529D}"/>
              </a:ext>
            </a:extLst>
          </p:cNvPr>
          <p:cNvSpPr>
            <a:spLocks xmlns:a="http://schemas.openxmlformats.org/drawingml/2006/main" noGrp="1"/>
          </p:cNvSpPr>
          <p:nvPr/>
        </p:nvSpPr>
        <p:spPr>
          <a:xfrm xmlns:a="http://schemas.openxmlformats.org/drawingml/2006/main">
            <a:off x="609600" y="3771900"/>
            <a:ext cx="10401300" cy="638175"/>
          </a:xfrm>
          <a:prstGeom xmlns:a="http://schemas.openxmlformats.org/drawingml/2006/main" prst="roundRect">
            <a:avLst>
              <a:gd name="adj" fmla="val 17910"/>
            </a:avLst>
          </a:prstGeom>
          <a:solidFill xmlns:a="http://schemas.openxmlformats.org/drawingml/2006/main">
            <a:srgbClr val="0D1B30"/>
          </a:solidFill>
          <a:ln xmlns:a="http://schemas.openxmlformats.org/drawingml/2006/main" w="9525">
            <a:solidFill>
              <a:srgbClr val="23425F"/>
            </a:solidFill>
            <a:prstDash val="solid"/>
          </a:ln>
        </p:spPr>
      </p:sp>
      <p:sp>
        <p:nvSpPr>
          <p:cNvPr id="15" name="">
            <a:extLst xmlns:a="http://schemas.openxmlformats.org/drawingml/2006/main">
              <a:ext uri="{FF2B5EF4-FFF2-40B4-BE49-F238E27FC236}">
                <a16:creationId xmlns:a16="http://schemas.microsoft.com/office/drawing/2014/main" id="{2D8C31CE-BE85-4B90-9340-EB591BB877D2}"/>
              </a:ext>
            </a:extLst>
          </p:cNvPr>
          <p:cNvSpPr>
            <a:spLocks xmlns:a="http://schemas.openxmlformats.org/drawingml/2006/main" noGrp="1"/>
          </p:cNvSpPr>
          <p:nvPr/>
        </p:nvSpPr>
        <p:spPr>
          <a:xfrm xmlns:a="http://schemas.openxmlformats.org/drawingml/2006/main">
            <a:off x="838200" y="394335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B21A"/>
                </a:solidFill>
              </a:defRPr>
            </a:pPr>
            <a:r>
              <a:rPr sz="1725" b="1">
                <a:solidFill>
                  <a:srgbClr val="FFB21A"/>
                </a:solidFill>
              </a:rPr>
              <a:t>3</a:t>
            </a:r>
          </a:p>
        </p:txBody>
      </p:sp>
      <p:sp>
        <p:nvSpPr>
          <p:cNvPr id="16" name="">
            <a:extLst xmlns:a="http://schemas.openxmlformats.org/drawingml/2006/main">
              <a:ext uri="{FF2B5EF4-FFF2-40B4-BE49-F238E27FC236}">
                <a16:creationId xmlns:a16="http://schemas.microsoft.com/office/drawing/2014/main" id="{BDA985C6-5F3A-4662-90E4-A49132DBF003}"/>
              </a:ext>
            </a:extLst>
          </p:cNvPr>
          <p:cNvSpPr>
            <a:spLocks xmlns:a="http://schemas.openxmlformats.org/drawingml/2006/main" noGrp="1"/>
          </p:cNvSpPr>
          <p:nvPr/>
        </p:nvSpPr>
        <p:spPr>
          <a:xfrm xmlns:a="http://schemas.openxmlformats.org/drawingml/2006/main">
            <a:off x="1428750" y="3905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C"/>
                </a:solidFill>
              </a:defRPr>
            </a:pPr>
            <a:r>
              <a:rPr sz="1350" b="1">
                <a:solidFill>
                  <a:srgbClr val="F4F8FC"/>
                </a:solidFill>
              </a:rPr>
              <a:t>Run validation and generation</a:t>
            </a:r>
          </a:p>
        </p:txBody>
      </p:sp>
      <p:sp>
        <p:nvSpPr>
          <p:cNvPr id="17" name="">
            <a:extLst xmlns:a="http://schemas.openxmlformats.org/drawingml/2006/main">
              <a:ext uri="{FF2B5EF4-FFF2-40B4-BE49-F238E27FC236}">
                <a16:creationId xmlns:a16="http://schemas.microsoft.com/office/drawing/2014/main" id="{9D8652F7-72FE-4FFB-A852-6EC8C08CC711}"/>
              </a:ext>
            </a:extLst>
          </p:cNvPr>
          <p:cNvSpPr>
            <a:spLocks xmlns:a="http://schemas.openxmlformats.org/drawingml/2006/main" noGrp="1"/>
          </p:cNvSpPr>
          <p:nvPr/>
        </p:nvSpPr>
        <p:spPr>
          <a:xfrm xmlns:a="http://schemas.openxmlformats.org/drawingml/2006/main">
            <a:off x="4333875" y="393382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A8B9CA"/>
                </a:solidFill>
              </a:defRPr>
            </a:pPr>
            <a:r>
              <a:rPr sz="1050">
                <a:solidFill>
                  <a:srgbClr val="A8B9CA"/>
                </a:solidFill>
              </a:rPr>
              <a:t>Data quality findings remain attached to the owning project; no missing-data fallback.</a:t>
            </a:r>
          </a:p>
        </p:txBody>
      </p:sp>
      <p:sp>
        <p:nvSpPr>
          <p:cNvPr id="18" name="">
            <a:extLst xmlns:a="http://schemas.openxmlformats.org/drawingml/2006/main">
              <a:ext uri="{FF2B5EF4-FFF2-40B4-BE49-F238E27FC236}">
                <a16:creationId xmlns:a16="http://schemas.microsoft.com/office/drawing/2014/main" id="{2CA8CA7F-C530-4F2E-89A8-9B6F7DB08638}"/>
              </a:ext>
            </a:extLst>
          </p:cNvPr>
          <p:cNvSpPr>
            <a:spLocks xmlns:a="http://schemas.openxmlformats.org/drawingml/2006/main" noGrp="1"/>
          </p:cNvSpPr>
          <p:nvPr/>
        </p:nvSpPr>
        <p:spPr>
          <a:xfrm xmlns:a="http://schemas.openxmlformats.org/drawingml/2006/main">
            <a:off x="609600" y="4610100"/>
            <a:ext cx="10401300" cy="638175"/>
          </a:xfrm>
          <a:prstGeom xmlns:a="http://schemas.openxmlformats.org/drawingml/2006/main" prst="roundRect">
            <a:avLst>
              <a:gd name="adj" fmla="val 17910"/>
            </a:avLst>
          </a:prstGeom>
          <a:solidFill xmlns:a="http://schemas.openxmlformats.org/drawingml/2006/main">
            <a:srgbClr val="10233B"/>
          </a:solidFill>
          <a:ln xmlns:a="http://schemas.openxmlformats.org/drawingml/2006/main" w="9525">
            <a:solidFill>
              <a:srgbClr val="23425F"/>
            </a:solidFill>
            <a:prstDash val="solid"/>
          </a:ln>
        </p:spPr>
      </p:sp>
      <p:sp>
        <p:nvSpPr>
          <p:cNvPr id="19" name="">
            <a:extLst xmlns:a="http://schemas.openxmlformats.org/drawingml/2006/main">
              <a:ext uri="{FF2B5EF4-FFF2-40B4-BE49-F238E27FC236}">
                <a16:creationId xmlns:a16="http://schemas.microsoft.com/office/drawing/2014/main" id="{E978FF9E-B9BC-4B6A-B281-A4E6A49184A1}"/>
              </a:ext>
            </a:extLst>
          </p:cNvPr>
          <p:cNvSpPr>
            <a:spLocks xmlns:a="http://schemas.openxmlformats.org/drawingml/2006/main" noGrp="1"/>
          </p:cNvSpPr>
          <p:nvPr/>
        </p:nvSpPr>
        <p:spPr>
          <a:xfrm xmlns:a="http://schemas.openxmlformats.org/drawingml/2006/main">
            <a:off x="838200" y="478155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B21A"/>
                </a:solidFill>
              </a:defRPr>
            </a:pPr>
            <a:r>
              <a:rPr sz="1725" b="1">
                <a:solidFill>
                  <a:srgbClr val="FFB21A"/>
                </a:solidFill>
              </a:rPr>
              <a:t>4</a:t>
            </a:r>
          </a:p>
        </p:txBody>
      </p:sp>
      <p:sp>
        <p:nvSpPr>
          <p:cNvPr id="20" name="">
            <a:extLst xmlns:a="http://schemas.openxmlformats.org/drawingml/2006/main">
              <a:ext uri="{FF2B5EF4-FFF2-40B4-BE49-F238E27FC236}">
                <a16:creationId xmlns:a16="http://schemas.microsoft.com/office/drawing/2014/main" id="{4AEFD395-C4D8-4F4F-A477-2D90531302C8}"/>
              </a:ext>
            </a:extLst>
          </p:cNvPr>
          <p:cNvSpPr>
            <a:spLocks xmlns:a="http://schemas.openxmlformats.org/drawingml/2006/main" noGrp="1"/>
          </p:cNvSpPr>
          <p:nvPr/>
        </p:nvSpPr>
        <p:spPr>
          <a:xfrm xmlns:a="http://schemas.openxmlformats.org/drawingml/2006/main">
            <a:off x="1428750" y="4743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C"/>
                </a:solidFill>
              </a:defRPr>
            </a:pPr>
            <a:r>
              <a:rPr sz="1350" b="1">
                <a:solidFill>
                  <a:srgbClr val="F4F8FC"/>
                </a:solidFill>
              </a:rPr>
              <a:t>Publish validated outputs</a:t>
            </a:r>
          </a:p>
        </p:txBody>
      </p:sp>
      <p:sp>
        <p:nvSpPr>
          <p:cNvPr id="21" name="">
            <a:extLst xmlns:a="http://schemas.openxmlformats.org/drawingml/2006/main">
              <a:ext uri="{FF2B5EF4-FFF2-40B4-BE49-F238E27FC236}">
                <a16:creationId xmlns:a16="http://schemas.microsoft.com/office/drawing/2014/main" id="{55FCF118-A851-4FAB-B4EE-1B0884F8BBE4}"/>
              </a:ext>
            </a:extLst>
          </p:cNvPr>
          <p:cNvSpPr>
            <a:spLocks xmlns:a="http://schemas.openxmlformats.org/drawingml/2006/main" noGrp="1"/>
          </p:cNvSpPr>
          <p:nvPr/>
        </p:nvSpPr>
        <p:spPr>
          <a:xfrm xmlns:a="http://schemas.openxmlformats.org/drawingml/2006/main">
            <a:off x="4333875" y="477202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A8B9CA"/>
                </a:solidFill>
              </a:defRPr>
            </a:pPr>
            <a:r>
              <a:rPr sz="1050">
                <a:solidFill>
                  <a:srgbClr val="A8B9CA"/>
                </a:solidFill>
              </a:rPr>
              <a:t>Only changed project payloads and report artifacts regenerate and publish.</a:t>
            </a:r>
          </a:p>
        </p:txBody>
      </p:sp>
      <p:sp>
        <p:nvSpPr>
          <p:cNvPr id="22" name="">
            <a:extLst xmlns:a="http://schemas.openxmlformats.org/drawingml/2006/main">
              <a:ext uri="{FF2B5EF4-FFF2-40B4-BE49-F238E27FC236}">
                <a16:creationId xmlns:a16="http://schemas.microsoft.com/office/drawing/2014/main" id="{779D99F7-35D5-412C-8D42-B0CE5B90251E}"/>
              </a:ext>
            </a:extLst>
          </p:cNvPr>
          <p:cNvSpPr>
            <a:spLocks xmlns:a="http://schemas.openxmlformats.org/drawingml/2006/main" noGrp="1"/>
          </p:cNvSpPr>
          <p:nvPr/>
        </p:nvSpPr>
        <p:spPr>
          <a:xfrm xmlns:a="http://schemas.openxmlformats.org/drawingml/2006/main">
            <a:off x="609600"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Designed &amp; Created |</a:t>
            </a:r>
          </a:p>
        </p:txBody>
      </p:sp>
      <p:sp>
        <p:nvSpPr>
          <p:cNvPr id="23" name="">
            <a:extLst xmlns:a="http://schemas.openxmlformats.org/drawingml/2006/main">
              <a:ext uri="{FF2B5EF4-FFF2-40B4-BE49-F238E27FC236}">
                <a16:creationId xmlns:a16="http://schemas.microsoft.com/office/drawing/2014/main" id="{B16C158F-1DCD-43CD-B870-04ADD469E9B8}"/>
              </a:ext>
            </a:extLst>
          </p:cNvPr>
          <p:cNvSpPr>
            <a:spLocks xmlns:a="http://schemas.openxmlformats.org/drawingml/2006/main" noGrp="1"/>
          </p:cNvSpPr>
          <p:nvPr/>
        </p:nvSpPr>
        <p:spPr>
          <a:xfrm xmlns:a="http://schemas.openxmlformats.org/drawingml/2006/main">
            <a:off x="1952625"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6C9E8"/>
                </a:solidFill>
              </a:defRPr>
            </a:pPr>
            <a:r>
              <a:rPr sz="750" b="1">
                <a:solidFill>
                  <a:srgbClr val="16C9E8"/>
                </a:solidFill>
              </a:rPr>
              <a:t>Engr. Ahmed Labib</a:t>
            </a:r>
          </a:p>
        </p:txBody>
      </p:sp>
      <p:sp>
        <p:nvSpPr>
          <p:cNvPr id="24" name="">
            <a:extLst xmlns:a="http://schemas.openxmlformats.org/drawingml/2006/main">
              <a:ext uri="{FF2B5EF4-FFF2-40B4-BE49-F238E27FC236}">
                <a16:creationId xmlns:a16="http://schemas.microsoft.com/office/drawing/2014/main" id="{4148B340-4771-42AF-B971-98A1233C6D96}"/>
              </a:ext>
            </a:extLst>
          </p:cNvPr>
          <p:cNvSpPr>
            <a:spLocks xmlns:a="http://schemas.openxmlformats.org/drawingml/2006/main" noGrp="1"/>
          </p:cNvSpPr>
          <p:nvPr/>
        </p:nvSpPr>
        <p:spPr>
          <a:xfrm xmlns:a="http://schemas.openxmlformats.org/drawingml/2006/main">
            <a:off x="9144000" y="6496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A8B9CA"/>
                </a:solidFill>
              </a:defRPr>
            </a:pPr>
            <a:r>
              <a:rPr sz="750">
                <a:solidFill>
                  <a:srgbClr val="A8B9CA"/>
                </a:solidFill>
              </a:rPr>
              <a:t>Evidence-led project controls</a:t>
            </a:r>
          </a:p>
        </p:txBody>
      </p:sp>
    </p:spTree>
    <p:extLst>
      <p:ext uri="{BB962C8B-B14F-4D97-AF65-F5344CB8AC3E}">
        <p14:creationId xmlns:p14="http://schemas.microsoft.com/office/powerpoint/2010/main" val="433153270"/>
      </p:ext>
    </p:extLst>
  </p:cSld>
</p:sld>
</file>

<file path=ppt/slides/slide8.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6EE5289-FF52-472A-B5C3-0478BFAB95C5}"/>
              </a:ext>
            </a:extLst>
          </p:cNvPr>
          <p:cNvSpPr>
            <a:spLocks xmlns:a="http://schemas.openxmlformats.org/drawingml/2006/main" noGrp="1"/>
          </p:cNvSpPr>
          <p:nvPr/>
        </p:nvSpPr>
        <p:spPr>
          <a:xfrm xmlns:a="http://schemas.openxmlformats.org/drawingml/2006/main">
            <a:off x="609600" y="400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6C9E8"/>
                </a:solidFill>
              </a:defRPr>
            </a:pPr>
            <a:r>
              <a:rPr sz="975" b="1">
                <a:solidFill>
                  <a:srgbClr val="16C9E8"/>
                </a:solidFill>
              </a:rPr>
              <a:t>AI GOVERNANCE</a:t>
            </a:r>
          </a:p>
        </p:txBody>
      </p:sp>
      <p:sp>
        <p:nvSpPr>
          <p:cNvPr id="2" name="">
            <a:extLst xmlns:a="http://schemas.openxmlformats.org/drawingml/2006/main">
              <a:ext uri="{FF2B5EF4-FFF2-40B4-BE49-F238E27FC236}">
                <a16:creationId xmlns:a16="http://schemas.microsoft.com/office/drawing/2014/main" id="{83694730-C673-4833-BE40-A73F82E1F4B7}"/>
              </a:ext>
            </a:extLst>
          </p:cNvPr>
          <p:cNvSpPr>
            <a:spLocks xmlns:a="http://schemas.openxmlformats.org/drawingml/2006/main" noGrp="1"/>
          </p:cNvSpPr>
          <p:nvPr/>
        </p:nvSpPr>
        <p:spPr>
          <a:xfrm xmlns:a="http://schemas.openxmlformats.org/drawingml/2006/main">
            <a:off x="609600" y="6858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4F8FC"/>
                </a:solidFill>
              </a:defRPr>
            </a:pPr>
            <a:r>
              <a:rPr sz="2550" b="1">
                <a:solidFill>
                  <a:srgbClr val="F4F8FC"/>
                </a:solidFill>
              </a:rPr>
              <a:t>AI supports decisions, not assumptions</a:t>
            </a:r>
          </a:p>
        </p:txBody>
      </p:sp>
      <p:sp>
        <p:nvSpPr>
          <p:cNvPr id="3" name="">
            <a:extLst xmlns:a="http://schemas.openxmlformats.org/drawingml/2006/main">
              <a:ext uri="{FF2B5EF4-FFF2-40B4-BE49-F238E27FC236}">
                <a16:creationId xmlns:a16="http://schemas.microsoft.com/office/drawing/2014/main" id="{8C541D5F-1227-4BA3-BC8F-97953D1F94CA}"/>
              </a:ext>
            </a:extLst>
          </p:cNvPr>
          <p:cNvSpPr>
            <a:spLocks xmlns:a="http://schemas.openxmlformats.org/drawingml/2006/main" noGrp="1"/>
          </p:cNvSpPr>
          <p:nvPr/>
        </p:nvSpPr>
        <p:spPr>
          <a:xfrm xmlns:a="http://schemas.openxmlformats.org/drawingml/2006/main">
            <a:off x="609600" y="12573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A8B9CA"/>
                </a:solidFill>
              </a:defRPr>
            </a:pPr>
            <a:r>
              <a:rPr sz="1275">
                <a:solidFill>
                  <a:srgbClr val="A8B9CA"/>
                </a:solidFill>
              </a:rPr>
              <a:t>Groq is available as a server-side, read-only reasoning provider after the selected project’s evidence is assembled.</a:t>
            </a:r>
          </a:p>
        </p:txBody>
      </p:sp>
      <p:sp>
        <p:nvSpPr>
          <p:cNvPr id="4" name="">
            <a:extLst xmlns:a="http://schemas.openxmlformats.org/drawingml/2006/main">
              <a:ext uri="{FF2B5EF4-FFF2-40B4-BE49-F238E27FC236}">
                <a16:creationId xmlns:a16="http://schemas.microsoft.com/office/drawing/2014/main" id="{ABA5EC4C-AF92-46A2-ADFC-3FAD2BA18123}"/>
              </a:ext>
            </a:extLst>
          </p:cNvPr>
          <p:cNvSpPr>
            <a:spLocks xmlns:a="http://schemas.openxmlformats.org/drawingml/2006/main" noGrp="1"/>
          </p:cNvSpPr>
          <p:nvPr/>
        </p:nvSpPr>
        <p:spPr>
          <a:xfrm xmlns:a="http://schemas.openxmlformats.org/drawingml/2006/main">
            <a:off x="9525000" y="4381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8B9CA"/>
                </a:solidFill>
              </a:defRPr>
            </a:pPr>
            <a:r>
              <a:rPr sz="750" b="1">
                <a:solidFill>
                  <a:srgbClr val="A8B9CA"/>
                </a:solidFill>
              </a:rPr>
              <a:t>SAMCO PROJECT INTELLIGENCE HUB  |  08</a:t>
            </a:r>
          </a:p>
        </p:txBody>
      </p:sp>
      <p:sp>
        <p:nvSpPr>
          <p:cNvPr id="5" name="">
            <a:extLst xmlns:a="http://schemas.openxmlformats.org/drawingml/2006/main">
              <a:ext uri="{FF2B5EF4-FFF2-40B4-BE49-F238E27FC236}">
                <a16:creationId xmlns:a16="http://schemas.microsoft.com/office/drawing/2014/main" id="{A0AC2489-3465-40AA-8CAB-24B932DF8B04}"/>
              </a:ext>
            </a:extLst>
          </p:cNvPr>
          <p:cNvSpPr>
            <a:spLocks xmlns:a="http://schemas.openxmlformats.org/drawingml/2006/main" noGrp="1"/>
          </p:cNvSpPr>
          <p:nvPr/>
        </p:nvSpPr>
        <p:spPr>
          <a:xfrm xmlns:a="http://schemas.openxmlformats.org/drawingml/2006/main">
            <a:off x="609600" y="1695450"/>
            <a:ext cx="10972800" cy="9525"/>
          </a:xfrm>
          <a:prstGeom xmlns:a="http://schemas.openxmlformats.org/drawingml/2006/main" prst="rect">
            <a:avLst/>
          </a:prstGeom>
          <a:solidFill xmlns:a="http://schemas.openxmlformats.org/drawingml/2006/main">
            <a:srgbClr val="23425F"/>
          </a:solidFill>
          <a:ln xmlns:a="http://schemas.openxmlformats.org/drawingml/2006/main" w="0">
            <a:solidFill>
              <a:srgbClr val="23425F"/>
            </a:solidFill>
            <a:prstDash val="solid"/>
          </a:ln>
        </p:spPr>
      </p:sp>
      <p:sp>
        <p:nvSpPr>
          <p:cNvPr id="6" name="">
            <a:extLst xmlns:a="http://schemas.openxmlformats.org/drawingml/2006/main">
              <a:ext uri="{FF2B5EF4-FFF2-40B4-BE49-F238E27FC236}">
                <a16:creationId xmlns:a16="http://schemas.microsoft.com/office/drawing/2014/main" id="{AA23FFC3-EC9F-4FF3-98CC-1C24EAD0FAFF}"/>
              </a:ext>
            </a:extLst>
          </p:cNvPr>
          <p:cNvSpPr>
            <a:spLocks xmlns:a="http://schemas.openxmlformats.org/drawingml/2006/main" noGrp="1"/>
          </p:cNvSpPr>
          <p:nvPr/>
        </p:nvSpPr>
        <p:spPr>
          <a:xfrm xmlns:a="http://schemas.openxmlformats.org/drawingml/2006/main">
            <a:off x="609600" y="2114550"/>
            <a:ext cx="4953000" cy="3095625"/>
          </a:xfrm>
          <a:prstGeom xmlns:a="http://schemas.openxmlformats.org/drawingml/2006/main" prst="roundRect">
            <a:avLst>
              <a:gd name="adj" fmla="val 3692"/>
            </a:avLst>
          </a:prstGeom>
          <a:solidFill xmlns:a="http://schemas.openxmlformats.org/drawingml/2006/main">
            <a:srgbClr val="0D1B30"/>
          </a:solidFill>
          <a:ln xmlns:a="http://schemas.openxmlformats.org/drawingml/2006/main" w="9525">
            <a:solidFill>
              <a:srgbClr val="23425F"/>
            </a:solidFill>
            <a:prstDash val="solid"/>
          </a:ln>
        </p:spPr>
      </p:sp>
      <p:sp>
        <p:nvSpPr>
          <p:cNvPr id="7" name="">
            <a:extLst xmlns:a="http://schemas.openxmlformats.org/drawingml/2006/main">
              <a:ext uri="{FF2B5EF4-FFF2-40B4-BE49-F238E27FC236}">
                <a16:creationId xmlns:a16="http://schemas.microsoft.com/office/drawing/2014/main" id="{CF86F914-4712-49B4-AA53-435787AE5D2D}"/>
              </a:ext>
            </a:extLst>
          </p:cNvPr>
          <p:cNvSpPr>
            <a:spLocks xmlns:a="http://schemas.openxmlformats.org/drawingml/2006/main" noGrp="1"/>
          </p:cNvSpPr>
          <p:nvPr/>
        </p:nvSpPr>
        <p:spPr>
          <a:xfrm xmlns:a="http://schemas.openxmlformats.org/drawingml/2006/main">
            <a:off x="895350" y="24193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6C9E8"/>
                </a:solidFill>
              </a:defRPr>
            </a:pPr>
            <a:r>
              <a:rPr sz="1875" b="1">
                <a:solidFill>
                  <a:srgbClr val="16C9E8"/>
                </a:solidFill>
              </a:rPr>
              <a:t>What AI can do</a:t>
            </a:r>
          </a:p>
        </p:txBody>
      </p:sp>
      <p:sp>
        <p:nvSpPr>
          <p:cNvPr id="8" name="">
            <a:extLst xmlns:a="http://schemas.openxmlformats.org/drawingml/2006/main">
              <a:ext uri="{FF2B5EF4-FFF2-40B4-BE49-F238E27FC236}">
                <a16:creationId xmlns:a16="http://schemas.microsoft.com/office/drawing/2014/main" id="{38B7E6CD-41E5-476F-8321-0480955DB210}"/>
              </a:ext>
            </a:extLst>
          </p:cNvPr>
          <p:cNvSpPr>
            <a:spLocks xmlns:a="http://schemas.openxmlformats.org/drawingml/2006/main" noGrp="1"/>
          </p:cNvSpPr>
          <p:nvPr/>
        </p:nvSpPr>
        <p:spPr>
          <a:xfrm xmlns:a="http://schemas.openxmlformats.org/drawingml/2006/main">
            <a:off x="914400" y="2952750"/>
            <a:ext cx="4238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  Classify executive, claim, letters, data-quality, and technical questions</a:t>
            </a:r>
          </a:p>
        </p:txBody>
      </p:sp>
      <p:sp>
        <p:nvSpPr>
          <p:cNvPr id="9" name="">
            <a:extLst xmlns:a="http://schemas.openxmlformats.org/drawingml/2006/main">
              <a:ext uri="{FF2B5EF4-FFF2-40B4-BE49-F238E27FC236}">
                <a16:creationId xmlns:a16="http://schemas.microsoft.com/office/drawing/2014/main" id="{67CCDB80-16CF-4F9E-B0F6-CF3D0E3B4D26}"/>
              </a:ext>
            </a:extLst>
          </p:cNvPr>
          <p:cNvSpPr>
            <a:spLocks xmlns:a="http://schemas.openxmlformats.org/drawingml/2006/main" noGrp="1"/>
          </p:cNvSpPr>
          <p:nvPr/>
        </p:nvSpPr>
        <p:spPr>
          <a:xfrm xmlns:a="http://schemas.openxmlformats.org/drawingml/2006/main">
            <a:off x="914400" y="3419475"/>
            <a:ext cx="4238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  Match the Technical Knowledge Bank to natural-language queries</a:t>
            </a:r>
          </a:p>
        </p:txBody>
      </p:sp>
      <p:sp>
        <p:nvSpPr>
          <p:cNvPr id="10" name="">
            <a:extLst xmlns:a="http://schemas.openxmlformats.org/drawingml/2006/main">
              <a:ext uri="{FF2B5EF4-FFF2-40B4-BE49-F238E27FC236}">
                <a16:creationId xmlns:a16="http://schemas.microsoft.com/office/drawing/2014/main" id="{A48C2226-0EE3-4210-B2B4-0CCFC33C874A}"/>
              </a:ext>
            </a:extLst>
          </p:cNvPr>
          <p:cNvSpPr>
            <a:spLocks xmlns:a="http://schemas.openxmlformats.org/drawingml/2006/main" noGrp="1"/>
          </p:cNvSpPr>
          <p:nvPr/>
        </p:nvSpPr>
        <p:spPr>
          <a:xfrm xmlns:a="http://schemas.openxmlformats.org/drawingml/2006/main">
            <a:off x="914400" y="3886200"/>
            <a:ext cx="4238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  Explain affected evidence, logic gates, and follow-up actions</a:t>
            </a:r>
          </a:p>
        </p:txBody>
      </p:sp>
      <p:sp>
        <p:nvSpPr>
          <p:cNvPr id="11" name="">
            <a:extLst xmlns:a="http://schemas.openxmlformats.org/drawingml/2006/main">
              <a:ext uri="{FF2B5EF4-FFF2-40B4-BE49-F238E27FC236}">
                <a16:creationId xmlns:a16="http://schemas.microsoft.com/office/drawing/2014/main" id="{BF5CD87A-1066-4943-A63E-20180CEDD34E}"/>
              </a:ext>
            </a:extLst>
          </p:cNvPr>
          <p:cNvSpPr>
            <a:spLocks xmlns:a="http://schemas.openxmlformats.org/drawingml/2006/main" noGrp="1"/>
          </p:cNvSpPr>
          <p:nvPr/>
        </p:nvSpPr>
        <p:spPr>
          <a:xfrm xmlns:a="http://schemas.openxmlformats.org/drawingml/2006/main">
            <a:off x="914400" y="4352925"/>
            <a:ext cx="4238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  Draft evidence-aware recommendations within the active scope</a:t>
            </a:r>
          </a:p>
        </p:txBody>
      </p:sp>
      <p:sp>
        <p:nvSpPr>
          <p:cNvPr id="12" name="">
            <a:extLst xmlns:a="http://schemas.openxmlformats.org/drawingml/2006/main">
              <a:ext uri="{FF2B5EF4-FFF2-40B4-BE49-F238E27FC236}">
                <a16:creationId xmlns:a16="http://schemas.microsoft.com/office/drawing/2014/main" id="{25A39FBB-0CCA-479D-A9A1-48D56AFF4F59}"/>
              </a:ext>
            </a:extLst>
          </p:cNvPr>
          <p:cNvSpPr>
            <a:spLocks xmlns:a="http://schemas.openxmlformats.org/drawingml/2006/main" noGrp="1"/>
          </p:cNvSpPr>
          <p:nvPr/>
        </p:nvSpPr>
        <p:spPr>
          <a:xfrm xmlns:a="http://schemas.openxmlformats.org/drawingml/2006/main">
            <a:off x="6048375" y="2114550"/>
            <a:ext cx="4953000" cy="3095625"/>
          </a:xfrm>
          <a:prstGeom xmlns:a="http://schemas.openxmlformats.org/drawingml/2006/main" prst="roundRect">
            <a:avLst>
              <a:gd name="adj" fmla="val 3692"/>
            </a:avLst>
          </a:prstGeom>
          <a:solidFill xmlns:a="http://schemas.openxmlformats.org/drawingml/2006/main">
            <a:srgbClr val="10233B"/>
          </a:solidFill>
          <a:ln xmlns:a="http://schemas.openxmlformats.org/drawingml/2006/main" w="9525">
            <a:solidFill>
              <a:srgbClr val="23425F"/>
            </a:solidFill>
            <a:prstDash val="solid"/>
          </a:ln>
        </p:spPr>
      </p:sp>
      <p:sp>
        <p:nvSpPr>
          <p:cNvPr id="13" name="">
            <a:extLst xmlns:a="http://schemas.openxmlformats.org/drawingml/2006/main">
              <a:ext uri="{FF2B5EF4-FFF2-40B4-BE49-F238E27FC236}">
                <a16:creationId xmlns:a16="http://schemas.microsoft.com/office/drawing/2014/main" id="{10A51636-DFCE-420B-A639-00635A004593}"/>
              </a:ext>
            </a:extLst>
          </p:cNvPr>
          <p:cNvSpPr>
            <a:spLocks xmlns:a="http://schemas.openxmlformats.org/drawingml/2006/main" noGrp="1"/>
          </p:cNvSpPr>
          <p:nvPr/>
        </p:nvSpPr>
        <p:spPr>
          <a:xfrm xmlns:a="http://schemas.openxmlformats.org/drawingml/2006/main">
            <a:off x="6334125" y="24193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22C7B8"/>
                </a:solidFill>
              </a:defRPr>
            </a:pPr>
            <a:r>
              <a:rPr sz="1875" b="1">
                <a:solidFill>
                  <a:srgbClr val="22C7B8"/>
                </a:solidFill>
              </a:rPr>
              <a:t>Hard safety boundaries</a:t>
            </a:r>
          </a:p>
        </p:txBody>
      </p:sp>
      <p:sp>
        <p:nvSpPr>
          <p:cNvPr id="14" name="">
            <a:extLst xmlns:a="http://schemas.openxmlformats.org/drawingml/2006/main">
              <a:ext uri="{FF2B5EF4-FFF2-40B4-BE49-F238E27FC236}">
                <a16:creationId xmlns:a16="http://schemas.microsoft.com/office/drawing/2014/main" id="{0387BCE0-2756-43B5-9189-98F3E3168A51}"/>
              </a:ext>
            </a:extLst>
          </p:cNvPr>
          <p:cNvSpPr>
            <a:spLocks xmlns:a="http://schemas.openxmlformats.org/drawingml/2006/main" noGrp="1"/>
          </p:cNvSpPr>
          <p:nvPr/>
        </p:nvSpPr>
        <p:spPr>
          <a:xfrm xmlns:a="http://schemas.openxmlformats.org/drawingml/2006/main">
            <a:off x="6353175" y="2952750"/>
            <a:ext cx="428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  No fabricated dates, costs, delay days, clauses, or EOT</a:t>
            </a:r>
          </a:p>
        </p:txBody>
      </p:sp>
      <p:sp>
        <p:nvSpPr>
          <p:cNvPr id="15" name="">
            <a:extLst xmlns:a="http://schemas.openxmlformats.org/drawingml/2006/main">
              <a:ext uri="{FF2B5EF4-FFF2-40B4-BE49-F238E27FC236}">
                <a16:creationId xmlns:a16="http://schemas.microsoft.com/office/drawing/2014/main" id="{9C17A1BA-8AA4-4942-959B-B856A296AB02}"/>
              </a:ext>
            </a:extLst>
          </p:cNvPr>
          <p:cNvSpPr>
            <a:spLocks xmlns:a="http://schemas.openxmlformats.org/drawingml/2006/main" noGrp="1"/>
          </p:cNvSpPr>
          <p:nvPr/>
        </p:nvSpPr>
        <p:spPr>
          <a:xfrm xmlns:a="http://schemas.openxmlformats.org/drawingml/2006/main">
            <a:off x="6353175" y="3419475"/>
            <a:ext cx="428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  No cross-project context in selected-project mode</a:t>
            </a:r>
          </a:p>
        </p:txBody>
      </p:sp>
      <p:sp>
        <p:nvSpPr>
          <p:cNvPr id="16" name="">
            <a:extLst xmlns:a="http://schemas.openxmlformats.org/drawingml/2006/main">
              <a:ext uri="{FF2B5EF4-FFF2-40B4-BE49-F238E27FC236}">
                <a16:creationId xmlns:a16="http://schemas.microsoft.com/office/drawing/2014/main" id="{DABFAB90-BD86-43B1-8042-BB3B9F3C6B9F}"/>
              </a:ext>
            </a:extLst>
          </p:cNvPr>
          <p:cNvSpPr>
            <a:spLocks xmlns:a="http://schemas.openxmlformats.org/drawingml/2006/main" noGrp="1"/>
          </p:cNvSpPr>
          <p:nvPr/>
        </p:nvSpPr>
        <p:spPr>
          <a:xfrm xmlns:a="http://schemas.openxmlformats.org/drawingml/2006/main">
            <a:off x="6353175" y="3886200"/>
            <a:ext cx="428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  Missing evidence is stated as missing, never estimated</a:t>
            </a:r>
          </a:p>
        </p:txBody>
      </p:sp>
      <p:sp>
        <p:nvSpPr>
          <p:cNvPr id="17" name="">
            <a:extLst xmlns:a="http://schemas.openxmlformats.org/drawingml/2006/main">
              <a:ext uri="{FF2B5EF4-FFF2-40B4-BE49-F238E27FC236}">
                <a16:creationId xmlns:a16="http://schemas.microsoft.com/office/drawing/2014/main" id="{318127E7-6174-42BB-AFBA-BBDC66679207}"/>
              </a:ext>
            </a:extLst>
          </p:cNvPr>
          <p:cNvSpPr>
            <a:spLocks xmlns:a="http://schemas.openxmlformats.org/drawingml/2006/main" noGrp="1"/>
          </p:cNvSpPr>
          <p:nvPr/>
        </p:nvSpPr>
        <p:spPr>
          <a:xfrm xmlns:a="http://schemas.openxmlformats.org/drawingml/2006/main">
            <a:off x="6353175" y="4352925"/>
            <a:ext cx="428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F4F8FC"/>
                </a:solidFill>
              </a:defRPr>
            </a:pPr>
            <a:r>
              <a:rPr sz="1200">
                <a:solidFill>
                  <a:srgbClr val="F4F8FC"/>
                </a:solidFill>
              </a:rPr>
              <a:t>•  Contractual conclusions remain subject to verified source evidence</a:t>
            </a:r>
          </a:p>
        </p:txBody>
      </p:sp>
      <p:sp>
        <p:nvSpPr>
          <p:cNvPr id="18" name="">
            <a:extLst xmlns:a="http://schemas.openxmlformats.org/drawingml/2006/main">
              <a:ext uri="{FF2B5EF4-FFF2-40B4-BE49-F238E27FC236}">
                <a16:creationId xmlns:a16="http://schemas.microsoft.com/office/drawing/2014/main" id="{749D211E-FAA1-4E9E-93FF-E748BA7F185D}"/>
              </a:ext>
            </a:extLst>
          </p:cNvPr>
          <p:cNvSpPr>
            <a:spLocks xmlns:a="http://schemas.openxmlformats.org/drawingml/2006/main" noGrp="1"/>
          </p:cNvSpPr>
          <p:nvPr/>
        </p:nvSpPr>
        <p:spPr>
          <a:xfrm xmlns:a="http://schemas.openxmlformats.org/drawingml/2006/main">
            <a:off x="609600"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Designed &amp; Created |</a:t>
            </a:r>
          </a:p>
        </p:txBody>
      </p:sp>
      <p:sp>
        <p:nvSpPr>
          <p:cNvPr id="19" name="">
            <a:extLst xmlns:a="http://schemas.openxmlformats.org/drawingml/2006/main">
              <a:ext uri="{FF2B5EF4-FFF2-40B4-BE49-F238E27FC236}">
                <a16:creationId xmlns:a16="http://schemas.microsoft.com/office/drawing/2014/main" id="{C8322731-6621-4FFD-AB35-E3C102546CB7}"/>
              </a:ext>
            </a:extLst>
          </p:cNvPr>
          <p:cNvSpPr>
            <a:spLocks xmlns:a="http://schemas.openxmlformats.org/drawingml/2006/main" noGrp="1"/>
          </p:cNvSpPr>
          <p:nvPr/>
        </p:nvSpPr>
        <p:spPr>
          <a:xfrm xmlns:a="http://schemas.openxmlformats.org/drawingml/2006/main">
            <a:off x="1952625"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6C9E8"/>
                </a:solidFill>
              </a:defRPr>
            </a:pPr>
            <a:r>
              <a:rPr sz="750" b="1">
                <a:solidFill>
                  <a:srgbClr val="16C9E8"/>
                </a:solidFill>
              </a:rPr>
              <a:t>Engr. Ahmed Labib</a:t>
            </a:r>
          </a:p>
        </p:txBody>
      </p:sp>
      <p:sp>
        <p:nvSpPr>
          <p:cNvPr id="20" name="">
            <a:extLst xmlns:a="http://schemas.openxmlformats.org/drawingml/2006/main">
              <a:ext uri="{FF2B5EF4-FFF2-40B4-BE49-F238E27FC236}">
                <a16:creationId xmlns:a16="http://schemas.microsoft.com/office/drawing/2014/main" id="{C4EB5D81-1EA7-484D-A37B-238E24ED1855}"/>
              </a:ext>
            </a:extLst>
          </p:cNvPr>
          <p:cNvSpPr>
            <a:spLocks xmlns:a="http://schemas.openxmlformats.org/drawingml/2006/main" noGrp="1"/>
          </p:cNvSpPr>
          <p:nvPr/>
        </p:nvSpPr>
        <p:spPr>
          <a:xfrm xmlns:a="http://schemas.openxmlformats.org/drawingml/2006/main">
            <a:off x="9144000" y="6496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A8B9CA"/>
                </a:solidFill>
              </a:defRPr>
            </a:pPr>
            <a:r>
              <a:rPr sz="750">
                <a:solidFill>
                  <a:srgbClr val="A8B9CA"/>
                </a:solidFill>
              </a:rPr>
              <a:t>Evidence-led project controls</a:t>
            </a:r>
          </a:p>
        </p:txBody>
      </p:sp>
    </p:spTree>
    <p:extLst>
      <p:ext uri="{BB962C8B-B14F-4D97-AF65-F5344CB8AC3E}">
        <p14:creationId xmlns:p14="http://schemas.microsoft.com/office/powerpoint/2010/main" val="658985038"/>
      </p:ext>
    </p:extLst>
  </p:cSld>
</p:sld>
</file>

<file path=ppt/slides/slide9.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C03FC81-4462-404E-959B-E1C93EC561FA}"/>
              </a:ext>
            </a:extLst>
          </p:cNvPr>
          <p:cNvSpPr>
            <a:spLocks xmlns:a="http://schemas.openxmlformats.org/drawingml/2006/main" noGrp="1"/>
          </p:cNvSpPr>
          <p:nvPr/>
        </p:nvSpPr>
        <p:spPr>
          <a:xfrm xmlns:a="http://schemas.openxmlformats.org/drawingml/2006/main">
            <a:off x="609600" y="400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6C9E8"/>
                </a:solidFill>
              </a:defRPr>
            </a:pPr>
            <a:r>
              <a:rPr sz="975" b="1">
                <a:solidFill>
                  <a:srgbClr val="16C9E8"/>
                </a:solidFill>
              </a:rPr>
              <a:t>CONTROLLED DELAY ANALYSIS</a:t>
            </a:r>
          </a:p>
        </p:txBody>
      </p:sp>
      <p:sp>
        <p:nvSpPr>
          <p:cNvPr id="2" name="">
            <a:extLst xmlns:a="http://schemas.openxmlformats.org/drawingml/2006/main">
              <a:ext uri="{FF2B5EF4-FFF2-40B4-BE49-F238E27FC236}">
                <a16:creationId xmlns:a16="http://schemas.microsoft.com/office/drawing/2014/main" id="{17736DA5-5816-4252-B8AB-D7CE1832EA4B}"/>
              </a:ext>
            </a:extLst>
          </p:cNvPr>
          <p:cNvSpPr>
            <a:spLocks xmlns:a="http://schemas.openxmlformats.org/drawingml/2006/main" noGrp="1"/>
          </p:cNvSpPr>
          <p:nvPr/>
        </p:nvSpPr>
        <p:spPr>
          <a:xfrm xmlns:a="http://schemas.openxmlformats.org/drawingml/2006/main">
            <a:off x="609600" y="6858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4F8FC"/>
                </a:solidFill>
              </a:defRPr>
            </a:pPr>
            <a:r>
              <a:rPr sz="2550" b="1">
                <a:solidFill>
                  <a:srgbClr val="F4F8FC"/>
                </a:solidFill>
              </a:rPr>
              <a:t>Internal analysis stays evidence-gated</a:t>
            </a:r>
          </a:p>
        </p:txBody>
      </p:sp>
      <p:sp>
        <p:nvSpPr>
          <p:cNvPr id="3" name="">
            <a:extLst xmlns:a="http://schemas.openxmlformats.org/drawingml/2006/main">
              <a:ext uri="{FF2B5EF4-FFF2-40B4-BE49-F238E27FC236}">
                <a16:creationId xmlns:a16="http://schemas.microsoft.com/office/drawing/2014/main" id="{4E45DBD6-A188-452A-86FF-45FB56883CDA}"/>
              </a:ext>
            </a:extLst>
          </p:cNvPr>
          <p:cNvSpPr>
            <a:spLocks xmlns:a="http://schemas.openxmlformats.org/drawingml/2006/main" noGrp="1"/>
          </p:cNvSpPr>
          <p:nvPr/>
        </p:nvSpPr>
        <p:spPr>
          <a:xfrm xmlns:a="http://schemas.openxmlformats.org/drawingml/2006/main">
            <a:off x="609600" y="12573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A8B9CA"/>
                </a:solidFill>
              </a:defRPr>
            </a:pPr>
            <a:r>
              <a:rPr sz="1275">
                <a:solidFill>
                  <a:srgbClr val="A8B9CA"/>
                </a:solidFill>
              </a:rPr>
              <a:t>The governed engine analyses the selected project’s available schedule, relationship, evidence, and event sources; unverified outcomes remain indicative.</a:t>
            </a:r>
          </a:p>
        </p:txBody>
      </p:sp>
      <p:sp>
        <p:nvSpPr>
          <p:cNvPr id="4" name="">
            <a:extLst xmlns:a="http://schemas.openxmlformats.org/drawingml/2006/main">
              <a:ext uri="{FF2B5EF4-FFF2-40B4-BE49-F238E27FC236}">
                <a16:creationId xmlns:a16="http://schemas.microsoft.com/office/drawing/2014/main" id="{AA95D5DD-F7A1-4CEE-A4DA-7D54FABFBD4E}"/>
              </a:ext>
            </a:extLst>
          </p:cNvPr>
          <p:cNvSpPr>
            <a:spLocks xmlns:a="http://schemas.openxmlformats.org/drawingml/2006/main" noGrp="1"/>
          </p:cNvSpPr>
          <p:nvPr/>
        </p:nvSpPr>
        <p:spPr>
          <a:xfrm xmlns:a="http://schemas.openxmlformats.org/drawingml/2006/main">
            <a:off x="9525000" y="4381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8B9CA"/>
                </a:solidFill>
              </a:defRPr>
            </a:pPr>
            <a:r>
              <a:rPr sz="750" b="1">
                <a:solidFill>
                  <a:srgbClr val="A8B9CA"/>
                </a:solidFill>
              </a:rPr>
              <a:t>SAMCO PROJECT INTELLIGENCE HUB  |  09</a:t>
            </a:r>
          </a:p>
        </p:txBody>
      </p:sp>
      <p:sp>
        <p:nvSpPr>
          <p:cNvPr id="5" name="">
            <a:extLst xmlns:a="http://schemas.openxmlformats.org/drawingml/2006/main">
              <a:ext uri="{FF2B5EF4-FFF2-40B4-BE49-F238E27FC236}">
                <a16:creationId xmlns:a16="http://schemas.microsoft.com/office/drawing/2014/main" id="{0F9B8263-6D82-448F-8386-5CA2EE3F5FE6}"/>
              </a:ext>
            </a:extLst>
          </p:cNvPr>
          <p:cNvSpPr>
            <a:spLocks xmlns:a="http://schemas.openxmlformats.org/drawingml/2006/main" noGrp="1"/>
          </p:cNvSpPr>
          <p:nvPr/>
        </p:nvSpPr>
        <p:spPr>
          <a:xfrm xmlns:a="http://schemas.openxmlformats.org/drawingml/2006/main">
            <a:off x="609600" y="1695450"/>
            <a:ext cx="10972800" cy="9525"/>
          </a:xfrm>
          <a:prstGeom xmlns:a="http://schemas.openxmlformats.org/drawingml/2006/main" prst="rect">
            <a:avLst/>
          </a:prstGeom>
          <a:solidFill xmlns:a="http://schemas.openxmlformats.org/drawingml/2006/main">
            <a:srgbClr val="23425F"/>
          </a:solidFill>
          <a:ln xmlns:a="http://schemas.openxmlformats.org/drawingml/2006/main" w="0">
            <a:solidFill>
              <a:srgbClr val="23425F"/>
            </a:solidFill>
            <a:prstDash val="solid"/>
          </a:ln>
        </p:spPr>
      </p:sp>
      <p:sp>
        <p:nvSpPr>
          <p:cNvPr id="6" name="">
            <a:extLst xmlns:a="http://schemas.openxmlformats.org/drawingml/2006/main">
              <a:ext uri="{FF2B5EF4-FFF2-40B4-BE49-F238E27FC236}">
                <a16:creationId xmlns:a16="http://schemas.microsoft.com/office/drawing/2014/main" id="{521A01FF-84AB-47AC-B233-4CCD2B4553CB}"/>
              </a:ext>
            </a:extLst>
          </p:cNvPr>
          <p:cNvSpPr>
            <a:spLocks xmlns:a="http://schemas.openxmlformats.org/drawingml/2006/main" noGrp="1"/>
          </p:cNvSpPr>
          <p:nvPr/>
        </p:nvSpPr>
        <p:spPr>
          <a:xfrm xmlns:a="http://schemas.openxmlformats.org/drawingml/2006/main">
            <a:off x="609600" y="2095500"/>
            <a:ext cx="2428875" cy="1162050"/>
          </a:xfrm>
          <a:prstGeom xmlns:a="http://schemas.openxmlformats.org/drawingml/2006/main" prst="roundRect">
            <a:avLst>
              <a:gd name="adj" fmla="val 9836"/>
            </a:avLst>
          </a:prstGeom>
          <a:solidFill xmlns:a="http://schemas.openxmlformats.org/drawingml/2006/main">
            <a:srgbClr val="10233B"/>
          </a:solidFill>
          <a:ln xmlns:a="http://schemas.openxmlformats.org/drawingml/2006/main" w="9525">
            <a:solidFill>
              <a:srgbClr val="23425F"/>
            </a:solidFill>
            <a:prstDash val="solid"/>
          </a:ln>
        </p:spPr>
      </p:sp>
      <p:sp>
        <p:nvSpPr>
          <p:cNvPr id="7" name="">
            <a:extLst xmlns:a="http://schemas.openxmlformats.org/drawingml/2006/main">
              <a:ext uri="{FF2B5EF4-FFF2-40B4-BE49-F238E27FC236}">
                <a16:creationId xmlns:a16="http://schemas.microsoft.com/office/drawing/2014/main" id="{7DF1F627-A45A-47EB-A2F6-B4A80C408EA8}"/>
              </a:ext>
            </a:extLst>
          </p:cNvPr>
          <p:cNvSpPr>
            <a:spLocks xmlns:a="http://schemas.openxmlformats.org/drawingml/2006/main" noGrp="1"/>
          </p:cNvSpPr>
          <p:nvPr/>
        </p:nvSpPr>
        <p:spPr>
          <a:xfrm xmlns:a="http://schemas.openxmlformats.org/drawingml/2006/main">
            <a:off x="781050" y="2266950"/>
            <a:ext cx="361950" cy="28575"/>
          </a:xfrm>
          <a:prstGeom xmlns:a="http://schemas.openxmlformats.org/drawingml/2006/main" prst="rect">
            <a:avLst/>
          </a:prstGeom>
          <a:solidFill xmlns:a="http://schemas.openxmlformats.org/drawingml/2006/main">
            <a:srgbClr val="16C9E8"/>
          </a:solidFill>
          <a:ln xmlns:a="http://schemas.openxmlformats.org/drawingml/2006/main" w="0">
            <a:solidFill>
              <a:srgbClr val="16C9E8"/>
            </a:solidFill>
            <a:prstDash val="solid"/>
          </a:ln>
        </p:spPr>
      </p:sp>
      <p:sp>
        <p:nvSpPr>
          <p:cNvPr id="8" name="">
            <a:extLst xmlns:a="http://schemas.openxmlformats.org/drawingml/2006/main">
              <a:ext uri="{FF2B5EF4-FFF2-40B4-BE49-F238E27FC236}">
                <a16:creationId xmlns:a16="http://schemas.microsoft.com/office/drawing/2014/main" id="{921A91EB-3543-4618-816A-644EDD4DA94E}"/>
              </a:ext>
            </a:extLst>
          </p:cNvPr>
          <p:cNvSpPr>
            <a:spLocks xmlns:a="http://schemas.openxmlformats.org/drawingml/2006/main" noGrp="1"/>
          </p:cNvSpPr>
          <p:nvPr/>
        </p:nvSpPr>
        <p:spPr>
          <a:xfrm xmlns:a="http://schemas.openxmlformats.org/drawingml/2006/main">
            <a:off x="781050" y="2419350"/>
            <a:ext cx="20859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A8B9CA"/>
                </a:solidFill>
              </a:defRPr>
            </a:pPr>
            <a:r>
              <a:rPr sz="750" b="1">
                <a:solidFill>
                  <a:srgbClr val="A8B9CA"/>
                </a:solidFill>
              </a:rPr>
              <a:t>INTERNAL SCOPE</a:t>
            </a:r>
          </a:p>
        </p:txBody>
      </p:sp>
      <p:sp>
        <p:nvSpPr>
          <p:cNvPr id="9" name="">
            <a:extLst xmlns:a="http://schemas.openxmlformats.org/drawingml/2006/main">
              <a:ext uri="{FF2B5EF4-FFF2-40B4-BE49-F238E27FC236}">
                <a16:creationId xmlns:a16="http://schemas.microsoft.com/office/drawing/2014/main" id="{FD46C734-F319-482C-BC9A-9399280F939F}"/>
              </a:ext>
            </a:extLst>
          </p:cNvPr>
          <p:cNvSpPr>
            <a:spLocks xmlns:a="http://schemas.openxmlformats.org/drawingml/2006/main" noGrp="1"/>
          </p:cNvSpPr>
          <p:nvPr/>
        </p:nvSpPr>
        <p:spPr>
          <a:xfrm xmlns:a="http://schemas.openxmlformats.org/drawingml/2006/main">
            <a:off x="781050" y="2638425"/>
            <a:ext cx="2085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4F8FC"/>
                </a:solidFill>
              </a:defRPr>
            </a:pPr>
            <a:r>
              <a:rPr sz="1875" b="1">
                <a:solidFill>
                  <a:srgbClr val="F4F8FC"/>
                </a:solidFill>
              </a:rPr>
              <a:t>Retained</a:t>
            </a:r>
          </a:p>
        </p:txBody>
      </p:sp>
      <p:sp>
        <p:nvSpPr>
          <p:cNvPr id="10" name="">
            <a:extLst xmlns:a="http://schemas.openxmlformats.org/drawingml/2006/main">
              <a:ext uri="{FF2B5EF4-FFF2-40B4-BE49-F238E27FC236}">
                <a16:creationId xmlns:a16="http://schemas.microsoft.com/office/drawing/2014/main" id="{1FE0BFE5-F3B2-41CB-A37F-AA49A6D2EA10}"/>
              </a:ext>
            </a:extLst>
          </p:cNvPr>
          <p:cNvSpPr>
            <a:spLocks xmlns:a="http://schemas.openxmlformats.org/drawingml/2006/main" noGrp="1"/>
          </p:cNvSpPr>
          <p:nvPr/>
        </p:nvSpPr>
        <p:spPr>
          <a:xfrm xmlns:a="http://schemas.openxmlformats.org/drawingml/2006/main">
            <a:off x="781050" y="3038475"/>
            <a:ext cx="20859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Sources and calculations preserved</a:t>
            </a:r>
          </a:p>
        </p:txBody>
      </p:sp>
      <p:sp>
        <p:nvSpPr>
          <p:cNvPr id="11" name="">
            <a:extLst xmlns:a="http://schemas.openxmlformats.org/drawingml/2006/main">
              <a:ext uri="{FF2B5EF4-FFF2-40B4-BE49-F238E27FC236}">
                <a16:creationId xmlns:a16="http://schemas.microsoft.com/office/drawing/2014/main" id="{ED11F8C1-FF25-4841-A3BC-1BF474475FE5}"/>
              </a:ext>
            </a:extLst>
          </p:cNvPr>
          <p:cNvSpPr>
            <a:spLocks xmlns:a="http://schemas.openxmlformats.org/drawingml/2006/main" noGrp="1"/>
          </p:cNvSpPr>
          <p:nvPr/>
        </p:nvSpPr>
        <p:spPr>
          <a:xfrm xmlns:a="http://schemas.openxmlformats.org/drawingml/2006/main">
            <a:off x="3276600" y="2095500"/>
            <a:ext cx="2428875" cy="1162050"/>
          </a:xfrm>
          <a:prstGeom xmlns:a="http://schemas.openxmlformats.org/drawingml/2006/main" prst="roundRect">
            <a:avLst>
              <a:gd name="adj" fmla="val 9836"/>
            </a:avLst>
          </a:prstGeom>
          <a:solidFill xmlns:a="http://schemas.openxmlformats.org/drawingml/2006/main">
            <a:srgbClr val="10233B"/>
          </a:solidFill>
          <a:ln xmlns:a="http://schemas.openxmlformats.org/drawingml/2006/main" w="9525">
            <a:solidFill>
              <a:srgbClr val="23425F"/>
            </a:solidFill>
            <a:prstDash val="solid"/>
          </a:ln>
        </p:spPr>
      </p:sp>
      <p:sp>
        <p:nvSpPr>
          <p:cNvPr id="12" name="">
            <a:extLst xmlns:a="http://schemas.openxmlformats.org/drawingml/2006/main">
              <a:ext uri="{FF2B5EF4-FFF2-40B4-BE49-F238E27FC236}">
                <a16:creationId xmlns:a16="http://schemas.microsoft.com/office/drawing/2014/main" id="{296334BD-11F0-4B24-BAA6-CEF4AF5DA716}"/>
              </a:ext>
            </a:extLst>
          </p:cNvPr>
          <p:cNvSpPr>
            <a:spLocks xmlns:a="http://schemas.openxmlformats.org/drawingml/2006/main" noGrp="1"/>
          </p:cNvSpPr>
          <p:nvPr/>
        </p:nvSpPr>
        <p:spPr>
          <a:xfrm xmlns:a="http://schemas.openxmlformats.org/drawingml/2006/main">
            <a:off x="3448050" y="2266950"/>
            <a:ext cx="361950" cy="28575"/>
          </a:xfrm>
          <a:prstGeom xmlns:a="http://schemas.openxmlformats.org/drawingml/2006/main" prst="rect">
            <a:avLst/>
          </a:prstGeom>
          <a:solidFill xmlns:a="http://schemas.openxmlformats.org/drawingml/2006/main">
            <a:srgbClr val="22C7B8"/>
          </a:solidFill>
          <a:ln xmlns:a="http://schemas.openxmlformats.org/drawingml/2006/main" w="0">
            <a:solidFill>
              <a:srgbClr val="22C7B8"/>
            </a:solidFill>
            <a:prstDash val="solid"/>
          </a:ln>
        </p:spPr>
      </p:sp>
      <p:sp>
        <p:nvSpPr>
          <p:cNvPr id="13" name="">
            <a:extLst xmlns:a="http://schemas.openxmlformats.org/drawingml/2006/main">
              <a:ext uri="{FF2B5EF4-FFF2-40B4-BE49-F238E27FC236}">
                <a16:creationId xmlns:a16="http://schemas.microsoft.com/office/drawing/2014/main" id="{9A5B8E93-1C83-4908-8698-4E3C72FEE663}"/>
              </a:ext>
            </a:extLst>
          </p:cNvPr>
          <p:cNvSpPr>
            <a:spLocks xmlns:a="http://schemas.openxmlformats.org/drawingml/2006/main" noGrp="1"/>
          </p:cNvSpPr>
          <p:nvPr/>
        </p:nvSpPr>
        <p:spPr>
          <a:xfrm xmlns:a="http://schemas.openxmlformats.org/drawingml/2006/main">
            <a:off x="3448050" y="2419350"/>
            <a:ext cx="20859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A8B9CA"/>
                </a:solidFill>
              </a:defRPr>
            </a:pPr>
            <a:r>
              <a:rPr sz="750" b="1">
                <a:solidFill>
                  <a:srgbClr val="A8B9CA"/>
                </a:solidFill>
              </a:rPr>
              <a:t>AUTOMATION</a:t>
            </a:r>
          </a:p>
        </p:txBody>
      </p:sp>
      <p:sp>
        <p:nvSpPr>
          <p:cNvPr id="14" name="">
            <a:extLst xmlns:a="http://schemas.openxmlformats.org/drawingml/2006/main">
              <a:ext uri="{FF2B5EF4-FFF2-40B4-BE49-F238E27FC236}">
                <a16:creationId xmlns:a16="http://schemas.microsoft.com/office/drawing/2014/main" id="{D39BADCA-703A-403D-BC8B-C4133F24DF35}"/>
              </a:ext>
            </a:extLst>
          </p:cNvPr>
          <p:cNvSpPr>
            <a:spLocks xmlns:a="http://schemas.openxmlformats.org/drawingml/2006/main" noGrp="1"/>
          </p:cNvSpPr>
          <p:nvPr/>
        </p:nvSpPr>
        <p:spPr>
          <a:xfrm xmlns:a="http://schemas.openxmlformats.org/drawingml/2006/main">
            <a:off x="3448050" y="2638425"/>
            <a:ext cx="2085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4F8FC"/>
                </a:solidFill>
              </a:defRPr>
            </a:pPr>
            <a:r>
              <a:rPr sz="1875" b="1">
                <a:solidFill>
                  <a:srgbClr val="F4F8FC"/>
                </a:solidFill>
              </a:rPr>
              <a:t>Evidence-gated</a:t>
            </a:r>
          </a:p>
        </p:txBody>
      </p:sp>
      <p:sp>
        <p:nvSpPr>
          <p:cNvPr id="15" name="">
            <a:extLst xmlns:a="http://schemas.openxmlformats.org/drawingml/2006/main">
              <a:ext uri="{FF2B5EF4-FFF2-40B4-BE49-F238E27FC236}">
                <a16:creationId xmlns:a16="http://schemas.microsoft.com/office/drawing/2014/main" id="{A7076AFA-2A04-4916-AD3C-559E529E902B}"/>
              </a:ext>
            </a:extLst>
          </p:cNvPr>
          <p:cNvSpPr>
            <a:spLocks xmlns:a="http://schemas.openxmlformats.org/drawingml/2006/main" noGrp="1"/>
          </p:cNvSpPr>
          <p:nvPr/>
        </p:nvSpPr>
        <p:spPr>
          <a:xfrm xmlns:a="http://schemas.openxmlformats.org/drawingml/2006/main">
            <a:off x="3448050" y="3038475"/>
            <a:ext cx="20859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No source means no conclusion</a:t>
            </a:r>
          </a:p>
        </p:txBody>
      </p:sp>
      <p:sp>
        <p:nvSpPr>
          <p:cNvPr id="16" name="">
            <a:extLst xmlns:a="http://schemas.openxmlformats.org/drawingml/2006/main">
              <a:ext uri="{FF2B5EF4-FFF2-40B4-BE49-F238E27FC236}">
                <a16:creationId xmlns:a16="http://schemas.microsoft.com/office/drawing/2014/main" id="{AEAF7DDE-AFC6-42E4-AA5F-AE01B931AD28}"/>
              </a:ext>
            </a:extLst>
          </p:cNvPr>
          <p:cNvSpPr>
            <a:spLocks xmlns:a="http://schemas.openxmlformats.org/drawingml/2006/main" noGrp="1"/>
          </p:cNvSpPr>
          <p:nvPr/>
        </p:nvSpPr>
        <p:spPr>
          <a:xfrm xmlns:a="http://schemas.openxmlformats.org/drawingml/2006/main">
            <a:off x="5943600" y="2095500"/>
            <a:ext cx="2428875" cy="1162050"/>
          </a:xfrm>
          <a:prstGeom xmlns:a="http://schemas.openxmlformats.org/drawingml/2006/main" prst="roundRect">
            <a:avLst>
              <a:gd name="adj" fmla="val 9836"/>
            </a:avLst>
          </a:prstGeom>
          <a:solidFill xmlns:a="http://schemas.openxmlformats.org/drawingml/2006/main">
            <a:srgbClr val="10233B"/>
          </a:solidFill>
          <a:ln xmlns:a="http://schemas.openxmlformats.org/drawingml/2006/main" w="9525">
            <a:solidFill>
              <a:srgbClr val="23425F"/>
            </a:solidFill>
            <a:prstDash val="solid"/>
          </a:ln>
        </p:spPr>
      </p:sp>
      <p:sp>
        <p:nvSpPr>
          <p:cNvPr id="17" name="">
            <a:extLst xmlns:a="http://schemas.openxmlformats.org/drawingml/2006/main">
              <a:ext uri="{FF2B5EF4-FFF2-40B4-BE49-F238E27FC236}">
                <a16:creationId xmlns:a16="http://schemas.microsoft.com/office/drawing/2014/main" id="{3AFF2855-F5D3-4286-A75B-478E163DD0CB}"/>
              </a:ext>
            </a:extLst>
          </p:cNvPr>
          <p:cNvSpPr>
            <a:spLocks xmlns:a="http://schemas.openxmlformats.org/drawingml/2006/main" noGrp="1"/>
          </p:cNvSpPr>
          <p:nvPr/>
        </p:nvSpPr>
        <p:spPr>
          <a:xfrm xmlns:a="http://schemas.openxmlformats.org/drawingml/2006/main">
            <a:off x="6115050" y="2266950"/>
            <a:ext cx="361950" cy="28575"/>
          </a:xfrm>
          <a:prstGeom xmlns:a="http://schemas.openxmlformats.org/drawingml/2006/main" prst="rect">
            <a:avLst/>
          </a:prstGeom>
          <a:solidFill xmlns:a="http://schemas.openxmlformats.org/drawingml/2006/main">
            <a:srgbClr val="FFB21A"/>
          </a:solidFill>
          <a:ln xmlns:a="http://schemas.openxmlformats.org/drawingml/2006/main" w="0">
            <a:solidFill>
              <a:srgbClr val="FFB21A"/>
            </a:solidFill>
            <a:prstDash val="solid"/>
          </a:ln>
        </p:spPr>
      </p:sp>
      <p:sp>
        <p:nvSpPr>
          <p:cNvPr id="18" name="">
            <a:extLst xmlns:a="http://schemas.openxmlformats.org/drawingml/2006/main">
              <a:ext uri="{FF2B5EF4-FFF2-40B4-BE49-F238E27FC236}">
                <a16:creationId xmlns:a16="http://schemas.microsoft.com/office/drawing/2014/main" id="{B832219D-B211-4F4B-9ACD-EFB3B659010D}"/>
              </a:ext>
            </a:extLst>
          </p:cNvPr>
          <p:cNvSpPr>
            <a:spLocks xmlns:a="http://schemas.openxmlformats.org/drawingml/2006/main" noGrp="1"/>
          </p:cNvSpPr>
          <p:nvPr/>
        </p:nvSpPr>
        <p:spPr>
          <a:xfrm xmlns:a="http://schemas.openxmlformats.org/drawingml/2006/main">
            <a:off x="6115050" y="2419350"/>
            <a:ext cx="20859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A8B9CA"/>
                </a:solidFill>
              </a:defRPr>
            </a:pPr>
            <a:r>
              <a:rPr sz="750" b="1">
                <a:solidFill>
                  <a:srgbClr val="A8B9CA"/>
                </a:solidFill>
              </a:rPr>
              <a:t>CPM LOGIC</a:t>
            </a:r>
          </a:p>
        </p:txBody>
      </p:sp>
      <p:sp>
        <p:nvSpPr>
          <p:cNvPr id="19" name="">
            <a:extLst xmlns:a="http://schemas.openxmlformats.org/drawingml/2006/main">
              <a:ext uri="{FF2B5EF4-FFF2-40B4-BE49-F238E27FC236}">
                <a16:creationId xmlns:a16="http://schemas.microsoft.com/office/drawing/2014/main" id="{BBD7D836-D602-46FC-9472-D562435F0CD5}"/>
              </a:ext>
            </a:extLst>
          </p:cNvPr>
          <p:cNvSpPr>
            <a:spLocks xmlns:a="http://schemas.openxmlformats.org/drawingml/2006/main" noGrp="1"/>
          </p:cNvSpPr>
          <p:nvPr/>
        </p:nvSpPr>
        <p:spPr>
          <a:xfrm xmlns:a="http://schemas.openxmlformats.org/drawingml/2006/main">
            <a:off x="6115050" y="2638425"/>
            <a:ext cx="2085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4F8FC"/>
                </a:solidFill>
              </a:defRPr>
            </a:pPr>
            <a:r>
              <a:rPr sz="1875" b="1">
                <a:solidFill>
                  <a:srgbClr val="F4F8FC"/>
                </a:solidFill>
              </a:rPr>
              <a:t>Relationship-led</a:t>
            </a:r>
          </a:p>
        </p:txBody>
      </p:sp>
      <p:sp>
        <p:nvSpPr>
          <p:cNvPr id="20" name="">
            <a:extLst xmlns:a="http://schemas.openxmlformats.org/drawingml/2006/main">
              <a:ext uri="{FF2B5EF4-FFF2-40B4-BE49-F238E27FC236}">
                <a16:creationId xmlns:a16="http://schemas.microsoft.com/office/drawing/2014/main" id="{813B508F-F270-44E6-9001-0670CAC672DC}"/>
              </a:ext>
            </a:extLst>
          </p:cNvPr>
          <p:cNvSpPr>
            <a:spLocks xmlns:a="http://schemas.openxmlformats.org/drawingml/2006/main" noGrp="1"/>
          </p:cNvSpPr>
          <p:nvPr/>
        </p:nvSpPr>
        <p:spPr>
          <a:xfrm xmlns:a="http://schemas.openxmlformats.org/drawingml/2006/main">
            <a:off x="6115050" y="3038475"/>
            <a:ext cx="20859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Predecessor, successor, type, lag</a:t>
            </a:r>
          </a:p>
        </p:txBody>
      </p:sp>
      <p:sp>
        <p:nvSpPr>
          <p:cNvPr id="21" name="">
            <a:extLst xmlns:a="http://schemas.openxmlformats.org/drawingml/2006/main">
              <a:ext uri="{FF2B5EF4-FFF2-40B4-BE49-F238E27FC236}">
                <a16:creationId xmlns:a16="http://schemas.microsoft.com/office/drawing/2014/main" id="{F008FC69-A596-4CCE-993E-BBCA105DBF9F}"/>
              </a:ext>
            </a:extLst>
          </p:cNvPr>
          <p:cNvSpPr>
            <a:spLocks xmlns:a="http://schemas.openxmlformats.org/drawingml/2006/main" noGrp="1"/>
          </p:cNvSpPr>
          <p:nvPr/>
        </p:nvSpPr>
        <p:spPr>
          <a:xfrm xmlns:a="http://schemas.openxmlformats.org/drawingml/2006/main">
            <a:off x="8610600" y="2095500"/>
            <a:ext cx="2428875" cy="1162050"/>
          </a:xfrm>
          <a:prstGeom xmlns:a="http://schemas.openxmlformats.org/drawingml/2006/main" prst="roundRect">
            <a:avLst>
              <a:gd name="adj" fmla="val 9836"/>
            </a:avLst>
          </a:prstGeom>
          <a:solidFill xmlns:a="http://schemas.openxmlformats.org/drawingml/2006/main">
            <a:srgbClr val="10233B"/>
          </a:solidFill>
          <a:ln xmlns:a="http://schemas.openxmlformats.org/drawingml/2006/main" w="9525">
            <a:solidFill>
              <a:srgbClr val="23425F"/>
            </a:solidFill>
            <a:prstDash val="solid"/>
          </a:ln>
        </p:spPr>
      </p:sp>
      <p:sp>
        <p:nvSpPr>
          <p:cNvPr id="22" name="">
            <a:extLst xmlns:a="http://schemas.openxmlformats.org/drawingml/2006/main">
              <a:ext uri="{FF2B5EF4-FFF2-40B4-BE49-F238E27FC236}">
                <a16:creationId xmlns:a16="http://schemas.microsoft.com/office/drawing/2014/main" id="{F37097FF-7123-4F20-A43B-D27CDA89BBA1}"/>
              </a:ext>
            </a:extLst>
          </p:cNvPr>
          <p:cNvSpPr>
            <a:spLocks xmlns:a="http://schemas.openxmlformats.org/drawingml/2006/main" noGrp="1"/>
          </p:cNvSpPr>
          <p:nvPr/>
        </p:nvSpPr>
        <p:spPr>
          <a:xfrm xmlns:a="http://schemas.openxmlformats.org/drawingml/2006/main">
            <a:off x="8782050" y="2266950"/>
            <a:ext cx="361950" cy="28575"/>
          </a:xfrm>
          <a:prstGeom xmlns:a="http://schemas.openxmlformats.org/drawingml/2006/main" prst="rect">
            <a:avLst/>
          </a:prstGeom>
          <a:solidFill xmlns:a="http://schemas.openxmlformats.org/drawingml/2006/main">
            <a:srgbClr val="FB5373"/>
          </a:solidFill>
          <a:ln xmlns:a="http://schemas.openxmlformats.org/drawingml/2006/main" w="0">
            <a:solidFill>
              <a:srgbClr val="FB5373"/>
            </a:solidFill>
            <a:prstDash val="solid"/>
          </a:ln>
        </p:spPr>
      </p:sp>
      <p:sp>
        <p:nvSpPr>
          <p:cNvPr id="23" name="">
            <a:extLst xmlns:a="http://schemas.openxmlformats.org/drawingml/2006/main">
              <a:ext uri="{FF2B5EF4-FFF2-40B4-BE49-F238E27FC236}">
                <a16:creationId xmlns:a16="http://schemas.microsoft.com/office/drawing/2014/main" id="{74D05BB9-779F-481C-9064-3BA8F45BC385}"/>
              </a:ext>
            </a:extLst>
          </p:cNvPr>
          <p:cNvSpPr>
            <a:spLocks xmlns:a="http://schemas.openxmlformats.org/drawingml/2006/main" noGrp="1"/>
          </p:cNvSpPr>
          <p:nvPr/>
        </p:nvSpPr>
        <p:spPr>
          <a:xfrm xmlns:a="http://schemas.openxmlformats.org/drawingml/2006/main">
            <a:off x="8782050" y="2419350"/>
            <a:ext cx="20859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A8B9CA"/>
                </a:solidFill>
              </a:defRPr>
            </a:pPr>
            <a:r>
              <a:rPr sz="750" b="1">
                <a:solidFill>
                  <a:srgbClr val="A8B9CA"/>
                </a:solidFill>
              </a:rPr>
              <a:t>P6 RULE</a:t>
            </a:r>
          </a:p>
        </p:txBody>
      </p:sp>
      <p:sp>
        <p:nvSpPr>
          <p:cNvPr id="24" name="">
            <a:extLst xmlns:a="http://schemas.openxmlformats.org/drawingml/2006/main">
              <a:ext uri="{FF2B5EF4-FFF2-40B4-BE49-F238E27FC236}">
                <a16:creationId xmlns:a16="http://schemas.microsoft.com/office/drawing/2014/main" id="{79B4ECDD-1C07-459F-8633-4F8A7AAA4888}"/>
              </a:ext>
            </a:extLst>
          </p:cNvPr>
          <p:cNvSpPr>
            <a:spLocks xmlns:a="http://schemas.openxmlformats.org/drawingml/2006/main" noGrp="1"/>
          </p:cNvSpPr>
          <p:nvPr/>
        </p:nvSpPr>
        <p:spPr>
          <a:xfrm xmlns:a="http://schemas.openxmlformats.org/drawingml/2006/main">
            <a:off x="8782050" y="2638425"/>
            <a:ext cx="2085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4F8FC"/>
                </a:solidFill>
              </a:defRPr>
            </a:pPr>
            <a:r>
              <a:rPr sz="1875" b="1">
                <a:solidFill>
                  <a:srgbClr val="F4F8FC"/>
                </a:solidFill>
              </a:rPr>
              <a:t>P6 verification</a:t>
            </a:r>
          </a:p>
        </p:txBody>
      </p:sp>
      <p:sp>
        <p:nvSpPr>
          <p:cNvPr id="25" name="">
            <a:extLst xmlns:a="http://schemas.openxmlformats.org/drawingml/2006/main">
              <a:ext uri="{FF2B5EF4-FFF2-40B4-BE49-F238E27FC236}">
                <a16:creationId xmlns:a16="http://schemas.microsoft.com/office/drawing/2014/main" id="{78934610-4726-463B-A60B-73AE4149D17D}"/>
              </a:ext>
            </a:extLst>
          </p:cNvPr>
          <p:cNvSpPr>
            <a:spLocks xmlns:a="http://schemas.openxmlformats.org/drawingml/2006/main" noGrp="1"/>
          </p:cNvSpPr>
          <p:nvPr/>
        </p:nvSpPr>
        <p:spPr>
          <a:xfrm xmlns:a="http://schemas.openxmlformats.org/drawingml/2006/main">
            <a:off x="8782050" y="3038475"/>
            <a:ext cx="20859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Required before final conclusion</a:t>
            </a:r>
          </a:p>
        </p:txBody>
      </p:sp>
      <p:sp>
        <p:nvSpPr>
          <p:cNvPr id="26" name="">
            <a:extLst xmlns:a="http://schemas.openxmlformats.org/drawingml/2006/main">
              <a:ext uri="{FF2B5EF4-FFF2-40B4-BE49-F238E27FC236}">
                <a16:creationId xmlns:a16="http://schemas.microsoft.com/office/drawing/2014/main" id="{1B5E59E9-B058-4EFE-97DB-98994B13FEC5}"/>
              </a:ext>
            </a:extLst>
          </p:cNvPr>
          <p:cNvSpPr>
            <a:spLocks xmlns:a="http://schemas.openxmlformats.org/drawingml/2006/main" noGrp="1"/>
          </p:cNvSpPr>
          <p:nvPr/>
        </p:nvSpPr>
        <p:spPr>
          <a:xfrm xmlns:a="http://schemas.openxmlformats.org/drawingml/2006/main">
            <a:off x="609600" y="3762375"/>
            <a:ext cx="10420350" cy="1381125"/>
          </a:xfrm>
          <a:prstGeom xmlns:a="http://schemas.openxmlformats.org/drawingml/2006/main" prst="roundRect">
            <a:avLst>
              <a:gd name="adj" fmla="val 8276"/>
            </a:avLst>
          </a:prstGeom>
          <a:solidFill xmlns:a="http://schemas.openxmlformats.org/drawingml/2006/main">
            <a:srgbClr val="0D1B30"/>
          </a:solidFill>
          <a:ln xmlns:a="http://schemas.openxmlformats.org/drawingml/2006/main" w="9525">
            <a:solidFill>
              <a:srgbClr val="23425F"/>
            </a:solidFill>
            <a:prstDash val="solid"/>
          </a:ln>
        </p:spPr>
      </p:sp>
      <p:sp>
        <p:nvSpPr>
          <p:cNvPr id="27" name="">
            <a:extLst xmlns:a="http://schemas.openxmlformats.org/drawingml/2006/main">
              <a:ext uri="{FF2B5EF4-FFF2-40B4-BE49-F238E27FC236}">
                <a16:creationId xmlns:a16="http://schemas.microsoft.com/office/drawing/2014/main" id="{A27E13AD-9697-4310-B0D2-76D852ABA063}"/>
              </a:ext>
            </a:extLst>
          </p:cNvPr>
          <p:cNvSpPr>
            <a:spLocks xmlns:a="http://schemas.openxmlformats.org/drawingml/2006/main" noGrp="1"/>
          </p:cNvSpPr>
          <p:nvPr/>
        </p:nvSpPr>
        <p:spPr>
          <a:xfrm xmlns:a="http://schemas.openxmlformats.org/drawingml/2006/main">
            <a:off x="895350" y="40386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6C9E8"/>
                </a:solidFill>
              </a:defRPr>
            </a:pPr>
            <a:r>
              <a:rPr sz="1725" b="1">
                <a:solidFill>
                  <a:srgbClr val="16C9E8"/>
                </a:solidFill>
              </a:rPr>
              <a:t>Professional conclusion</a:t>
            </a:r>
          </a:p>
        </p:txBody>
      </p:sp>
      <p:sp>
        <p:nvSpPr>
          <p:cNvPr id="28" name="">
            <a:extLst xmlns:a="http://schemas.openxmlformats.org/drawingml/2006/main">
              <a:ext uri="{FF2B5EF4-FFF2-40B4-BE49-F238E27FC236}">
                <a16:creationId xmlns:a16="http://schemas.microsoft.com/office/drawing/2014/main" id="{9D0CD4F8-B38D-4827-B234-AD812C75263A}"/>
              </a:ext>
            </a:extLst>
          </p:cNvPr>
          <p:cNvSpPr>
            <a:spLocks xmlns:a="http://schemas.openxmlformats.org/drawingml/2006/main" noGrp="1"/>
          </p:cNvSpPr>
          <p:nvPr/>
        </p:nvSpPr>
        <p:spPr>
          <a:xfrm xmlns:a="http://schemas.openxmlformats.org/drawingml/2006/main">
            <a:off x="895350" y="4476750"/>
            <a:ext cx="9620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F4F8FC"/>
                </a:solidFill>
              </a:defRPr>
            </a:pPr>
            <a:r>
              <a:rPr sz="1500">
                <a:solidFill>
                  <a:srgbClr val="F4F8FC"/>
                </a:solidFill>
              </a:rPr>
              <a:t>When evidence is complete, the engine can identify events, map activities, recommend fragnet logic, test path and float effects, and surface evidence gaps. It does not label compensation or final EOT without the required CPM and contract evidence.</a:t>
            </a:r>
          </a:p>
        </p:txBody>
      </p:sp>
      <p:sp>
        <p:nvSpPr>
          <p:cNvPr id="29" name="">
            <a:extLst xmlns:a="http://schemas.openxmlformats.org/drawingml/2006/main">
              <a:ext uri="{FF2B5EF4-FFF2-40B4-BE49-F238E27FC236}">
                <a16:creationId xmlns:a16="http://schemas.microsoft.com/office/drawing/2014/main" id="{57C0D6A2-EF8F-4EC9-AF36-81FED324AF67}"/>
              </a:ext>
            </a:extLst>
          </p:cNvPr>
          <p:cNvSpPr>
            <a:spLocks xmlns:a="http://schemas.openxmlformats.org/drawingml/2006/main" noGrp="1"/>
          </p:cNvSpPr>
          <p:nvPr/>
        </p:nvSpPr>
        <p:spPr>
          <a:xfrm xmlns:a="http://schemas.openxmlformats.org/drawingml/2006/main">
            <a:off x="609600"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Designed &amp; Created |</a:t>
            </a:r>
          </a:p>
        </p:txBody>
      </p:sp>
      <p:sp>
        <p:nvSpPr>
          <p:cNvPr id="30" name="">
            <a:extLst xmlns:a="http://schemas.openxmlformats.org/drawingml/2006/main">
              <a:ext uri="{FF2B5EF4-FFF2-40B4-BE49-F238E27FC236}">
                <a16:creationId xmlns:a16="http://schemas.microsoft.com/office/drawing/2014/main" id="{AEBCFFFA-4F70-481D-B90B-8A1BC3BB08AF}"/>
              </a:ext>
            </a:extLst>
          </p:cNvPr>
          <p:cNvSpPr>
            <a:spLocks xmlns:a="http://schemas.openxmlformats.org/drawingml/2006/main" noGrp="1"/>
          </p:cNvSpPr>
          <p:nvPr/>
        </p:nvSpPr>
        <p:spPr>
          <a:xfrm xmlns:a="http://schemas.openxmlformats.org/drawingml/2006/main">
            <a:off x="1952625"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6C9E8"/>
                </a:solidFill>
              </a:defRPr>
            </a:pPr>
            <a:r>
              <a:rPr sz="750" b="1">
                <a:solidFill>
                  <a:srgbClr val="16C9E8"/>
                </a:solidFill>
              </a:rPr>
              <a:t>Engr. Ahmed Labib</a:t>
            </a:r>
          </a:p>
        </p:txBody>
      </p:sp>
      <p:sp>
        <p:nvSpPr>
          <p:cNvPr id="31" name="">
            <a:extLst xmlns:a="http://schemas.openxmlformats.org/drawingml/2006/main">
              <a:ext uri="{FF2B5EF4-FFF2-40B4-BE49-F238E27FC236}">
                <a16:creationId xmlns:a16="http://schemas.microsoft.com/office/drawing/2014/main" id="{5A7060A5-FA5E-487A-B805-934E2BFAFA24}"/>
              </a:ext>
            </a:extLst>
          </p:cNvPr>
          <p:cNvSpPr>
            <a:spLocks xmlns:a="http://schemas.openxmlformats.org/drawingml/2006/main" noGrp="1"/>
          </p:cNvSpPr>
          <p:nvPr/>
        </p:nvSpPr>
        <p:spPr>
          <a:xfrm xmlns:a="http://schemas.openxmlformats.org/drawingml/2006/main">
            <a:off x="9144000" y="6496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A8B9CA"/>
                </a:solidFill>
              </a:defRPr>
            </a:pPr>
            <a:r>
              <a:rPr sz="750">
                <a:solidFill>
                  <a:srgbClr val="A8B9CA"/>
                </a:solidFill>
              </a:rPr>
              <a:t>Evidence-led project controls</a:t>
            </a:r>
          </a:p>
        </p:txBody>
      </p:sp>
    </p:spTree>
    <p:extLst>
      <p:ext uri="{BB962C8B-B14F-4D97-AF65-F5344CB8AC3E}">
        <p14:creationId xmlns:p14="http://schemas.microsoft.com/office/powerpoint/2010/main" val="449337928"/>
      </p:ext>
    </p:extLst>
  </p:cSld>
</p:sld>
</file>

<file path=ppt/slides/slide10.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BD6AA37-1E27-4DA9-842E-47F180D20A71}"/>
              </a:ext>
            </a:extLst>
          </p:cNvPr>
          <p:cNvSpPr>
            <a:spLocks xmlns:a="http://schemas.openxmlformats.org/drawingml/2006/main" noGrp="1"/>
          </p:cNvSpPr>
          <p:nvPr/>
        </p:nvSpPr>
        <p:spPr>
          <a:xfrm xmlns:a="http://schemas.openxmlformats.org/drawingml/2006/main">
            <a:off x="609600" y="400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6C9E8"/>
                </a:solidFill>
              </a:defRPr>
            </a:pPr>
            <a:r>
              <a:rPr sz="975" b="1">
                <a:solidFill>
                  <a:srgbClr val="16C9E8"/>
                </a:solidFill>
              </a:rPr>
              <a:t>BOARD DECISION</a:t>
            </a:r>
          </a:p>
        </p:txBody>
      </p:sp>
      <p:sp>
        <p:nvSpPr>
          <p:cNvPr id="2" name="">
            <a:extLst xmlns:a="http://schemas.openxmlformats.org/drawingml/2006/main">
              <a:ext uri="{FF2B5EF4-FFF2-40B4-BE49-F238E27FC236}">
                <a16:creationId xmlns:a16="http://schemas.microsoft.com/office/drawing/2014/main" id="{865ABFFE-DBC9-446F-B8F5-9577730527FA}"/>
              </a:ext>
            </a:extLst>
          </p:cNvPr>
          <p:cNvSpPr>
            <a:spLocks xmlns:a="http://schemas.openxmlformats.org/drawingml/2006/main" noGrp="1"/>
          </p:cNvSpPr>
          <p:nvPr/>
        </p:nvSpPr>
        <p:spPr>
          <a:xfrm xmlns:a="http://schemas.openxmlformats.org/drawingml/2006/main">
            <a:off x="609600" y="6858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4F8FC"/>
                </a:solidFill>
              </a:defRPr>
            </a:pPr>
            <a:r>
              <a:rPr sz="2550" b="1">
                <a:solidFill>
                  <a:srgbClr val="F4F8FC"/>
                </a:solidFill>
              </a:rPr>
              <a:t>Approve the control model and evidence standards</a:t>
            </a:r>
          </a:p>
        </p:txBody>
      </p:sp>
      <p:sp>
        <p:nvSpPr>
          <p:cNvPr id="3" name="">
            <a:extLst xmlns:a="http://schemas.openxmlformats.org/drawingml/2006/main">
              <a:ext uri="{FF2B5EF4-FFF2-40B4-BE49-F238E27FC236}">
                <a16:creationId xmlns:a16="http://schemas.microsoft.com/office/drawing/2014/main" id="{C4361393-6FC5-471B-ABA4-27FA03ADFE11}"/>
              </a:ext>
            </a:extLst>
          </p:cNvPr>
          <p:cNvSpPr>
            <a:spLocks xmlns:a="http://schemas.openxmlformats.org/drawingml/2006/main" noGrp="1"/>
          </p:cNvSpPr>
          <p:nvPr/>
        </p:nvSpPr>
        <p:spPr>
          <a:xfrm xmlns:a="http://schemas.openxmlformats.org/drawingml/2006/main">
            <a:off x="609600" y="12573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A8B9CA"/>
                </a:solidFill>
              </a:defRPr>
            </a:pPr>
            <a:r>
              <a:rPr sz="1275">
                <a:solidFill>
                  <a:srgbClr val="A8B9CA"/>
                </a:solidFill>
              </a:rPr>
              <a:t>The next value step is governed adoption: complete source inputs, set owners, and use the management view for controlled intervention.</a:t>
            </a:r>
          </a:p>
        </p:txBody>
      </p:sp>
      <p:sp>
        <p:nvSpPr>
          <p:cNvPr id="4" name="">
            <a:extLst xmlns:a="http://schemas.openxmlformats.org/drawingml/2006/main">
              <a:ext uri="{FF2B5EF4-FFF2-40B4-BE49-F238E27FC236}">
                <a16:creationId xmlns:a16="http://schemas.microsoft.com/office/drawing/2014/main" id="{78A0FB2F-4102-47DE-BFBE-62AAF51ED609}"/>
              </a:ext>
            </a:extLst>
          </p:cNvPr>
          <p:cNvSpPr>
            <a:spLocks xmlns:a="http://schemas.openxmlformats.org/drawingml/2006/main" noGrp="1"/>
          </p:cNvSpPr>
          <p:nvPr/>
        </p:nvSpPr>
        <p:spPr>
          <a:xfrm xmlns:a="http://schemas.openxmlformats.org/drawingml/2006/main">
            <a:off x="9525000" y="4381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8B9CA"/>
                </a:solidFill>
              </a:defRPr>
            </a:pPr>
            <a:r>
              <a:rPr sz="750" b="1">
                <a:solidFill>
                  <a:srgbClr val="A8B9CA"/>
                </a:solidFill>
              </a:rPr>
              <a:t>SAMCO PROJECT INTELLIGENCE HUB  |  10</a:t>
            </a:r>
          </a:p>
        </p:txBody>
      </p:sp>
      <p:sp>
        <p:nvSpPr>
          <p:cNvPr id="5" name="">
            <a:extLst xmlns:a="http://schemas.openxmlformats.org/drawingml/2006/main">
              <a:ext uri="{FF2B5EF4-FFF2-40B4-BE49-F238E27FC236}">
                <a16:creationId xmlns:a16="http://schemas.microsoft.com/office/drawing/2014/main" id="{06667650-C32C-4351-BB85-060CA7EE8FF9}"/>
              </a:ext>
            </a:extLst>
          </p:cNvPr>
          <p:cNvSpPr>
            <a:spLocks xmlns:a="http://schemas.openxmlformats.org/drawingml/2006/main" noGrp="1"/>
          </p:cNvSpPr>
          <p:nvPr/>
        </p:nvSpPr>
        <p:spPr>
          <a:xfrm xmlns:a="http://schemas.openxmlformats.org/drawingml/2006/main">
            <a:off x="609600" y="1695450"/>
            <a:ext cx="10972800" cy="9525"/>
          </a:xfrm>
          <a:prstGeom xmlns:a="http://schemas.openxmlformats.org/drawingml/2006/main" prst="rect">
            <a:avLst/>
          </a:prstGeom>
          <a:solidFill xmlns:a="http://schemas.openxmlformats.org/drawingml/2006/main">
            <a:srgbClr val="23425F"/>
          </a:solidFill>
          <a:ln xmlns:a="http://schemas.openxmlformats.org/drawingml/2006/main" w="0">
            <a:solidFill>
              <a:srgbClr val="23425F"/>
            </a:solidFill>
            <a:prstDash val="solid"/>
          </a:ln>
        </p:spPr>
      </p:sp>
      <p:sp>
        <p:nvSpPr>
          <p:cNvPr id="6" name="">
            <a:extLst xmlns:a="http://schemas.openxmlformats.org/drawingml/2006/main">
              <a:ext uri="{FF2B5EF4-FFF2-40B4-BE49-F238E27FC236}">
                <a16:creationId xmlns:a16="http://schemas.microsoft.com/office/drawing/2014/main" id="{F8EA0F43-9E19-45FF-9E73-D9C8F8DC5D24}"/>
              </a:ext>
            </a:extLst>
          </p:cNvPr>
          <p:cNvSpPr>
            <a:spLocks xmlns:a="http://schemas.openxmlformats.org/drawingml/2006/main" noGrp="1"/>
          </p:cNvSpPr>
          <p:nvPr/>
        </p:nvSpPr>
        <p:spPr>
          <a:xfrm xmlns:a="http://schemas.openxmlformats.org/drawingml/2006/main">
            <a:off x="609600" y="2114550"/>
            <a:ext cx="5000625" cy="1381125"/>
          </a:xfrm>
          <a:prstGeom xmlns:a="http://schemas.openxmlformats.org/drawingml/2006/main" prst="roundRect">
            <a:avLst>
              <a:gd name="adj" fmla="val 8276"/>
            </a:avLst>
          </a:prstGeom>
          <a:solidFill xmlns:a="http://schemas.openxmlformats.org/drawingml/2006/main">
            <a:srgbClr val="10233B"/>
          </a:solidFill>
          <a:ln xmlns:a="http://schemas.openxmlformats.org/drawingml/2006/main" w="9525">
            <a:solidFill>
              <a:srgbClr val="23425F"/>
            </a:solidFill>
            <a:prstDash val="solid"/>
          </a:ln>
        </p:spPr>
      </p:sp>
      <p:sp>
        <p:nvSpPr>
          <p:cNvPr id="7" name="">
            <a:extLst xmlns:a="http://schemas.openxmlformats.org/drawingml/2006/main">
              <a:ext uri="{FF2B5EF4-FFF2-40B4-BE49-F238E27FC236}">
                <a16:creationId xmlns:a16="http://schemas.microsoft.com/office/drawing/2014/main" id="{040FE72D-AE39-447B-8056-9F5DAE73F34E}"/>
              </a:ext>
            </a:extLst>
          </p:cNvPr>
          <p:cNvSpPr>
            <a:spLocks xmlns:a="http://schemas.openxmlformats.org/drawingml/2006/main" noGrp="1"/>
          </p:cNvSpPr>
          <p:nvPr/>
        </p:nvSpPr>
        <p:spPr>
          <a:xfrm xmlns:a="http://schemas.openxmlformats.org/drawingml/2006/main">
            <a:off x="876300" y="23812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16C9E8"/>
                </a:solidFill>
              </a:defRPr>
            </a:pPr>
            <a:r>
              <a:rPr sz="2175" b="1">
                <a:solidFill>
                  <a:srgbClr val="16C9E8"/>
                </a:solidFill>
              </a:rPr>
              <a:t>1</a:t>
            </a:r>
          </a:p>
        </p:txBody>
      </p:sp>
      <p:sp>
        <p:nvSpPr>
          <p:cNvPr id="8" name="">
            <a:extLst xmlns:a="http://schemas.openxmlformats.org/drawingml/2006/main">
              <a:ext uri="{FF2B5EF4-FFF2-40B4-BE49-F238E27FC236}">
                <a16:creationId xmlns:a16="http://schemas.microsoft.com/office/drawing/2014/main" id="{82E7ED05-7DF7-41A9-B294-245458BDD968}"/>
              </a:ext>
            </a:extLst>
          </p:cNvPr>
          <p:cNvSpPr>
            <a:spLocks xmlns:a="http://schemas.openxmlformats.org/drawingml/2006/main" noGrp="1"/>
          </p:cNvSpPr>
          <p:nvPr/>
        </p:nvSpPr>
        <p:spPr>
          <a:xfrm xmlns:a="http://schemas.openxmlformats.org/drawingml/2006/main">
            <a:off x="1466850" y="23622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F4F8FC"/>
                </a:solidFill>
              </a:defRPr>
            </a:pPr>
            <a:r>
              <a:rPr sz="1575" b="1">
                <a:solidFill>
                  <a:srgbClr val="F4F8FC"/>
                </a:solidFill>
              </a:rPr>
              <a:t>Adopt the project_id data boundary</a:t>
            </a:r>
          </a:p>
        </p:txBody>
      </p:sp>
      <p:sp>
        <p:nvSpPr>
          <p:cNvPr id="9" name="">
            <a:extLst xmlns:a="http://schemas.openxmlformats.org/drawingml/2006/main">
              <a:ext uri="{FF2B5EF4-FFF2-40B4-BE49-F238E27FC236}">
                <a16:creationId xmlns:a16="http://schemas.microsoft.com/office/drawing/2014/main" id="{C3391509-8EBD-4A58-9DB9-18FA080B3BFC}"/>
              </a:ext>
            </a:extLst>
          </p:cNvPr>
          <p:cNvSpPr>
            <a:spLocks xmlns:a="http://schemas.openxmlformats.org/drawingml/2006/main" noGrp="1"/>
          </p:cNvSpPr>
          <p:nvPr/>
        </p:nvSpPr>
        <p:spPr>
          <a:xfrm xmlns:a="http://schemas.openxmlformats.org/drawingml/2006/main">
            <a:off x="1466850" y="27622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A8B9CA"/>
                </a:solidFill>
              </a:defRPr>
            </a:pPr>
            <a:r>
              <a:rPr sz="1125">
                <a:solidFill>
                  <a:srgbClr val="A8B9CA"/>
                </a:solidFill>
              </a:rPr>
              <a:t>Require every new project and input template to be registered through the project manifest.</a:t>
            </a:r>
          </a:p>
        </p:txBody>
      </p:sp>
      <p:sp>
        <p:nvSpPr>
          <p:cNvPr id="10" name="">
            <a:extLst xmlns:a="http://schemas.openxmlformats.org/drawingml/2006/main">
              <a:ext uri="{FF2B5EF4-FFF2-40B4-BE49-F238E27FC236}">
                <a16:creationId xmlns:a16="http://schemas.microsoft.com/office/drawing/2014/main" id="{694A43A1-BA63-4CB2-B5C8-677727CB264D}"/>
              </a:ext>
            </a:extLst>
          </p:cNvPr>
          <p:cNvSpPr>
            <a:spLocks xmlns:a="http://schemas.openxmlformats.org/drawingml/2006/main" noGrp="1"/>
          </p:cNvSpPr>
          <p:nvPr/>
        </p:nvSpPr>
        <p:spPr>
          <a:xfrm xmlns:a="http://schemas.openxmlformats.org/drawingml/2006/main">
            <a:off x="5981700" y="2114550"/>
            <a:ext cx="5000625" cy="1381125"/>
          </a:xfrm>
          <a:prstGeom xmlns:a="http://schemas.openxmlformats.org/drawingml/2006/main" prst="roundRect">
            <a:avLst>
              <a:gd name="adj" fmla="val 8276"/>
            </a:avLst>
          </a:prstGeom>
          <a:solidFill xmlns:a="http://schemas.openxmlformats.org/drawingml/2006/main">
            <a:srgbClr val="10233B"/>
          </a:solidFill>
          <a:ln xmlns:a="http://schemas.openxmlformats.org/drawingml/2006/main" w="9525">
            <a:solidFill>
              <a:srgbClr val="23425F"/>
            </a:solidFill>
            <a:prstDash val="solid"/>
          </a:ln>
        </p:spPr>
      </p:sp>
      <p:sp>
        <p:nvSpPr>
          <p:cNvPr id="11" name="">
            <a:extLst xmlns:a="http://schemas.openxmlformats.org/drawingml/2006/main">
              <a:ext uri="{FF2B5EF4-FFF2-40B4-BE49-F238E27FC236}">
                <a16:creationId xmlns:a16="http://schemas.microsoft.com/office/drawing/2014/main" id="{2F5CB464-40E9-40BC-AE2C-AF1F94C99DF8}"/>
              </a:ext>
            </a:extLst>
          </p:cNvPr>
          <p:cNvSpPr>
            <a:spLocks xmlns:a="http://schemas.openxmlformats.org/drawingml/2006/main" noGrp="1"/>
          </p:cNvSpPr>
          <p:nvPr/>
        </p:nvSpPr>
        <p:spPr>
          <a:xfrm xmlns:a="http://schemas.openxmlformats.org/drawingml/2006/main">
            <a:off x="6248400" y="23812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16C9E8"/>
                </a:solidFill>
              </a:defRPr>
            </a:pPr>
            <a:r>
              <a:rPr sz="2175" b="1">
                <a:solidFill>
                  <a:srgbClr val="16C9E8"/>
                </a:solidFill>
              </a:rPr>
              <a:t>2</a:t>
            </a:r>
          </a:p>
        </p:txBody>
      </p:sp>
      <p:sp>
        <p:nvSpPr>
          <p:cNvPr id="12" name="">
            <a:extLst xmlns:a="http://schemas.openxmlformats.org/drawingml/2006/main">
              <a:ext uri="{FF2B5EF4-FFF2-40B4-BE49-F238E27FC236}">
                <a16:creationId xmlns:a16="http://schemas.microsoft.com/office/drawing/2014/main" id="{2C55775F-AC77-4334-9E39-1C46E2B2544D}"/>
              </a:ext>
            </a:extLst>
          </p:cNvPr>
          <p:cNvSpPr>
            <a:spLocks xmlns:a="http://schemas.openxmlformats.org/drawingml/2006/main" noGrp="1"/>
          </p:cNvSpPr>
          <p:nvPr/>
        </p:nvSpPr>
        <p:spPr>
          <a:xfrm xmlns:a="http://schemas.openxmlformats.org/drawingml/2006/main">
            <a:off x="6838950" y="23622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F4F8FC"/>
                </a:solidFill>
              </a:defRPr>
            </a:pPr>
            <a:r>
              <a:rPr sz="1575" b="1">
                <a:solidFill>
                  <a:srgbClr val="F4F8FC"/>
                </a:solidFill>
              </a:rPr>
              <a:t>Set source-data owners</a:t>
            </a:r>
          </a:p>
        </p:txBody>
      </p:sp>
      <p:sp>
        <p:nvSpPr>
          <p:cNvPr id="13" name="">
            <a:extLst xmlns:a="http://schemas.openxmlformats.org/drawingml/2006/main">
              <a:ext uri="{FF2B5EF4-FFF2-40B4-BE49-F238E27FC236}">
                <a16:creationId xmlns:a16="http://schemas.microsoft.com/office/drawing/2014/main" id="{944D7BF3-6B45-4F9F-B217-66413E8CCFF1}"/>
              </a:ext>
            </a:extLst>
          </p:cNvPr>
          <p:cNvSpPr>
            <a:spLocks xmlns:a="http://schemas.openxmlformats.org/drawingml/2006/main" noGrp="1"/>
          </p:cNvSpPr>
          <p:nvPr/>
        </p:nvSpPr>
        <p:spPr>
          <a:xfrm xmlns:a="http://schemas.openxmlformats.org/drawingml/2006/main">
            <a:off x="6838950" y="27622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A8B9CA"/>
                </a:solidFill>
              </a:defRPr>
            </a:pPr>
            <a:r>
              <a:rPr sz="1125">
                <a:solidFill>
                  <a:srgbClr val="A8B9CA"/>
                </a:solidFill>
              </a:rPr>
              <a:t>Assign accountable owners for progress, cost, schedule, letters, contracts, risks, and evidence.</a:t>
            </a:r>
          </a:p>
        </p:txBody>
      </p:sp>
      <p:sp>
        <p:nvSpPr>
          <p:cNvPr id="14" name="">
            <a:extLst xmlns:a="http://schemas.openxmlformats.org/drawingml/2006/main">
              <a:ext uri="{FF2B5EF4-FFF2-40B4-BE49-F238E27FC236}">
                <a16:creationId xmlns:a16="http://schemas.microsoft.com/office/drawing/2014/main" id="{F8314D36-365E-4C66-8087-4CC6D8F55612}"/>
              </a:ext>
            </a:extLst>
          </p:cNvPr>
          <p:cNvSpPr>
            <a:spLocks xmlns:a="http://schemas.openxmlformats.org/drawingml/2006/main" noGrp="1"/>
          </p:cNvSpPr>
          <p:nvPr/>
        </p:nvSpPr>
        <p:spPr>
          <a:xfrm xmlns:a="http://schemas.openxmlformats.org/drawingml/2006/main">
            <a:off x="609600" y="3848100"/>
            <a:ext cx="5000625" cy="1381125"/>
          </a:xfrm>
          <a:prstGeom xmlns:a="http://schemas.openxmlformats.org/drawingml/2006/main" prst="roundRect">
            <a:avLst>
              <a:gd name="adj" fmla="val 8276"/>
            </a:avLst>
          </a:prstGeom>
          <a:solidFill xmlns:a="http://schemas.openxmlformats.org/drawingml/2006/main">
            <a:srgbClr val="10233B"/>
          </a:solidFill>
          <a:ln xmlns:a="http://schemas.openxmlformats.org/drawingml/2006/main" w="9525">
            <a:solidFill>
              <a:srgbClr val="23425F"/>
            </a:solidFill>
            <a:prstDash val="solid"/>
          </a:ln>
        </p:spPr>
      </p:sp>
      <p:sp>
        <p:nvSpPr>
          <p:cNvPr id="15" name="">
            <a:extLst xmlns:a="http://schemas.openxmlformats.org/drawingml/2006/main">
              <a:ext uri="{FF2B5EF4-FFF2-40B4-BE49-F238E27FC236}">
                <a16:creationId xmlns:a16="http://schemas.microsoft.com/office/drawing/2014/main" id="{A1B919A4-B750-4D8A-BB5D-9E6AD97B32D8}"/>
              </a:ext>
            </a:extLst>
          </p:cNvPr>
          <p:cNvSpPr>
            <a:spLocks xmlns:a="http://schemas.openxmlformats.org/drawingml/2006/main" noGrp="1"/>
          </p:cNvSpPr>
          <p:nvPr/>
        </p:nvSpPr>
        <p:spPr>
          <a:xfrm xmlns:a="http://schemas.openxmlformats.org/drawingml/2006/main">
            <a:off x="876300" y="41148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FFB21A"/>
                </a:solidFill>
              </a:defRPr>
            </a:pPr>
            <a:r>
              <a:rPr sz="2175" b="1">
                <a:solidFill>
                  <a:srgbClr val="FFB21A"/>
                </a:solidFill>
              </a:rPr>
              <a:t>3</a:t>
            </a:r>
          </a:p>
        </p:txBody>
      </p:sp>
      <p:sp>
        <p:nvSpPr>
          <p:cNvPr id="16" name="">
            <a:extLst xmlns:a="http://schemas.openxmlformats.org/drawingml/2006/main">
              <a:ext uri="{FF2B5EF4-FFF2-40B4-BE49-F238E27FC236}">
                <a16:creationId xmlns:a16="http://schemas.microsoft.com/office/drawing/2014/main" id="{1435E632-B5B6-4E4E-BE59-02B0F533FCF5}"/>
              </a:ext>
            </a:extLst>
          </p:cNvPr>
          <p:cNvSpPr>
            <a:spLocks xmlns:a="http://schemas.openxmlformats.org/drawingml/2006/main" noGrp="1"/>
          </p:cNvSpPr>
          <p:nvPr/>
        </p:nvSpPr>
        <p:spPr>
          <a:xfrm xmlns:a="http://schemas.openxmlformats.org/drawingml/2006/main">
            <a:off x="1466850" y="40957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F4F8FC"/>
                </a:solidFill>
              </a:defRPr>
            </a:pPr>
            <a:r>
              <a:rPr sz="1575" b="1">
                <a:solidFill>
                  <a:srgbClr val="F4F8FC"/>
                </a:solidFill>
              </a:rPr>
              <a:t>Use evidence gates for decisions</a:t>
            </a:r>
          </a:p>
        </p:txBody>
      </p:sp>
      <p:sp>
        <p:nvSpPr>
          <p:cNvPr id="17" name="">
            <a:extLst xmlns:a="http://schemas.openxmlformats.org/drawingml/2006/main">
              <a:ext uri="{FF2B5EF4-FFF2-40B4-BE49-F238E27FC236}">
                <a16:creationId xmlns:a16="http://schemas.microsoft.com/office/drawing/2014/main" id="{5C5708F1-9C0F-4D47-A344-5626D39EEABF}"/>
              </a:ext>
            </a:extLst>
          </p:cNvPr>
          <p:cNvSpPr>
            <a:spLocks xmlns:a="http://schemas.openxmlformats.org/drawingml/2006/main" noGrp="1"/>
          </p:cNvSpPr>
          <p:nvPr/>
        </p:nvSpPr>
        <p:spPr>
          <a:xfrm xmlns:a="http://schemas.openxmlformats.org/drawingml/2006/main">
            <a:off x="1466850" y="44958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A8B9CA"/>
                </a:solidFill>
              </a:defRPr>
            </a:pPr>
            <a:r>
              <a:rPr sz="1125">
                <a:solidFill>
                  <a:srgbClr val="A8B9CA"/>
                </a:solidFill>
              </a:rPr>
              <a:t>Treat data quality, missing evidence, and P6 verification as visible decision conditions.</a:t>
            </a:r>
          </a:p>
        </p:txBody>
      </p:sp>
      <p:sp>
        <p:nvSpPr>
          <p:cNvPr id="18" name="">
            <a:extLst xmlns:a="http://schemas.openxmlformats.org/drawingml/2006/main">
              <a:ext uri="{FF2B5EF4-FFF2-40B4-BE49-F238E27FC236}">
                <a16:creationId xmlns:a16="http://schemas.microsoft.com/office/drawing/2014/main" id="{94EBDE26-A69E-4CF2-9402-D6EA15BCB425}"/>
              </a:ext>
            </a:extLst>
          </p:cNvPr>
          <p:cNvSpPr>
            <a:spLocks xmlns:a="http://schemas.openxmlformats.org/drawingml/2006/main" noGrp="1"/>
          </p:cNvSpPr>
          <p:nvPr/>
        </p:nvSpPr>
        <p:spPr>
          <a:xfrm xmlns:a="http://schemas.openxmlformats.org/drawingml/2006/main">
            <a:off x="5981700" y="3848100"/>
            <a:ext cx="5000625" cy="1381125"/>
          </a:xfrm>
          <a:prstGeom xmlns:a="http://schemas.openxmlformats.org/drawingml/2006/main" prst="roundRect">
            <a:avLst>
              <a:gd name="adj" fmla="val 8276"/>
            </a:avLst>
          </a:prstGeom>
          <a:solidFill xmlns:a="http://schemas.openxmlformats.org/drawingml/2006/main">
            <a:srgbClr val="10233B"/>
          </a:solidFill>
          <a:ln xmlns:a="http://schemas.openxmlformats.org/drawingml/2006/main" w="9525">
            <a:solidFill>
              <a:srgbClr val="23425F"/>
            </a:solidFill>
            <a:prstDash val="solid"/>
          </a:ln>
        </p:spPr>
      </p:sp>
      <p:sp>
        <p:nvSpPr>
          <p:cNvPr id="19" name="">
            <a:extLst xmlns:a="http://schemas.openxmlformats.org/drawingml/2006/main">
              <a:ext uri="{FF2B5EF4-FFF2-40B4-BE49-F238E27FC236}">
                <a16:creationId xmlns:a16="http://schemas.microsoft.com/office/drawing/2014/main" id="{F7125876-760F-42BB-A09C-3D15A151AEC7}"/>
              </a:ext>
            </a:extLst>
          </p:cNvPr>
          <p:cNvSpPr>
            <a:spLocks xmlns:a="http://schemas.openxmlformats.org/drawingml/2006/main" noGrp="1"/>
          </p:cNvSpPr>
          <p:nvPr/>
        </p:nvSpPr>
        <p:spPr>
          <a:xfrm xmlns:a="http://schemas.openxmlformats.org/drawingml/2006/main">
            <a:off x="6248400" y="41148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FFB21A"/>
                </a:solidFill>
              </a:defRPr>
            </a:pPr>
            <a:r>
              <a:rPr sz="2175" b="1">
                <a:solidFill>
                  <a:srgbClr val="FFB21A"/>
                </a:solidFill>
              </a:rPr>
              <a:t>4</a:t>
            </a:r>
          </a:p>
        </p:txBody>
      </p:sp>
      <p:sp>
        <p:nvSpPr>
          <p:cNvPr id="20" name="">
            <a:extLst xmlns:a="http://schemas.openxmlformats.org/drawingml/2006/main">
              <a:ext uri="{FF2B5EF4-FFF2-40B4-BE49-F238E27FC236}">
                <a16:creationId xmlns:a16="http://schemas.microsoft.com/office/drawing/2014/main" id="{33AC3367-8D55-45B0-B414-5BBB5D1AAB60}"/>
              </a:ext>
            </a:extLst>
          </p:cNvPr>
          <p:cNvSpPr>
            <a:spLocks xmlns:a="http://schemas.openxmlformats.org/drawingml/2006/main" noGrp="1"/>
          </p:cNvSpPr>
          <p:nvPr/>
        </p:nvSpPr>
        <p:spPr>
          <a:xfrm xmlns:a="http://schemas.openxmlformats.org/drawingml/2006/main">
            <a:off x="6838950" y="40957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F4F8FC"/>
                </a:solidFill>
              </a:defRPr>
            </a:pPr>
            <a:r>
              <a:rPr sz="1575" b="1">
                <a:solidFill>
                  <a:srgbClr val="F4F8FC"/>
                </a:solidFill>
              </a:rPr>
              <a:t>Run the verified publish workflow</a:t>
            </a:r>
          </a:p>
        </p:txBody>
      </p:sp>
      <p:sp>
        <p:nvSpPr>
          <p:cNvPr id="21" name="">
            <a:extLst xmlns:a="http://schemas.openxmlformats.org/drawingml/2006/main">
              <a:ext uri="{FF2B5EF4-FFF2-40B4-BE49-F238E27FC236}">
                <a16:creationId xmlns:a16="http://schemas.microsoft.com/office/drawing/2014/main" id="{58285B02-F0F8-466C-BFD2-BE82EE83238C}"/>
              </a:ext>
            </a:extLst>
          </p:cNvPr>
          <p:cNvSpPr>
            <a:spLocks xmlns:a="http://schemas.openxmlformats.org/drawingml/2006/main" noGrp="1"/>
          </p:cNvSpPr>
          <p:nvPr/>
        </p:nvSpPr>
        <p:spPr>
          <a:xfrm xmlns:a="http://schemas.openxmlformats.org/drawingml/2006/main">
            <a:off x="6838950" y="44958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A8B9CA"/>
                </a:solidFill>
              </a:defRPr>
            </a:pPr>
            <a:r>
              <a:rPr sz="1125">
                <a:solidFill>
                  <a:srgbClr val="A8B9CA"/>
                </a:solidFill>
              </a:rPr>
              <a:t>Use the local watcher to regenerate, validate, sync, deploy, and confirm public assets.</a:t>
            </a:r>
          </a:p>
        </p:txBody>
      </p:sp>
      <p:sp>
        <p:nvSpPr>
          <p:cNvPr id="22" name="">
            <a:extLst xmlns:a="http://schemas.openxmlformats.org/drawingml/2006/main">
              <a:ext uri="{FF2B5EF4-FFF2-40B4-BE49-F238E27FC236}">
                <a16:creationId xmlns:a16="http://schemas.microsoft.com/office/drawing/2014/main" id="{C85EF018-4C86-4EBB-8173-7A6EAF8AB209}"/>
              </a:ext>
            </a:extLst>
          </p:cNvPr>
          <p:cNvSpPr>
            <a:spLocks xmlns:a="http://schemas.openxmlformats.org/drawingml/2006/main" noGrp="1"/>
          </p:cNvSpPr>
          <p:nvPr/>
        </p:nvSpPr>
        <p:spPr>
          <a:xfrm xmlns:a="http://schemas.openxmlformats.org/drawingml/2006/main">
            <a:off x="628650" y="56388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4F8FC"/>
                </a:solidFill>
              </a:defRPr>
            </a:pPr>
            <a:r>
              <a:rPr sz="1725" b="1">
                <a:solidFill>
                  <a:srgbClr val="F4F8FC"/>
                </a:solidFill>
              </a:rPr>
              <a:t>Outcome: a board-level decision platform backed by project-scoped evidence, controlled AI assistance, and an auditable publishing chain.</a:t>
            </a:r>
          </a:p>
        </p:txBody>
      </p:sp>
      <p:sp>
        <p:nvSpPr>
          <p:cNvPr id="23" name="">
            <a:extLst xmlns:a="http://schemas.openxmlformats.org/drawingml/2006/main">
              <a:ext uri="{FF2B5EF4-FFF2-40B4-BE49-F238E27FC236}">
                <a16:creationId xmlns:a16="http://schemas.microsoft.com/office/drawing/2014/main" id="{CCA9EF77-7FDA-4F7A-A9CF-4A15EDFBB0E3}"/>
              </a:ext>
            </a:extLst>
          </p:cNvPr>
          <p:cNvSpPr>
            <a:spLocks xmlns:a="http://schemas.openxmlformats.org/drawingml/2006/main" noGrp="1"/>
          </p:cNvSpPr>
          <p:nvPr/>
        </p:nvSpPr>
        <p:spPr>
          <a:xfrm xmlns:a="http://schemas.openxmlformats.org/drawingml/2006/main">
            <a:off x="609600"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A8B9CA"/>
                </a:solidFill>
              </a:defRPr>
            </a:pPr>
            <a:r>
              <a:rPr sz="750">
                <a:solidFill>
                  <a:srgbClr val="A8B9CA"/>
                </a:solidFill>
              </a:rPr>
              <a:t>Designed &amp; Created |</a:t>
            </a:r>
          </a:p>
        </p:txBody>
      </p:sp>
      <p:sp>
        <p:nvSpPr>
          <p:cNvPr id="24" name="">
            <a:extLst xmlns:a="http://schemas.openxmlformats.org/drawingml/2006/main">
              <a:ext uri="{FF2B5EF4-FFF2-40B4-BE49-F238E27FC236}">
                <a16:creationId xmlns:a16="http://schemas.microsoft.com/office/drawing/2014/main" id="{12009365-0D5A-42BA-91C4-DA6728630079}"/>
              </a:ext>
            </a:extLst>
          </p:cNvPr>
          <p:cNvSpPr>
            <a:spLocks xmlns:a="http://schemas.openxmlformats.org/drawingml/2006/main" noGrp="1"/>
          </p:cNvSpPr>
          <p:nvPr/>
        </p:nvSpPr>
        <p:spPr>
          <a:xfrm xmlns:a="http://schemas.openxmlformats.org/drawingml/2006/main">
            <a:off x="1952625" y="6496050"/>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6C9E8"/>
                </a:solidFill>
              </a:defRPr>
            </a:pPr>
            <a:r>
              <a:rPr sz="750" b="1">
                <a:solidFill>
                  <a:srgbClr val="16C9E8"/>
                </a:solidFill>
              </a:rPr>
              <a:t>Engr. Ahmed Labib</a:t>
            </a:r>
          </a:p>
        </p:txBody>
      </p:sp>
      <p:sp>
        <p:nvSpPr>
          <p:cNvPr id="25" name="">
            <a:extLst xmlns:a="http://schemas.openxmlformats.org/drawingml/2006/main">
              <a:ext uri="{FF2B5EF4-FFF2-40B4-BE49-F238E27FC236}">
                <a16:creationId xmlns:a16="http://schemas.microsoft.com/office/drawing/2014/main" id="{3AC758E0-9DE4-4DEC-9E29-7106D347775F}"/>
              </a:ext>
            </a:extLst>
          </p:cNvPr>
          <p:cNvSpPr>
            <a:spLocks xmlns:a="http://schemas.openxmlformats.org/drawingml/2006/main" noGrp="1"/>
          </p:cNvSpPr>
          <p:nvPr/>
        </p:nvSpPr>
        <p:spPr>
          <a:xfrm xmlns:a="http://schemas.openxmlformats.org/drawingml/2006/main">
            <a:off x="9144000" y="6496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A8B9CA"/>
                </a:solidFill>
              </a:defRPr>
            </a:pPr>
            <a:r>
              <a:rPr sz="750">
                <a:solidFill>
                  <a:srgbClr val="A8B9CA"/>
                </a:solidFill>
              </a:rPr>
              <a:t>Evidence-led project controls</a:t>
            </a:r>
          </a:p>
        </p:txBody>
      </p:sp>
    </p:spTree>
    <p:extLst>
      <p:ext uri="{BB962C8B-B14F-4D97-AF65-F5344CB8AC3E}">
        <p14:creationId xmlns:p14="http://schemas.microsoft.com/office/powerpoint/2010/main" val="8646428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2026-08-01T13:57:47.9110000Z</dcterms:created>
  <dcterms:modified xsi:type="dcterms:W3CDTF">2026-08-01T13:57:47.9110000Z</dcterms:modified>
</coreProperties>
</file>